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F6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7989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Credit Unions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core shouldn't be your ceiling.  •  Sales Battlecard — Sellers &amp; Partners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0" y="182880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1A4A4D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82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SUB-VERTICAL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0" y="5029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• Q1 FY27 • WSS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0A2E33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Agility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96312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0A2E2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OrCA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72584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2E2A0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48856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1E0A3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1389888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120A28"/>
          </a:solidFill>
          <a:ln w="6350">
            <a:solidFill>
              <a:srgbClr val="4B2D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426464"/>
            <a:ext cx="8138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Enterprise MCP for Banking  </a:t>
            </a:r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</a:rPr>
              <a:t>Turn any recipe into a secure MCP server — give AI agents governed access to 1,200+ financial apps. Credit decisioning, fraud detection, member service with human-in-the-loop, audit trails, SOC 2 / HIPAA BAA / GDPR. On-prem agent connects Jack Henry, Fiserv, FIS, and legacy IBM iSeries.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QUESTIONS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WSS-aligned consultative questions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" y="2221992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" y="2258568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2258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3232" y="22219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business unit requests a new integration between your core and a SaaS app, what does that process look like — how long from request to production? How do you prioritize against other IT backlogs?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092440" y="2267712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0A2E33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22677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20040" y="2551176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29" name="Shape 27"/>
          <p:cNvSpPr/>
          <p:nvPr/>
        </p:nvSpPr>
        <p:spPr>
          <a:xfrm>
            <a:off x="438912" y="2587752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2587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3232" y="25511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IT time is spent maintaining point-to-point integrations between Jack Henry / Fiserv / FIS and downstream systems versus building capabilities that drive member growth and compete with fintechs?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092440" y="2596896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0A2E20"/>
          </a:solidFill>
          <a:ln/>
        </p:spPr>
      </p:sp>
      <p:sp>
        <p:nvSpPr>
          <p:cNvPr id="33" name="Text 31"/>
          <p:cNvSpPr/>
          <p:nvPr/>
        </p:nvSpPr>
        <p:spPr>
          <a:xfrm>
            <a:off x="8092440" y="25968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20040" y="2880360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35" name="Shape 33"/>
          <p:cNvSpPr/>
          <p:nvPr/>
        </p:nvSpPr>
        <p:spPr>
          <a:xfrm>
            <a:off x="438912" y="2916936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3232" y="2880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regulators increasing scrutiny of AI in lending and BSA/AML — how confident are you that every AI-assisted action (credit decisioning, OFAC screening) is fully auditable with a trail an examiner can walk?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092440" y="292608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2E2A0A"/>
          </a:solidFill>
          <a:ln/>
        </p:spPr>
      </p:sp>
      <p:sp>
        <p:nvSpPr>
          <p:cNvPr id="39" name="Text 37"/>
          <p:cNvSpPr/>
          <p:nvPr/>
        </p:nvSpPr>
        <p:spPr>
          <a:xfrm>
            <a:off x="809244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20040" y="3209544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" y="3246120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" y="3246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3232" y="32095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loan applicants abandon if the process takes &gt;5 min. What is your current abandonment rate on loan origination — and how are you connecting origination systems to communication channels?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092440" y="3255264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1E0A3E"/>
          </a:solidFill>
          <a:ln/>
        </p:spPr>
      </p:sp>
      <p:sp>
        <p:nvSpPr>
          <p:cNvPr id="45" name="Text 43"/>
          <p:cNvSpPr/>
          <p:nvPr/>
        </p:nvSpPr>
        <p:spPr>
          <a:xfrm>
            <a:off x="8092440" y="32552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20040" y="3538728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47" name="Shape 45"/>
          <p:cNvSpPr/>
          <p:nvPr/>
        </p:nvSpPr>
        <p:spPr>
          <a:xfrm>
            <a:off x="438912" y="3575304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" y="3575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13232" y="35387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Gen-Z choosing digital-first fintechs, how are you orchestrating data across core, online banking (Q2/Alkami), CRM, and analytics to deliver real-time personalized member experiences?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092440" y="3584448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0A2E33"/>
          </a:solidFill>
          <a:ln/>
        </p:spPr>
      </p:sp>
      <p:sp>
        <p:nvSpPr>
          <p:cNvPr id="51" name="Text 49"/>
          <p:cNvSpPr/>
          <p:nvPr/>
        </p:nvSpPr>
        <p:spPr>
          <a:xfrm>
            <a:off x="8092440" y="35844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20040" y="3749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USE CASES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400507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4005072"/>
            <a:ext cx="4133088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5" name="Text 53"/>
          <p:cNvSpPr/>
          <p:nvPr/>
        </p:nvSpPr>
        <p:spPr>
          <a:xfrm>
            <a:off x="429768" y="405993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Processing &amp; Underwriting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29768" y="422452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intake → IDP credit docs → Equifax/Experian bureau → underwriting → DocuSign → funding. 7-14 days to same-day. On-prem agent connects legacy cores securely.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447288" y="446227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0A2E33"/>
          </a:solidFill>
          <a:ln/>
        </p:spPr>
      </p:sp>
      <p:sp>
        <p:nvSpPr>
          <p:cNvPr id="58" name="Text 56"/>
          <p:cNvSpPr/>
          <p:nvPr/>
        </p:nvSpPr>
        <p:spPr>
          <a:xfrm>
            <a:off x="3447288" y="44622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Agility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4617720" y="400507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17720" y="4005072"/>
            <a:ext cx="4133088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4727448" y="405993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KYC/AML Compliance Automation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27448" y="422452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verification → OFAC/FinCEN → document collection → case management → BSA/SAR filing. KYC Genie with audit trails. Automated HMDA and CRA reporting.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7744968" y="446227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2E2A0A"/>
          </a:solidFill>
          <a:ln/>
        </p:spPr>
      </p:sp>
      <p:sp>
        <p:nvSpPr>
          <p:cNvPr id="64" name="Text 62"/>
          <p:cNvSpPr/>
          <p:nvPr/>
        </p:nvSpPr>
        <p:spPr>
          <a:xfrm>
            <a:off x="7744968" y="44622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320040" y="473659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" y="4736592"/>
            <a:ext cx="4133088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7" name="Text 65"/>
          <p:cNvSpPr/>
          <p:nvPr/>
        </p:nvSpPr>
        <p:spPr>
          <a:xfrm>
            <a:off x="429768" y="479145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Modernization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29768" y="49560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Jack Henry, Fiserv, FIS, IBM iSeries/AS400 to Salesforce, Snowflake, cloud apps via on-prem agent — no rip-and-replace. Real-time core-to-CRM sync. ETL/ELT automation.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3447288" y="519379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0A2E20"/>
          </a:solidFill>
          <a:ln/>
        </p:spPr>
      </p:sp>
      <p:sp>
        <p:nvSpPr>
          <p:cNvPr id="70" name="Text 68"/>
          <p:cNvSpPr/>
          <p:nvPr/>
        </p:nvSpPr>
        <p:spPr>
          <a:xfrm>
            <a:off x="3447288" y="51937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OrCA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4617720" y="473659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17720" y="4736592"/>
            <a:ext cx="4133088" cy="320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3" name="Text 71"/>
          <p:cNvSpPr/>
          <p:nvPr/>
        </p:nvSpPr>
        <p:spPr>
          <a:xfrm>
            <a:off x="4727448" y="479145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Member Support &amp; Cross-Sell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727448" y="49560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Genie: loan status, balance, disputes 24/7 via Enterprise MCP. CX Genie surfaces real-time cross-sell based on member behavior and life events.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7744968" y="519379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1E0A3E"/>
          </a:solidFill>
          <a:ln/>
        </p:spPr>
      </p:sp>
      <p:sp>
        <p:nvSpPr>
          <p:cNvPr id="76" name="Text 74"/>
          <p:cNvSpPr/>
          <p:nvPr/>
        </p:nvSpPr>
        <p:spPr>
          <a:xfrm>
            <a:off x="7744968" y="51937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550" dirty="0"/>
          </a:p>
        </p:txBody>
      </p:sp>
      <p:sp>
        <p:nvSpPr>
          <p:cNvPr id="77" name="Text 7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2  •  Workato Confidential  •  For Sellers &amp; Partners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65F6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&amp; Credit Unions  —  Sales Battlecard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PROOF POINTS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0" y="502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Salesforce-verified live customers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795528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Banking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29768" y="896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 Financial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795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 Recipes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06984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$825K ARR, 5 teams, Azure migration. 70%+ systems connected via on-prem agent.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4617720" y="749808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795528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Banking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727448" y="896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Fortis Bank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795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 Recipes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7448" y="106984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$202K ARR. Broadridge, LexisNexis, compliance workflows connected to core banking.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20040" y="1417320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46304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 — UK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29768" y="15636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Paragon Bank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Modern.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173736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$277K ARR. IBM iSeries/AS400 connected to OutSystems — core modernization proof.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617720" y="1417320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146304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 — SG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727448" y="15636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GXS Bank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Recipes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27448" y="173736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$163K ARR. Workbot + SCIM + Audit Streaming — member inquiry + compliance governance.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20040" y="2057400"/>
            <a:ext cx="36576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2057400"/>
            <a:ext cx="8366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4D4D4"/>
                </a:solidFill>
              </a:rPr>
              <a:t>"MCP is the universal bridge between AI and enterprise action — unlocking secure, governed, and instant access to business capabilities."</a:t>
            </a:r>
            <a:endParaRPr lang="en-US" sz="700" dirty="0"/>
          </a:p>
          <a:p>
            <a:pPr indent="0" marL="0">
              <a:buNone/>
            </a:pPr>
            <a:r>
              <a:rPr lang="en-US" sz="650" b="1" dirty="0">
                <a:solidFill>
                  <a:srgbClr val="8A9A9B"/>
                </a:solidFill>
              </a:rPr>
              <a:t>— Angela Stewart, VP Enterprise Solutions, Nasdaq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0040" y="2578608"/>
            <a:ext cx="4133088" cy="2331720"/>
          </a:xfrm>
          <a:prstGeom prst="roundRect">
            <a:avLst>
              <a:gd name="adj" fmla="val 235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651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CONNECTORS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9768" y="2871216"/>
            <a:ext cx="1412748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2871216"/>
            <a:ext cx="14127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Silverlake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1897380" y="2871216"/>
            <a:ext cx="1234440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97380" y="287121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Symitar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429768" y="3090672"/>
            <a:ext cx="1353312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3090672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CIF 20/20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1837944" y="3090672"/>
            <a:ext cx="521208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37944" y="3090672"/>
            <a:ext cx="521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Fiserv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414016" y="3090672"/>
            <a:ext cx="342900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14016" y="3090672"/>
            <a:ext cx="342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2811780" y="3090672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11780" y="30906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Finastra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506724" y="3090672"/>
            <a:ext cx="28346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06724" y="3090672"/>
            <a:ext cx="283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429768" y="3310128"/>
            <a:ext cx="758952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" y="331012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Corelation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1243584" y="3310128"/>
            <a:ext cx="99669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43584" y="3310128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FSC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2295144" y="3310128"/>
            <a:ext cx="461772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95144" y="3310128"/>
            <a:ext cx="4617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nCino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2811780" y="3310128"/>
            <a:ext cx="69951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11780" y="3310128"/>
            <a:ext cx="699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3566160" y="3310128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66160" y="3310128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429768" y="3529584"/>
            <a:ext cx="758952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9768" y="3529584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1243584" y="3529584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243584" y="3529584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Equifax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1879092" y="3529584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79092" y="35295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Experian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2574036" y="3529584"/>
            <a:ext cx="521208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74036" y="3529584"/>
            <a:ext cx="521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Socure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3150108" y="3529584"/>
            <a:ext cx="461772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50108" y="3529584"/>
            <a:ext cx="4617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Alloy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429768" y="3749040"/>
            <a:ext cx="758952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9768" y="3749040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LexisNexis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1243584" y="3749040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243584" y="3749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1938528" y="3749040"/>
            <a:ext cx="818388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38528" y="3749040"/>
            <a:ext cx="8183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iSeries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429768" y="40873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 GENIES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29768" y="4270248"/>
            <a:ext cx="623621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2" name="Text 70"/>
          <p:cNvSpPr/>
          <p:nvPr/>
        </p:nvSpPr>
        <p:spPr>
          <a:xfrm>
            <a:off x="429768" y="4270248"/>
            <a:ext cx="62362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Genie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1099109" y="4270248"/>
            <a:ext cx="623621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4" name="Text 72"/>
          <p:cNvSpPr/>
          <p:nvPr/>
        </p:nvSpPr>
        <p:spPr>
          <a:xfrm>
            <a:off x="1099109" y="4270248"/>
            <a:ext cx="623621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Genie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1768450" y="4270248"/>
            <a:ext cx="835762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6" name="Text 74"/>
          <p:cNvSpPr/>
          <p:nvPr/>
        </p:nvSpPr>
        <p:spPr>
          <a:xfrm>
            <a:off x="1768450" y="4270248"/>
            <a:ext cx="83576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Genie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2649931" y="4270248"/>
            <a:ext cx="570586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8" name="Text 76"/>
          <p:cNvSpPr/>
          <p:nvPr/>
        </p:nvSpPr>
        <p:spPr>
          <a:xfrm>
            <a:off x="2649931" y="4270248"/>
            <a:ext cx="57058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Genie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3266237" y="4270248"/>
            <a:ext cx="994867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80" name="Text 78"/>
          <p:cNvSpPr/>
          <p:nvPr/>
        </p:nvSpPr>
        <p:spPr>
          <a:xfrm>
            <a:off x="3266237" y="4270248"/>
            <a:ext cx="99486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Genie</a:t>
            </a:r>
            <a:endParaRPr lang="en-US" sz="550" dirty="0"/>
          </a:p>
        </p:txBody>
      </p:sp>
      <p:sp>
        <p:nvSpPr>
          <p:cNvPr id="81" name="Shape 79"/>
          <p:cNvSpPr/>
          <p:nvPr/>
        </p:nvSpPr>
        <p:spPr>
          <a:xfrm>
            <a:off x="429768" y="4471416"/>
            <a:ext cx="1419149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82" name="Text 80"/>
          <p:cNvSpPr/>
          <p:nvPr/>
        </p:nvSpPr>
        <p:spPr>
          <a:xfrm>
            <a:off x="429768" y="4471416"/>
            <a:ext cx="141914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Modernization Genie</a:t>
            </a:r>
            <a:endParaRPr lang="en-US" sz="550" dirty="0"/>
          </a:p>
        </p:txBody>
      </p:sp>
      <p:sp>
        <p:nvSpPr>
          <p:cNvPr id="83" name="Text 81"/>
          <p:cNvSpPr/>
          <p:nvPr/>
        </p:nvSpPr>
        <p:spPr>
          <a:xfrm>
            <a:off x="429768" y="4544568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PARTNER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429768" y="466344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People — Pre-built Fiserv, FIS, and Jack Henry core connectors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4736592" y="2578608"/>
            <a:ext cx="4133088" cy="2331720"/>
          </a:xfrm>
          <a:prstGeom prst="roundRect">
            <a:avLst>
              <a:gd name="adj" fmla="val 235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46320" y="2651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DIFFERENTIATORS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662672" y="26517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• POWER • SCALE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484632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84632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90118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People + pre-built core banking connectors. 1,200+ connectors. Low-code citizen builder for small dev teams.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617220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7220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622706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MCP + Agentic Genies. IDP for loan docs. HIPAA BAA. Zero downtime. On-prem agent for legacy cores.</a:t>
            </a:r>
            <a:endParaRPr lang="en-US" sz="600" dirty="0"/>
          </a:p>
        </p:txBody>
      </p:sp>
      <p:sp>
        <p:nvSpPr>
          <p:cNvPr id="94" name="Shape 92"/>
          <p:cNvSpPr/>
          <p:nvPr/>
        </p:nvSpPr>
        <p:spPr>
          <a:xfrm>
            <a:off x="749808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49808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755294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OrCA: pay for what you use. Federated Model. SOC 2 Type II. Global data residency. 24/7 support.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4846320" y="3749040"/>
            <a:ext cx="3913632" cy="411480"/>
          </a:xfrm>
          <a:prstGeom prst="roundRect">
            <a:avLst>
              <a:gd name="adj" fmla="val 8889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37760" y="37856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 PARTNERS</a:t>
            </a:r>
            <a:endParaRPr lang="en-US" sz="600" dirty="0"/>
          </a:p>
        </p:txBody>
      </p:sp>
      <p:sp>
        <p:nvSpPr>
          <p:cNvPr id="99" name="Text 97"/>
          <p:cNvSpPr/>
          <p:nvPr/>
        </p:nvSpPr>
        <p:spPr>
          <a:xfrm>
            <a:off x="4937760" y="3913632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•  Deloitte  •  PwC  •  Capgemini</a:t>
            </a:r>
            <a:endParaRPr lang="en-US" sz="700" dirty="0"/>
          </a:p>
        </p:txBody>
      </p:sp>
      <p:sp>
        <p:nvSpPr>
          <p:cNvPr id="100" name="Text 98"/>
          <p:cNvSpPr/>
          <p:nvPr/>
        </p:nvSpPr>
        <p:spPr>
          <a:xfrm>
            <a:off x="4937760" y="4041648"/>
            <a:ext cx="3657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Regional SIs: API People, banking-specialist integrators</a:t>
            </a:r>
            <a:endParaRPr lang="en-US" sz="550" dirty="0"/>
          </a:p>
        </p:txBody>
      </p:sp>
      <p:sp>
        <p:nvSpPr>
          <p:cNvPr id="101" name="Shape 99"/>
          <p:cNvSpPr/>
          <p:nvPr/>
        </p:nvSpPr>
        <p:spPr>
          <a:xfrm>
            <a:off x="4846320" y="4224528"/>
            <a:ext cx="3913632" cy="320040"/>
          </a:xfrm>
          <a:prstGeom prst="roundRect">
            <a:avLst>
              <a:gd name="adj" fmla="val 11429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937760" y="426110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COMPETITORS</a:t>
            </a:r>
            <a:endParaRPr lang="en-US" sz="600" dirty="0"/>
          </a:p>
        </p:txBody>
      </p:sp>
      <p:sp>
        <p:nvSpPr>
          <p:cNvPr id="103" name="Text 101"/>
          <p:cNvSpPr/>
          <p:nvPr/>
        </p:nvSpPr>
        <p:spPr>
          <a:xfrm>
            <a:off x="4937760" y="437997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 •  Boomi  •  UiPath (RPA)  •  Build In-House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2  •  Workato Confidential  •  For Sellers &amp; Partners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&amp; Credit Unions — Sales Battlecard</dc:title>
  <dc:subject>PptxGenJS Presentation</dc:subject>
  <dc:creator>Workato PMM</dc:creator>
  <cp:lastModifiedBy>Workato PMM</cp:lastModifiedBy>
  <cp:revision>1</cp:revision>
  <dcterms:created xsi:type="dcterms:W3CDTF">2026-02-19T22:41:25Z</dcterms:created>
  <dcterms:modified xsi:type="dcterms:W3CDTF">2026-02-19T22:41:25Z</dcterms:modified>
</cp:coreProperties>
</file>