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7989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Digital-First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money moves on fast infrastructure.  •  Sales Battlecard — Sellers &amp; Partners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18288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A4A4D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SUB-VERTICAL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0" y="502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• Q1 FY27 • WSS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3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96312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2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72584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2E2A0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48856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1E0A3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389888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20A28"/>
          </a:solidFill>
          <a:ln w="6350">
            <a:solidFill>
              <a:srgbClr val="4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426464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Enterprise MCP for FinTech  </a:t>
            </a:r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</a:rPr>
              <a:t>Scale your platform faster. Build AI agents securely. Enterprise MCP deploys agentic workflows — merchant onboarding to reconciliation — with governed, auditable execution. Workato Embed lets FinTechs build integration into their product once.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WSS-aligned consultative questions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2221992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2258568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258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2221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expect instant account creation. How many systems does a new customer touch from sign-up to first transaction — and where are the manual handoffs creating abandonment or compliance exposure?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92440" y="2267712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33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22677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20040" y="2551176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9" name="Shape 27"/>
          <p:cNvSpPr/>
          <p:nvPr/>
        </p:nvSpPr>
        <p:spPr>
          <a:xfrm>
            <a:off x="438912" y="2587752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" y="2551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scale, how much engineering time is consumed maintaining integrations across payment rails, credit bureaus, CRM, data platforms versus building product features that drive ARR?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092440" y="2596896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20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2596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20040" y="2880360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912" y="2916936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2" y="2880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KYC/AML requirements tightening, how are you ensuring every identity verification, credit decision, and transaction is governed with a complete audit trail — especially as you add AI?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92440" y="292608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2E2A0A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0040" y="3209544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246120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232" y="3209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orchestrating your RevOps stack — Salesforce, HubSpot, marketing automation, data warehouse — to eliminate manual errors in campaign creation and territory management?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092440" y="3255264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1E0A3E"/>
          </a:solidFill>
          <a:ln/>
        </p:spPr>
      </p:sp>
      <p:sp>
        <p:nvSpPr>
          <p:cNvPr id="45" name="Text 43"/>
          <p:cNvSpPr/>
          <p:nvPr/>
        </p:nvSpPr>
        <p:spPr>
          <a:xfrm>
            <a:off x="8092440" y="3255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20040" y="3538728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3575304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3232" y="3538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merchant/partner onboarding, how many manual steps from KYC to API key delivery — and what would it mean for growth if that went from months to minutes?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092440" y="3584448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33"/>
          </a:solidFill>
          <a:ln/>
        </p:spPr>
      </p:sp>
      <p:sp>
        <p:nvSpPr>
          <p:cNvPr id="51" name="Text 49"/>
          <p:cNvSpPr/>
          <p:nvPr/>
        </p:nvSpPr>
        <p:spPr>
          <a:xfrm>
            <a:off x="8092440" y="35844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20040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USE CASES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005072"/>
            <a:ext cx="4133088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42976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Customer Onboarding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976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Genie: Socure/Alloy → AML → account provisioning → welcome — under 5 min. Bread Financial: 84% faster onboarding, 30 min/customer saved.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44728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33"/>
          </a:solidFill>
          <a:ln/>
        </p:spPr>
      </p:sp>
      <p:sp>
        <p:nvSpPr>
          <p:cNvPr id="58" name="Text 56"/>
          <p:cNvSpPr/>
          <p:nvPr/>
        </p:nvSpPr>
        <p:spPr>
          <a:xfrm>
            <a:off x="344728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461772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4005072"/>
            <a:ext cx="4133088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1" name="Text 59"/>
          <p:cNvSpPr/>
          <p:nvPr/>
        </p:nvSpPr>
        <p:spPr>
          <a:xfrm>
            <a:off x="472744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Operations at Scale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2744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Genie: Salesforce optimization, territory mgmt, pipeline automation. Campaign Genie: real-time triggers. Ramp: 97% faster opp generation.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74496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1E0A3E"/>
          </a:solidFill>
          <a:ln/>
        </p:spPr>
      </p:sp>
      <p:sp>
        <p:nvSpPr>
          <p:cNvPr id="64" name="Text 62"/>
          <p:cNvSpPr/>
          <p:nvPr/>
        </p:nvSpPr>
        <p:spPr>
          <a:xfrm>
            <a:off x="774496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2004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4736592"/>
            <a:ext cx="4133088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42976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Finance &amp; Reconciliation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2976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FinAssist Genie: FinOps Q&amp;A, SEC filing, reconciliation. Order-to-cash, P2P automation. Revolut: NetSuite-Coupa-Jira orchestration + IDP.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44728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20"/>
          </a:solidFill>
          <a:ln/>
        </p:spPr>
      </p:sp>
      <p:sp>
        <p:nvSpPr>
          <p:cNvPr id="70" name="Text 68"/>
          <p:cNvSpPr/>
          <p:nvPr/>
        </p:nvSpPr>
        <p:spPr>
          <a:xfrm>
            <a:off x="344728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461772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17720" y="4736592"/>
            <a:ext cx="4133088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472744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Payments &amp; Platform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2744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Genie: KYC → pricing → DocuSign → API key → go-live. Novatti: months to &lt;5 min across 15 systems. Embed for product-led.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74496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2E2A0A"/>
          </a:solidFill>
          <a:ln/>
        </p:spPr>
      </p:sp>
      <p:sp>
        <p:nvSpPr>
          <p:cNvPr id="76" name="Text 74"/>
          <p:cNvSpPr/>
          <p:nvPr/>
        </p:nvSpPr>
        <p:spPr>
          <a:xfrm>
            <a:off x="774496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Digital-First  —  Sales Battlecard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PROOF 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FinServ segment: 29 customers, $6M ARR (45.5%)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/ Exchange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2976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$1.85M ARR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recipes, 3+ BUs. AWS Athena, Event Streams, APIM, SCIM, EKM.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61772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Management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2744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Faster Opps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decrease in L1 tickets. 12x faster debugging. 150-step → 25-step.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2004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/ Lending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2976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Financial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Faster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30 min/customer manual data entry. Salesforce + DocuSign.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61772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Platform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2744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Novatti Group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→ 5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744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$121K ARR, 167 recipes. Merchant onboarding across 7 systems.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20040" y="2057400"/>
            <a:ext cx="36576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057400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4D4D4"/>
                </a:solidFill>
              </a:rPr>
              <a:t>"With Workato, we're able to acquire customers in minutes, transforming the way we expand our customer acquisition channels and grow our business."</a:t>
            </a:r>
            <a:endParaRPr lang="en-US" sz="700" dirty="0"/>
          </a:p>
          <a:p>
            <a:pPr indent="0" marL="0">
              <a:buNone/>
            </a:pPr>
            <a:r>
              <a:rPr lang="en-US" sz="650" b="1" dirty="0">
                <a:solidFill>
                  <a:srgbClr val="8A9A9B"/>
                </a:solidFill>
              </a:rPr>
              <a:t>— Kristin Fretz, Director of RevOps, Bread Financial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0040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CONNECTORS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9768" y="2871216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2871216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005840" y="2871216"/>
            <a:ext cx="461772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2871216"/>
            <a:ext cx="461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522476" y="2871216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22476" y="2871216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Marqeta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157984" y="2871216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57984" y="2871216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Socure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734056" y="2871216"/>
            <a:ext cx="461772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34056" y="2871216"/>
            <a:ext cx="461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50692" y="2871216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0692" y="28712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29768" y="3090672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3090672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65276" y="3090672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5276" y="3090672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1879092" y="3090672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79092" y="3090672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514600" y="3090672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090672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268980" y="3090672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68980" y="3090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429768" y="3310128"/>
            <a:ext cx="46177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" y="3310128"/>
            <a:ext cx="461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Coupa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946404" y="3310128"/>
            <a:ext cx="40233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6404" y="33101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1403604" y="3310128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03604" y="33101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BambooHR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2098548" y="3310128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98548" y="3310128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734056" y="3310128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34056" y="33101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3429000" y="3310128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29000" y="331012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Athena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429768" y="3529584"/>
            <a:ext cx="818388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" y="3529584"/>
            <a:ext cx="8183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303020" y="3529584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03020" y="3529584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116836" y="3529584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16836" y="3529584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2752344" y="3529584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52344" y="3529584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429768" y="40873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GENIES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29768" y="4270248"/>
            <a:ext cx="623621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4" name="Text 72"/>
          <p:cNvSpPr/>
          <p:nvPr/>
        </p:nvSpPr>
        <p:spPr>
          <a:xfrm>
            <a:off x="429768" y="4270248"/>
            <a:ext cx="62362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Genie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1099109" y="4270248"/>
            <a:ext cx="570586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6" name="Text 74"/>
          <p:cNvSpPr/>
          <p:nvPr/>
        </p:nvSpPr>
        <p:spPr>
          <a:xfrm>
            <a:off x="1099109" y="4270248"/>
            <a:ext cx="57058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Genie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1715414" y="4270248"/>
            <a:ext cx="782726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8" name="Text 76"/>
          <p:cNvSpPr/>
          <p:nvPr/>
        </p:nvSpPr>
        <p:spPr>
          <a:xfrm>
            <a:off x="1715414" y="4270248"/>
            <a:ext cx="78272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Genie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2543861" y="4270248"/>
            <a:ext cx="888797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0" name="Text 78"/>
          <p:cNvSpPr/>
          <p:nvPr/>
        </p:nvSpPr>
        <p:spPr>
          <a:xfrm>
            <a:off x="2543861" y="4270248"/>
            <a:ext cx="88879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Genie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429768" y="4471416"/>
            <a:ext cx="941832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2" name="Text 80"/>
          <p:cNvSpPr/>
          <p:nvPr/>
        </p:nvSpPr>
        <p:spPr>
          <a:xfrm>
            <a:off x="429768" y="4471416"/>
            <a:ext cx="941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FinAssist Genie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1417320" y="4471416"/>
            <a:ext cx="1419149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4" name="Text 82"/>
          <p:cNvSpPr/>
          <p:nvPr/>
        </p:nvSpPr>
        <p:spPr>
          <a:xfrm>
            <a:off x="1417320" y="4471416"/>
            <a:ext cx="141914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Genie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2882189" y="4471416"/>
            <a:ext cx="1153973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6" name="Text 84"/>
          <p:cNvSpPr/>
          <p:nvPr/>
        </p:nvSpPr>
        <p:spPr>
          <a:xfrm>
            <a:off x="2882189" y="4471416"/>
            <a:ext cx="11539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Genie</a:t>
            </a:r>
            <a:endParaRPr lang="en-US" sz="550" dirty="0"/>
          </a:p>
        </p:txBody>
      </p:sp>
      <p:sp>
        <p:nvSpPr>
          <p:cNvPr id="87" name="Text 85"/>
          <p:cNvSpPr/>
          <p:nvPr/>
        </p:nvSpPr>
        <p:spPr>
          <a:xfrm>
            <a:off x="429768" y="454456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OPPORTUNITY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429768" y="46634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FinTechs embed Workato to offer integration as native product feature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736592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46320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DIFFERENTIATORS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662672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• POWER • SCALE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484632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4632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90118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autoscaling for hypergrowth. 1,200+ connectors. API-first. No capacity planning required.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617220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7220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622706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MCP + Agentic Genies. Workato Embed. IDP for invoices/docs. Composable platform.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749808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9808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55294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OrCA: consumption-based. Embed for product-led growth. SOC 2. GDPR. Scalable pricing.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4846320" y="3749040"/>
            <a:ext cx="3913632" cy="411480"/>
          </a:xfrm>
          <a:prstGeom prst="roundRect">
            <a:avLst>
              <a:gd name="adj" fmla="val 888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37760" y="37856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PARTNERS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4937760" y="391363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•  Deloitte  •  PwC  •  Capgemini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4937760" y="4041648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Regional SIs: fintech &amp; digital payments specialists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4846320" y="4224528"/>
            <a:ext cx="3913632" cy="320040"/>
          </a:xfrm>
          <a:prstGeom prst="roundRect">
            <a:avLst>
              <a:gd name="adj" fmla="val 1142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937760" y="426110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COMPETITORS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4937760" y="437997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 •  Build In-House  •  Boomi  •  Zapier / n8n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/ Digital-First — Sales Battlecard</dc:title>
  <dc:subject>PptxGenJS Presentation</dc:subject>
  <dc:creator>Workato PMM</dc:creator>
  <cp:lastModifiedBy>Workato PMM</cp:lastModifiedBy>
  <cp:revision>1</cp:revision>
  <dcterms:created xsi:type="dcterms:W3CDTF">2026-02-19T22:41:25Z</dcterms:created>
  <dcterms:modified xsi:type="dcterms:W3CDTF">2026-02-19T22:41:25Z</dcterms:modified>
</cp:coreProperties>
</file>