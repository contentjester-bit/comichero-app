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7989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&amp; Asset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alpha. Less administration.  •  Sales Battlecard — Sellers &amp; Partners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8288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A4A4D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SUB-VERTICAL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0" y="502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• Q1 FY27 • WSS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3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96312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2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2E2A0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48856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1E0A3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389888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20A28"/>
          </a:solidFill>
          <a:ln w="6350">
            <a:solidFill>
              <a:srgbClr val="4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426464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Enterprise MCP for Wealth &amp; Asset Mgmt  </a:t>
            </a:r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</a:rPr>
              <a:t>Deploy Research Genies, Portfolio Reconciliation agents, and Compliance Filing assistants through governed MCP servers. Orchestrate across Aladdin, SimCorp, Salesforce FSC, Workday with audit trails for SEC examiners.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WSS-aligned consultative questions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2221992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258568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258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2221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investment team synthesizes research across earnings calls, SEC filings, Bloomberg — how much analyst time is gathering vs. analysis, and how does lag impact your ability to act on opportunities?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92440" y="2267712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20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22677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20040" y="2551176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9" name="Shape 27"/>
          <p:cNvSpPr/>
          <p:nvPr/>
        </p:nvSpPr>
        <p:spPr>
          <a:xfrm>
            <a:off x="438912" y="2587752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" y="2551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managing real-time position reconciliation across multiple custodians and fund admins — and what happens when discrepancies surface during trade settlement or regulatory reporting?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092440" y="2596896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2E2A0A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20040" y="2880360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" y="2916936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onboard a new client or integrate an acquired firm's book, how many manual steps from KYC to CRM to portfolio provisioning — what's the time from signed agreement to first review?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92440" y="292608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0040" y="3209544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246120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" y="3209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are you in SEC filings, Form ADV, and JML access events accuracy — how much manual effort assembles those reports from disconnected systems each quarter?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092440" y="3255264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2E2A0A"/>
          </a:solidFill>
          <a:ln/>
        </p:spPr>
      </p:sp>
      <p:sp>
        <p:nvSpPr>
          <p:cNvPr id="45" name="Text 43"/>
          <p:cNvSpPr/>
          <p:nvPr/>
        </p:nvSpPr>
        <p:spPr>
          <a:xfrm>
            <a:off x="8092440" y="3255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0040" y="3538728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3575304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3232" y="3538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advisor time is admin vs. client-facing — how are you connecting CRM, portfolio mgmt, and marketing to drive personalized engagement that grows AUM?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092440" y="3584448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1E0A3E"/>
          </a:solidFill>
          <a:ln/>
        </p:spPr>
      </p:sp>
      <p:sp>
        <p:nvSpPr>
          <p:cNvPr id="51" name="Text 49"/>
          <p:cNvSpPr/>
          <p:nvPr/>
        </p:nvSpPr>
        <p:spPr>
          <a:xfrm>
            <a:off x="8092440" y="3584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20040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 CASES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005072"/>
            <a:ext cx="4133088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42976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Ops &amp; Research Agents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976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Genie synthesizes earnings calls, SEC filings, Bloomberg into summaries. Portfolio Reconciliation automates matching. Man Group: ChatGPT + LLM in production.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44728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20"/>
          </a:solidFill>
          <a:ln/>
        </p:spPr>
      </p:sp>
      <p:sp>
        <p:nvSpPr>
          <p:cNvPr id="58" name="Text 56"/>
          <p:cNvSpPr/>
          <p:nvPr/>
        </p:nvSpPr>
        <p:spPr>
          <a:xfrm>
            <a:off x="344728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461772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4005072"/>
            <a:ext cx="4133088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1" name="Text 59"/>
          <p:cNvSpPr/>
          <p:nvPr/>
        </p:nvSpPr>
        <p:spPr>
          <a:xfrm>
            <a:off x="472744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&amp; Service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2744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Genie: docs → World-Check AML → CRM → portfolio provisioning → welcome. Support Genie reduces handle time. Target: 48 hours, not 2 weeks.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74496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33"/>
          </a:solidFill>
          <a:ln/>
        </p:spPr>
      </p:sp>
      <p:sp>
        <p:nvSpPr>
          <p:cNvPr id="64" name="Text 62"/>
          <p:cNvSpPr/>
          <p:nvPr/>
        </p:nvSpPr>
        <p:spPr>
          <a:xfrm>
            <a:off x="774496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2004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4736592"/>
            <a:ext cx="4133088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42976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&amp; Compliance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2976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Filing Genie: SEC filings, Form ADV, NAV, expense allocation. JML Lifecycle Genie: Workday, Active Directory, Bloomberg, Aladdin provisioning in hours.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44728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2E2A0A"/>
          </a:solidFill>
          <a:ln/>
        </p:spPr>
      </p:sp>
      <p:sp>
        <p:nvSpPr>
          <p:cNvPr id="70" name="Text 68"/>
          <p:cNvSpPr/>
          <p:nvPr/>
        </p:nvSpPr>
        <p:spPr>
          <a:xfrm>
            <a:off x="344728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461772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17720" y="4736592"/>
            <a:ext cx="4133088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3" name="Text 71"/>
          <p:cNvSpPr/>
          <p:nvPr/>
        </p:nvSpPr>
        <p:spPr>
          <a:xfrm>
            <a:off x="472744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Productivity &amp; Growth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2744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Marketing Genie: personalized fund campaigns via Aprimo/Salesforce. Fidelity: $90K immediate savings. Marketing automation to grow AUM.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4496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774496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&amp; Asset Management  —  Sales Battlecard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PROOF 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customers, $2.66M ARR (20.1% of FinServ)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2976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LGT Capital Partners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1,448 Recipes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$495K ARR — highest in FinServ. Axioma, DealCloud, Appian, 3+ BUs.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Alts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2744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Brookfield 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between disparate apps and newly-acquired companies.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2004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/ Hedge Fund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2976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Group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Stack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$215K ARR, 650 recipes. ChatGPT, Workday, Azure AD, DevOps CI/CD.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61772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Advisory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2744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 Savings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744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$143K ARR. Aprimo marketing automation + automated site creation.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20040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CONNECTORS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" y="2871216"/>
            <a:ext cx="117500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871216"/>
            <a:ext cx="11750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Aladdin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1659636" y="2871216"/>
            <a:ext cx="402336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59636" y="287121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SS&amp;C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116836" y="2871216"/>
            <a:ext cx="937260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16836" y="2871216"/>
            <a:ext cx="9372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River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108960" y="2871216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2871216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SimCorp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744468" y="2871216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4468" y="2871216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29768" y="3090672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3090672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DealCloud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184148" y="3090672"/>
            <a:ext cx="99669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4148" y="309067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FSC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235708" y="3090672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35708" y="3090672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2871216" y="3090672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71216" y="3090672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625596" y="3090672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25596" y="3090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429768" y="3310128"/>
            <a:ext cx="93726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" y="3310128"/>
            <a:ext cx="9372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API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1421892" y="3310128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21892" y="3310128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Refinitiv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2176272" y="3310128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3310128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2752344" y="3310128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52344" y="3310128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Marketo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3387852" y="3310128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87852" y="3310128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29768" y="3529584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3529584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1243584" y="3529584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43584" y="35295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1938528" y="3529584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38528" y="3529584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PitchBook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692908" y="3529584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92908" y="3529584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Addepar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29768" y="40873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GENIES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29768" y="4270248"/>
            <a:ext cx="888797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68" name="Text 66"/>
          <p:cNvSpPr/>
          <p:nvPr/>
        </p:nvSpPr>
        <p:spPr>
          <a:xfrm>
            <a:off x="429768" y="4270248"/>
            <a:ext cx="88879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Genie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1364285" y="4270248"/>
            <a:ext cx="1260043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0" name="Text 68"/>
          <p:cNvSpPr/>
          <p:nvPr/>
        </p:nvSpPr>
        <p:spPr>
          <a:xfrm>
            <a:off x="1364285" y="4270248"/>
            <a:ext cx="126004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Recon Genie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670048" y="4270248"/>
            <a:ext cx="623621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2" name="Text 70"/>
          <p:cNvSpPr/>
          <p:nvPr/>
        </p:nvSpPr>
        <p:spPr>
          <a:xfrm>
            <a:off x="2670048" y="4270248"/>
            <a:ext cx="6236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Genie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429768" y="4471416"/>
            <a:ext cx="1153973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4" name="Text 72"/>
          <p:cNvSpPr/>
          <p:nvPr/>
        </p:nvSpPr>
        <p:spPr>
          <a:xfrm>
            <a:off x="429768" y="4471416"/>
            <a:ext cx="11539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 Lifecycle Genie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1629461" y="4471416"/>
            <a:ext cx="1366114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1629461" y="4471416"/>
            <a:ext cx="136611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Filing Genie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429768" y="4672584"/>
            <a:ext cx="1419149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8" name="Text 76"/>
          <p:cNvSpPr/>
          <p:nvPr/>
        </p:nvSpPr>
        <p:spPr>
          <a:xfrm>
            <a:off x="429768" y="4672584"/>
            <a:ext cx="141914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Marketing Genie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1894637" y="4672584"/>
            <a:ext cx="1047902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0" name="Text 78"/>
          <p:cNvSpPr/>
          <p:nvPr/>
        </p:nvSpPr>
        <p:spPr>
          <a:xfrm>
            <a:off x="1894637" y="4672584"/>
            <a:ext cx="10479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Launch Genie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429768" y="454456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PARTNER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29768" y="4663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Wealth-specific: Mosaic, Envestnet, Investifi, Cetera Financial Group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736592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46320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DIFFERENTIATORS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662672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• POWER • SCALE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84632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4632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90118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Workday, CRM, data connectors. Rapid post-M&amp;A integration. Low-code for ops teams.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617220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7220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2706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 + Research/Compliance Genies. AI orchestration with Python/LLMs. IDP for fund docs.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749808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9808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55294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governance for multi-entity firms. OrCA cost architecture. SOC 2. Global data residency.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4846320" y="3749040"/>
            <a:ext cx="3913632" cy="411480"/>
          </a:xfrm>
          <a:prstGeom prst="roundRect">
            <a:avLst>
              <a:gd name="adj" fmla="val 888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37760" y="37856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PARTNERS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4937760" y="391363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•  Deloitte  •  PwC  •  Capgemini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4937760" y="4041648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Regional SIs: wealth management &amp; fund ops specialists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4846320" y="4224528"/>
            <a:ext cx="3913632" cy="320040"/>
          </a:xfrm>
          <a:prstGeom prst="roundRect">
            <a:avLst>
              <a:gd name="adj" fmla="val 1142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37760" y="42611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COMPETITORS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4937760" y="437997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 •  Boomi  •  Build In-House  •  Salesforce (native)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 &amp; Asset Management — Sales Battlecard</dc:title>
  <dc:subject>PptxGenJS Presentation</dc:subject>
  <dc:creator>Workato PMM</dc:creator>
  <cp:lastModifiedBy>Workato PMM</cp:lastModifiedBy>
  <cp:revision>1</cp:revision>
  <dcterms:created xsi:type="dcterms:W3CDTF">2026-02-19T22:41:25Z</dcterms:created>
  <dcterms:modified xsi:type="dcterms:W3CDTF">2026-02-19T22:41:25Z</dcterms:modified>
</cp:coreProperties>
</file>