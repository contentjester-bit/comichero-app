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7989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/ Life / Specialty Insurance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in. Settlement out. No manual handoffs.  •  Sales Battlecard — Sellers &amp; Partners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A4A4D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SUB-VERTICAL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0" y="502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• Q1 FY27 • WSS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3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2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2E2A0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48856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1E0A3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38988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20A28"/>
          </a:solidFill>
          <a:ln w="6350">
            <a:solidFill>
              <a:srgbClr val="4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42646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Enterprise MCP for Insurance Carriers  </a:t>
            </a:r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</a:rPr>
              <a:t>Turn claims workflows into secure MCP servers — AI agents access Guidewire, Duck Creek, 1,200+ apps. Human-in-the-loop for claim denials + high-value settlements. Audit trail for examiners. SOC 2, HIPAA BAA. OrCA auto-scales for CAT events.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WSS-aligned consultative questions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2221992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258568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2221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claim comes in, how long from FNOL to adjuster assignment — how many manual handoffs or re-keying? What happens during a CAT event when volume spikes 10-50x?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92440" y="2267712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20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2677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0040" y="2551176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912" y="2587752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connecting PAS (Guidewire/Duck Creek) to rating engines, risk data (Verisk/ISO/LexisNexis), and CRM — what happens to quote-to-bind when you update underwriting rules?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92440" y="2596896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20040" y="2880360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" y="2916936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claim decision now carries regulatory scrutiny. How confident are you that fraud scoring, triage routing, and settlement recommendations have complete audit trails for state examiners?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92440" y="292608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2E2A0A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" y="3209544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246120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" y="3209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migrating from legacy PAS (Majesco, COBOL) to Guidewire/Duck Creek — how are you orchestrating parallel run, data reconciliation, and cutover without disrupting production?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92440" y="3255264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255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0040" y="3538728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3575304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3232" y="3538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broker/agent partners accessing quoting and binding? What would real-time API-based quoting mean for new business written premium across your distribution ecosystem?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92440" y="358444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1E0A3E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3584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2004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 CASES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005072"/>
            <a:ext cx="4133088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42976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to Settlement — Claims Automation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976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Genie: multi-channel intake → IDP photos/docs → adjuster assignment → STP track. 60-70% reduction in FNOL-to-acknowledgment. Straight-through processing.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44728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33"/>
          </a:solidFill>
          <a:ln/>
        </p:spPr>
      </p:sp>
      <p:sp>
        <p:nvSpPr>
          <p:cNvPr id="58" name="Text 56"/>
          <p:cNvSpPr/>
          <p:nvPr/>
        </p:nvSpPr>
        <p:spPr>
          <a:xfrm>
            <a:off x="344728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461772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4005072"/>
            <a:ext cx="4133088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472744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 &amp; Underwriting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744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Genie: submission IDP → risk enrichment (Verisk/ISO) → rating → quote → bind → issuance. Policy Renewal Genie: AI retention via life events + propensity.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74496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20"/>
          </a:solidFill>
          <a:ln/>
        </p:spPr>
      </p:sp>
      <p:sp>
        <p:nvSpPr>
          <p:cNvPr id="64" name="Text 62"/>
          <p:cNvSpPr/>
          <p:nvPr/>
        </p:nvSpPr>
        <p:spPr>
          <a:xfrm>
            <a:off x="774496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2004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4736592"/>
            <a:ext cx="413308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7" name="Text 65"/>
          <p:cNvSpPr/>
          <p:nvPr/>
        </p:nvSpPr>
        <p:spPr>
          <a:xfrm>
            <a:off x="42976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&amp; Agent Ecosystem (Embed)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2976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Portal Genie: real-time API quoting/binding for distribution. Commission Processing Genie. Workato Embed: build broker connectivity once, scale to all partners.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44728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1E0A3E"/>
          </a:solidFill>
          <a:ln/>
        </p:spPr>
      </p:sp>
      <p:sp>
        <p:nvSpPr>
          <p:cNvPr id="70" name="Text 68"/>
          <p:cNvSpPr/>
          <p:nvPr/>
        </p:nvSpPr>
        <p:spPr>
          <a:xfrm>
            <a:off x="344728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61772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17720" y="4736592"/>
            <a:ext cx="413308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472744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&amp; Compliance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2744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 Genie: state rate/form filing + SERFF submission. Market Conduct Genie: examiner response packages. Complete audit trail — E&amp;O defensible.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4496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2E2A0A"/>
          </a:solidFill>
          <a:ln/>
        </p:spPr>
      </p:sp>
      <p:sp>
        <p:nvSpPr>
          <p:cNvPr id="76" name="Text 74"/>
          <p:cNvSpPr/>
          <p:nvPr/>
        </p:nvSpPr>
        <p:spPr>
          <a:xfrm>
            <a:off x="774496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/ Life / Specialty Insurance  —  Sales Battlecard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PROOF 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Salesforce-verified carrier customers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Insurance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2976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$712K 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recipes. Salesforce, Oracle, Vertex. EKM + Audit Streaming + Events.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MI — Australia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2744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Dev Avail.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$52K ARR. AWS Bedrock + Claude IDP for invoices. 35% time savings.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2004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2976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Insurance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Recipes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$111K ARR, 3+ BUs. ADP, AWS Athena, Agency Webservices, APIM, Events.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Mutual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2744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Mutual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$147K ARR. Azure DevOps, Service Bus, Data Integration, APIM.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0040" y="2057400"/>
            <a:ext cx="36576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057400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4D4D4"/>
                </a:solidFill>
              </a:rPr>
              <a:t>"Workato was pivotal in helping us enhance our customer experience offering. They moved quickly, deployed quickly, listened to Helia at every step."</a:t>
            </a:r>
            <a:endParaRPr lang="en-US" sz="700" dirty="0"/>
          </a:p>
          <a:p>
            <a:pPr indent="0" marL="0">
              <a:buNone/>
            </a:pPr>
            <a:r>
              <a:rPr lang="en-US" sz="650" b="1" dirty="0">
                <a:solidFill>
                  <a:srgbClr val="8A9A9B"/>
                </a:solidFill>
              </a:rPr>
              <a:t>— Neil Rodgers, Digital Solutions Director, Helia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CONNECTORS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9768" y="2871216"/>
            <a:ext cx="147218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87121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(Full Suite)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956816" y="2871216"/>
            <a:ext cx="117500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56816" y="2871216"/>
            <a:ext cx="1175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Creek (Full)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186684" y="2871216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86684" y="2871216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Majesco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29768" y="3090672"/>
            <a:ext cx="87782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09067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Verisk / ISO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362456" y="3090672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62456" y="3090672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176272" y="3090672"/>
            <a:ext cx="99669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6272" y="309067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FSC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227832" y="3090672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27832" y="3090672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29768" y="3310128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" y="3310128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005840" y="3310128"/>
            <a:ext cx="34290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3310128"/>
            <a:ext cx="342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403604" y="3310128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03604" y="3310128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157984" y="3310128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57984" y="33101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852928" y="3310128"/>
            <a:ext cx="81838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52928" y="3310128"/>
            <a:ext cx="818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29768" y="3529584"/>
            <a:ext cx="87782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352958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Epic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362456" y="3529584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62456" y="3529584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AMS360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938528" y="3529584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38528" y="3529584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Vertafore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692908" y="3529584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92908" y="3529584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AgentSync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447288" y="3529584"/>
            <a:ext cx="46177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47288" y="3529584"/>
            <a:ext cx="46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29768" y="3749040"/>
            <a:ext cx="87782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" y="37490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SERFF / NAIC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362456" y="3749040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62456" y="3749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Colossus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29768" y="4087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GENIES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29768" y="4270248"/>
            <a:ext cx="676656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0" name="Text 68"/>
          <p:cNvSpPr/>
          <p:nvPr/>
        </p:nvSpPr>
        <p:spPr>
          <a:xfrm>
            <a:off x="429768" y="4270248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Genie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1152144" y="4270248"/>
            <a:ext cx="623621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2" name="Text 70"/>
          <p:cNvSpPr/>
          <p:nvPr/>
        </p:nvSpPr>
        <p:spPr>
          <a:xfrm>
            <a:off x="1152144" y="4270248"/>
            <a:ext cx="6236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Genie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1821485" y="4270248"/>
            <a:ext cx="1100938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4" name="Text 72"/>
          <p:cNvSpPr/>
          <p:nvPr/>
        </p:nvSpPr>
        <p:spPr>
          <a:xfrm>
            <a:off x="1821485" y="4270248"/>
            <a:ext cx="11009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Genie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2968142" y="4270248"/>
            <a:ext cx="1207008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2968142" y="4270248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Renewal Genie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429768" y="4471416"/>
            <a:ext cx="1153973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8" name="Text 76"/>
          <p:cNvSpPr/>
          <p:nvPr/>
        </p:nvSpPr>
        <p:spPr>
          <a:xfrm>
            <a:off x="429768" y="4471416"/>
            <a:ext cx="11539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Portal Genie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1629461" y="4471416"/>
            <a:ext cx="1366114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0" name="Text 78"/>
          <p:cNvSpPr/>
          <p:nvPr/>
        </p:nvSpPr>
        <p:spPr>
          <a:xfrm>
            <a:off x="1629461" y="4471416"/>
            <a:ext cx="136611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 Genie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3041294" y="4471416"/>
            <a:ext cx="1207008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2" name="Text 80"/>
          <p:cNvSpPr/>
          <p:nvPr/>
        </p:nvSpPr>
        <p:spPr>
          <a:xfrm>
            <a:off x="3041294" y="4471416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Conduct Genie</a:t>
            </a:r>
            <a:endParaRPr lang="en-US" sz="550" dirty="0"/>
          </a:p>
        </p:txBody>
      </p:sp>
      <p:sp>
        <p:nvSpPr>
          <p:cNvPr id="83" name="Text 81"/>
          <p:cNvSpPr/>
          <p:nvPr/>
        </p:nvSpPr>
        <p:spPr>
          <a:xfrm>
            <a:off x="429768" y="454456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PARTNER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429768" y="4663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People — Pre-built core insurance platform connectors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736592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0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DIFFERENTIATORS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662672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• POWER • SCALE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484632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4632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90118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Guidewire/Duck Creek connectors + IDP Genie. Pre-built Verisk, ACORD, agency mgmt connectors.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617220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7220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2706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 + HIPAA BAA. Human-in-the-loop for claims. Zero downtime during CAT season.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749808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9808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55294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auto-scales for CAT events. No capacity planning. SOC 2. Embed for broker distribution.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4846320" y="3749040"/>
            <a:ext cx="3913632" cy="411480"/>
          </a:xfrm>
          <a:prstGeom prst="roundRect">
            <a:avLst>
              <a:gd name="adj" fmla="val 888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0" y="37856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PARTNERS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4937760" y="391363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•  Deloitte  •  PwC  •  Capgemini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4937760" y="4041648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Regional SIs: insurance-specialist integrators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4846320" y="4224528"/>
            <a:ext cx="3913632" cy="320040"/>
          </a:xfrm>
          <a:prstGeom prst="roundRect">
            <a:avLst>
              <a:gd name="adj" fmla="val 1142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0" y="42611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COMPETITORS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4937760" y="437997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 •  UiPath (RPA)  •  Pega  •  ServiceNow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P&amp;C / Life / Specialty Insurance — Sales Battlecard</dc:title>
  <dc:subject>PptxGenJS Presentation</dc:subject>
  <dc:creator>Workato PMM</dc:creator>
  <cp:lastModifiedBy>Workato PMM</cp:lastModifiedBy>
  <cp:revision>1</cp:revision>
  <dcterms:created xsi:type="dcterms:W3CDTF">2026-02-19T22:41:25Z</dcterms:created>
  <dcterms:modified xsi:type="dcterms:W3CDTF">2026-02-19T22:41:25Z</dcterms:modified>
</cp:coreProperties>
</file>