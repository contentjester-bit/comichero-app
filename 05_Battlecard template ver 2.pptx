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JeKU3LFqc3pW+uoS2SB7Ih7iR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05450" y="1431100"/>
            <a:ext cx="8707200" cy="1963800"/>
          </a:xfrm>
          <a:prstGeom prst="roundRect">
            <a:avLst>
              <a:gd fmla="val 448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796200"/>
          </a:xfrm>
          <a:prstGeom prst="rect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045" y="109717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workato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0040" y="323862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Insurance Payers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" y="570750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Members activated. Claims auto-adjudicated. Stars earned.  •  Sales Battlecard — Partners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fmla="val 13333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INSURANCE SUB-VERTICAL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Feb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5450" y="879950"/>
            <a:ext cx="8707200" cy="502800"/>
          </a:xfrm>
          <a:prstGeom prst="roundRect">
            <a:avLst>
              <a:gd fmla="val 10909" name="adj"/>
            </a:avLst>
          </a:prstGeom>
          <a:solidFill>
            <a:srgbClr val="120A28"/>
          </a:solidFill>
          <a:ln cap="flat" cmpd="sng" w="9525">
            <a:solidFill>
              <a:srgbClr val="4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02920" y="916516"/>
            <a:ext cx="813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Enterprise MCP for Health Payers  </a:t>
            </a:r>
            <a:r>
              <a:rPr b="0" i="0" lang="en-US" sz="7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HIPAA BAA available. SOC 2 Type II. Enterprise MCP connects claims, eligibility, PBM, care management on one platform. PA workflows become MCP servers with human-in-the-loop. OrCA auto-scales 10-50x for open enrollment.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" y="14480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DISCOVERY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0040" y="1676620"/>
            <a:ext cx="36600" cy="292500"/>
          </a:xfrm>
          <a:prstGeom prst="rect">
            <a:avLst/>
          </a:prstGeom>
          <a:solidFill>
            <a:srgbClr val="279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38912" y="1713196"/>
            <a:ext cx="201300" cy="201300"/>
          </a:xfrm>
          <a:prstGeom prst="ellipse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38912" y="171319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1662451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your auto-adjudication rate for routine claims — cost per manually adjudicated claim ($6-12 avg)? What happens to backlog during open enrollment when volume spikes 10-50x?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092440" y="1708171"/>
            <a:ext cx="731400" cy="183000"/>
          </a:xfrm>
          <a:prstGeom prst="roundRect">
            <a:avLst>
              <a:gd fmla="val 1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085355" y="1708171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20040" y="2005804"/>
            <a:ext cx="36600" cy="292500"/>
          </a:xfrm>
          <a:prstGeom prst="rect">
            <a:avLst/>
          </a:prstGeom>
          <a:solidFill>
            <a:srgbClr val="279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438912" y="2042380"/>
            <a:ext cx="201300" cy="201300"/>
          </a:xfrm>
          <a:prstGeom prst="ellipse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438912" y="204238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13232" y="1991635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CMS mandates FHIR-based prior auth APIs. How far along is your PA automation — how many PA requests are still manual (industry: 70%) at $11/request (CAQH)?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92440" y="2037355"/>
            <a:ext cx="731400" cy="183000"/>
          </a:xfrm>
          <a:prstGeom prst="roundRect">
            <a:avLst>
              <a:gd fmla="val 1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085355" y="2037355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20040" y="2334988"/>
            <a:ext cx="36600" cy="292500"/>
          </a:xfrm>
          <a:prstGeom prst="rect">
            <a:avLst/>
          </a:prstGeom>
          <a:solidFill>
            <a:srgbClr val="279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438912" y="2371564"/>
            <a:ext cx="201300" cy="201300"/>
          </a:xfrm>
          <a:prstGeom prst="ellipse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438912" y="237156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13232" y="2320819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member enrolls, how many systems need eligibility loaded (typically 8-10: claims, PBM, dental, vision, care mgmt) — what's activation time? How many claim denials trace to eligibility errors?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092440" y="2366539"/>
            <a:ext cx="731400" cy="183000"/>
          </a:xfrm>
          <a:prstGeom prst="roundRect">
            <a:avLst>
              <a:gd fmla="val 1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085355" y="2366539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Agility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20040" y="2664172"/>
            <a:ext cx="36600" cy="292500"/>
          </a:xfrm>
          <a:prstGeom prst="rect">
            <a:avLst/>
          </a:prstGeom>
          <a:solidFill>
            <a:srgbClr val="279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438912" y="2700748"/>
            <a:ext cx="201300" cy="201300"/>
          </a:xfrm>
          <a:prstGeom prst="ellipse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438912" y="2700748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13232" y="2650003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Medicare Advantage, how are you identifying and closing HEDIS care gaps before measurement period ends — real-time or retrospective batch? Each 0.5-star = significant CMS bonus.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092440" y="2695723"/>
            <a:ext cx="731400" cy="183000"/>
          </a:xfrm>
          <a:prstGeom prst="roundRect">
            <a:avLst>
              <a:gd fmla="val 1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085355" y="2695723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20040" y="2993356"/>
            <a:ext cx="36600" cy="292500"/>
          </a:xfrm>
          <a:prstGeom prst="rect">
            <a:avLst/>
          </a:prstGeom>
          <a:solidFill>
            <a:srgbClr val="279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438912" y="3029932"/>
            <a:ext cx="201300" cy="201300"/>
          </a:xfrm>
          <a:prstGeom prst="ellipse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438912" y="302993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713232" y="2979187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costs = 25-30% of health insurance spending. What % of HR, Finance, IT back-office is still manual — how does that affect MLR targets and member-facing investment?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8092440" y="3024907"/>
            <a:ext cx="731400" cy="183000"/>
          </a:xfrm>
          <a:prstGeom prst="roundRect">
            <a:avLst>
              <a:gd fmla="val 1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8085355" y="3024907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20040" y="3451633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TARGETED USE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20040" y="3658072"/>
            <a:ext cx="4133100" cy="640200"/>
          </a:xfrm>
          <a:prstGeom prst="roundRect">
            <a:avLst>
              <a:gd fmla="val 714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320040" y="3658072"/>
            <a:ext cx="4133100" cy="32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429768" y="3712936"/>
            <a:ext cx="391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Claims Auto-Adjudication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429768" y="3877528"/>
            <a:ext cx="39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Claims Genie: intake → eligibility → benefit rules → auto-adjudicate → EOB → payment. Target: 80%+ auto-adj rate. FWA Detection Genie flags anomalous billing.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447288" y="4115272"/>
            <a:ext cx="868800" cy="146400"/>
          </a:xfrm>
          <a:prstGeom prst="roundRect">
            <a:avLst>
              <a:gd fmla="val 18750" name="adj"/>
            </a:avLst>
          </a:prstGeom>
          <a:solidFill>
            <a:srgbClr val="0A2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3447288" y="4115272"/>
            <a:ext cx="86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Efficiency &amp; OrCA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617720" y="3658072"/>
            <a:ext cx="4133100" cy="640200"/>
          </a:xfrm>
          <a:prstGeom prst="roundRect">
            <a:avLst>
              <a:gd fmla="val 714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4617720" y="3658072"/>
            <a:ext cx="4133100" cy="32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4727448" y="3712936"/>
            <a:ext cx="391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 Auth &amp; Member Experience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727448" y="3877528"/>
            <a:ext cx="39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PA Genie: request → clinical criteria → auto-approve routine / human exception → FHIR status. Support Genie 24/7. CMS FHIR mandate without multi-year program.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7744968" y="4115272"/>
            <a:ext cx="868800" cy="146400"/>
          </a:xfrm>
          <a:prstGeom prst="roundRect">
            <a:avLst>
              <a:gd fmla="val 18750" name="adj"/>
            </a:avLst>
          </a:prstGeom>
          <a:solidFill>
            <a:srgbClr val="2E2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7744968" y="4115272"/>
            <a:ext cx="86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Reduction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320040" y="4389592"/>
            <a:ext cx="4133100" cy="640200"/>
          </a:xfrm>
          <a:prstGeom prst="roundRect">
            <a:avLst>
              <a:gd fmla="val 714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320040" y="4389592"/>
            <a:ext cx="4133100" cy="32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429768" y="4444456"/>
            <a:ext cx="391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Eligibility &amp; Provider Operations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429768" y="4609048"/>
            <a:ext cx="39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Eligibility Genie: enrollment → load claims + PBM + dental + vision + care mgmt simultaneously. Hours not days. Zero errors. Provider credentialing automation.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3518200" y="4896992"/>
            <a:ext cx="868800" cy="146400"/>
          </a:xfrm>
          <a:prstGeom prst="roundRect">
            <a:avLst>
              <a:gd fmla="val 18750" name="adj"/>
            </a:avLst>
          </a:prstGeom>
          <a:solidFill>
            <a:srgbClr val="0A2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3518138" y="4892717"/>
            <a:ext cx="868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Enterprise Agility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4617720" y="4389592"/>
            <a:ext cx="4133100" cy="640200"/>
          </a:xfrm>
          <a:prstGeom prst="roundRect">
            <a:avLst>
              <a:gd fmla="val 714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4617720" y="4389592"/>
            <a:ext cx="4133100" cy="32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4727448" y="4444456"/>
            <a:ext cx="391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 Ratings &amp; HEDIS Care Gaps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4727448" y="4609048"/>
            <a:ext cx="39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Care Gap Genie: real-time claims + FHIR clinical → gap ID → member outreach → provider scheduling. HEDIS reporting automation. 0.5-star = CMS quality bonus.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7772281" y="4828667"/>
            <a:ext cx="868800" cy="146400"/>
          </a:xfrm>
          <a:prstGeom prst="roundRect">
            <a:avLst>
              <a:gd fmla="val 18750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7772225" y="4814448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Revenue Growth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0" y="5054303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Page 1 of 2  •  Workato Confidential  •  For Sellers &amp; Partners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/>
          <p:nvPr/>
        </p:nvSpPr>
        <p:spPr>
          <a:xfrm>
            <a:off x="4736600" y="3556875"/>
            <a:ext cx="4133100" cy="1317000"/>
          </a:xfrm>
          <a:prstGeom prst="roundRect">
            <a:avLst>
              <a:gd fmla="val 235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Insurance Payers  —  Sales Battlecard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CUSTOMER PROOF 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783080" y="512058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Salesforce-verified health payer customers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fmla="val 7692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Health Payer — NYC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Healthfirst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989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989F"/>
                </a:solidFill>
                <a:latin typeface="Calibri"/>
                <a:ea typeface="Calibri"/>
                <a:cs typeface="Calibri"/>
                <a:sym typeface="Calibri"/>
              </a:rPr>
              <a:t>$733K ARR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575 recipes, 3+ BUs. Acqueon, DynamoDB, Workbot, GitHub CI/CD, Events.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fmla="val 7692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Life Insurance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Northwestern Mutual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989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989F"/>
                </a:solidFill>
                <a:latin typeface="Calibri"/>
                <a:ea typeface="Calibri"/>
                <a:cs typeface="Calibri"/>
                <a:sym typeface="Calibri"/>
              </a:rPr>
              <a:t>$101K ARR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Zendesk, ServiceNow, Splunk. Enterprise-wide automation.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fmla="val 7692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InsurTech AI-Native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Lemonade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989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989F"/>
                </a:solidFill>
                <a:latin typeface="Calibri"/>
                <a:ea typeface="Calibri"/>
                <a:cs typeface="Calibri"/>
                <a:sym typeface="Calibri"/>
              </a:rPr>
              <a:t>227 Recipes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$104K ARR. Anthropic Claude + Meraki + Ashby + Brex + Navan.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fmla="val 7692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Health Payer — Digital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Oscar Health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989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989F"/>
                </a:solidFill>
                <a:latin typeface="Calibri"/>
                <a:ea typeface="Calibri"/>
                <a:cs typeface="Calibri"/>
                <a:sym typeface="Calibri"/>
              </a:rPr>
              <a:t>Digital-First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$92K ARR. Okta, Salesforce, Google Workspace, Workbot.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320050" y="2276850"/>
            <a:ext cx="4133100" cy="2597100"/>
          </a:xfrm>
          <a:prstGeom prst="roundRect">
            <a:avLst>
              <a:gd fmla="val 235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ECOSYSTEM CONNECTORS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29768" y="2871216"/>
            <a:ext cx="758952" cy="164592"/>
          </a:xfrm>
          <a:prstGeom prst="roundRect">
            <a:avLst>
              <a:gd fmla="val 16667" name="adj"/>
            </a:avLst>
          </a:prstGeom>
          <a:solidFill>
            <a:srgbClr val="0D3A3D"/>
          </a:solidFill>
          <a:ln cap="flat" cmpd="sng" w="9525">
            <a:solidFill>
              <a:srgbClr val="279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429768" y="2871216"/>
            <a:ext cx="7589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HealthEdge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243584" y="2871216"/>
            <a:ext cx="1175004" cy="164592"/>
          </a:xfrm>
          <a:prstGeom prst="roundRect">
            <a:avLst>
              <a:gd fmla="val 16667" name="adj"/>
            </a:avLst>
          </a:prstGeom>
          <a:solidFill>
            <a:srgbClr val="0D3A3D"/>
          </a:solidFill>
          <a:ln cap="flat" cmpd="sng" w="9525">
            <a:solidFill>
              <a:srgbClr val="279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1243584" y="2871216"/>
            <a:ext cx="11750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FACETS / TriZetto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2473452" y="2871216"/>
            <a:ext cx="402336" cy="164592"/>
          </a:xfrm>
          <a:prstGeom prst="roundRect">
            <a:avLst>
              <a:gd fmla="val 16667" name="adj"/>
            </a:avLst>
          </a:prstGeom>
          <a:solidFill>
            <a:srgbClr val="0D3A3D"/>
          </a:solidFill>
          <a:ln cap="flat" cmpd="sng" w="9525">
            <a:solidFill>
              <a:srgbClr val="279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2473452" y="2871216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QNXT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2930652" y="2871216"/>
            <a:ext cx="640080" cy="164592"/>
          </a:xfrm>
          <a:prstGeom prst="roundRect">
            <a:avLst>
              <a:gd fmla="val 16667" name="adj"/>
            </a:avLst>
          </a:prstGeom>
          <a:solidFill>
            <a:srgbClr val="0D3A3D"/>
          </a:solidFill>
          <a:ln cap="flat" cmpd="sng" w="9525">
            <a:solidFill>
              <a:srgbClr val="279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2930652" y="2871216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Availity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29768" y="3090672"/>
            <a:ext cx="1175004" cy="164592"/>
          </a:xfrm>
          <a:prstGeom prst="roundRect">
            <a:avLst>
              <a:gd fmla="val 16667" name="adj"/>
            </a:avLst>
          </a:prstGeom>
          <a:solidFill>
            <a:srgbClr val="0D3A3D"/>
          </a:solidFill>
          <a:ln cap="flat" cmpd="sng" w="9525">
            <a:solidFill>
              <a:srgbClr val="279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429768" y="3090672"/>
            <a:ext cx="11750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Change Healthcare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659636" y="3090672"/>
            <a:ext cx="1531620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1659636" y="3090672"/>
            <a:ext cx="1531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Salesforce Health Cloud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3246120" y="3090672"/>
            <a:ext cx="580644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3246120" y="3090672"/>
            <a:ext cx="5806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Workday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29768" y="3310128"/>
            <a:ext cx="521208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429768" y="3310128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05840" y="3310128"/>
            <a:ext cx="342900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1005840" y="3310128"/>
            <a:ext cx="3429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403604" y="3310128"/>
            <a:ext cx="699516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1403604" y="3310128"/>
            <a:ext cx="6995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Snowflake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2157984" y="3310128"/>
            <a:ext cx="996696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2157984" y="331012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Epic (FHIR R4)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429768" y="3529584"/>
            <a:ext cx="1353312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429768" y="352958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Cerner/Oracle Health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1837944" y="3529584"/>
            <a:ext cx="580644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1837944" y="3529584"/>
            <a:ext cx="5806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Acqueon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2473452" y="3529584"/>
            <a:ext cx="1056132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2473452" y="3529584"/>
            <a:ext cx="10561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Express Scripts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3584448" y="3529584"/>
            <a:ext cx="640080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3584448" y="352958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Cotiviti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29768" y="3749040"/>
            <a:ext cx="877824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429768" y="3749040"/>
            <a:ext cx="877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CAQH ProView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1362456" y="3749040"/>
            <a:ext cx="640080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1362456" y="37490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Inovalon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2057400" y="3749040"/>
            <a:ext cx="1056132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2057400" y="3749040"/>
            <a:ext cx="10561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Health Catalyst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3168396" y="3749040"/>
            <a:ext cx="640080" cy="164592"/>
          </a:xfrm>
          <a:prstGeom prst="roundRect">
            <a:avLst>
              <a:gd fmla="val 16667" name="adj"/>
            </a:avLst>
          </a:prstGeom>
          <a:solidFill>
            <a:srgbClr val="1A4A4D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3168396" y="37490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WORKATO GENIES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29768" y="4270248"/>
            <a:ext cx="1472184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429768" y="4270248"/>
            <a:ext cx="1472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Claims Adjudication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947672" y="4270248"/>
            <a:ext cx="1153973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1947672" y="4270248"/>
            <a:ext cx="115397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FWA Detection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3147365" y="4270248"/>
            <a:ext cx="994867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3147365" y="4270248"/>
            <a:ext cx="994867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Prior Auth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429768" y="4471416"/>
            <a:ext cx="835762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"/>
          <p:cNvSpPr/>
          <p:nvPr/>
        </p:nvSpPr>
        <p:spPr>
          <a:xfrm>
            <a:off x="429768" y="4471416"/>
            <a:ext cx="83576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Support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1311250" y="4471416"/>
            <a:ext cx="1047902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1311250" y="4471416"/>
            <a:ext cx="104790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Eligibility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2404872" y="4471416"/>
            <a:ext cx="888797" cy="155448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2404872" y="4471416"/>
            <a:ext cx="888797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Care Gap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154668" y="4450809"/>
            <a:ext cx="1260000" cy="155400"/>
          </a:xfrm>
          <a:prstGeom prst="roundRect">
            <a:avLst>
              <a:gd fmla="val 17647" name="adj"/>
            </a:avLst>
          </a:prstGeom>
          <a:solidFill>
            <a:srgbClr val="1E0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"/>
          <p:cNvSpPr/>
          <p:nvPr/>
        </p:nvSpPr>
        <p:spPr>
          <a:xfrm>
            <a:off x="3101643" y="4450834"/>
            <a:ext cx="1260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HEDIS Reporting Genie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5623543" y="3576368"/>
            <a:ext cx="1828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FEATURED PARTNER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736600" y="2276729"/>
            <a:ext cx="4133100" cy="1170600"/>
          </a:xfrm>
          <a:prstGeom prst="roundRect">
            <a:avLst>
              <a:gd fmla="val 2353" name="adj"/>
            </a:avLst>
          </a:prstGeom>
          <a:solidFill>
            <a:srgbClr val="0B2D2F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"/>
          <p:cNvSpPr/>
          <p:nvPr/>
        </p:nvSpPr>
        <p:spPr>
          <a:xfrm>
            <a:off x="4846320" y="2349885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DEFENSIBLE DIFFERENTIATORS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662672" y="2349885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SPEED • POWER • SCALE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4846320" y="2569341"/>
            <a:ext cx="1252800" cy="777300"/>
          </a:xfrm>
          <a:prstGeom prst="roundRect">
            <a:avLst>
              <a:gd fmla="val 4706" name="adj"/>
            </a:avLst>
          </a:prstGeom>
          <a:solidFill>
            <a:srgbClr val="061E20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"/>
          <p:cNvSpPr/>
          <p:nvPr/>
        </p:nvSpPr>
        <p:spPr>
          <a:xfrm>
            <a:off x="4846320" y="2615061"/>
            <a:ext cx="125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4901184" y="2770509"/>
            <a:ext cx="114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HealthEdge, FACETS, QNXT connectors. FHIR R4 connectivity. Pre-built clinical integrations.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6172200" y="2569341"/>
            <a:ext cx="1252800" cy="777300"/>
          </a:xfrm>
          <a:prstGeom prst="roundRect">
            <a:avLst>
              <a:gd fmla="val 4706" name="adj"/>
            </a:avLst>
          </a:prstGeom>
          <a:solidFill>
            <a:srgbClr val="061E20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"/>
          <p:cNvSpPr/>
          <p:nvPr/>
        </p:nvSpPr>
        <p:spPr>
          <a:xfrm>
            <a:off x="6172200" y="2615061"/>
            <a:ext cx="125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6227064" y="2770509"/>
            <a:ext cx="114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Enterprise MCP + HIPAA BAA. Human-in-the-loop for PA/claims. Zero downtime during open enrollment.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7498080" y="2569341"/>
            <a:ext cx="1252800" cy="777300"/>
          </a:xfrm>
          <a:prstGeom prst="roundRect">
            <a:avLst>
              <a:gd fmla="val 4706" name="adj"/>
            </a:avLst>
          </a:prstGeom>
          <a:solidFill>
            <a:srgbClr val="061E20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"/>
          <p:cNvSpPr/>
          <p:nvPr/>
        </p:nvSpPr>
        <p:spPr>
          <a:xfrm>
            <a:off x="7498080" y="2615061"/>
            <a:ext cx="125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7552944" y="2770509"/>
            <a:ext cx="114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OrCA auto-scales 10-50x for open enrollment. No capacity planning. SOC 2. FHIR mandate compliance.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4846320" y="3961581"/>
            <a:ext cx="3913500" cy="411600"/>
          </a:xfrm>
          <a:prstGeom prst="roundRect">
            <a:avLst>
              <a:gd fmla="val 8889" name="adj"/>
            </a:avLst>
          </a:prstGeom>
          <a:solidFill>
            <a:srgbClr val="061E20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"/>
          <p:cNvSpPr/>
          <p:nvPr/>
        </p:nvSpPr>
        <p:spPr>
          <a:xfrm>
            <a:off x="4937760" y="3998157"/>
            <a:ext cx="1097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GSI PARTNERS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4937760" y="4126173"/>
            <a:ext cx="3200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Accenture  •  Deloitte  •  PwC  •  Capgemini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4937760" y="4254189"/>
            <a:ext cx="3657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+ Regional SIs: healthcare payer technology specialists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846320" y="4437069"/>
            <a:ext cx="3913500" cy="320100"/>
          </a:xfrm>
          <a:prstGeom prst="roundRect">
            <a:avLst>
              <a:gd fmla="val 11429" name="adj"/>
            </a:avLst>
          </a:prstGeom>
          <a:solidFill>
            <a:srgbClr val="061E20"/>
          </a:solidFill>
          <a:ln cap="flat" cmpd="sng" w="9525">
            <a:solidFill>
              <a:srgbClr val="1A5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"/>
          <p:cNvSpPr/>
          <p:nvPr/>
        </p:nvSpPr>
        <p:spPr>
          <a:xfrm>
            <a:off x="4937760" y="4473645"/>
            <a:ext cx="137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PRIMARY COMPETITORS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4937760" y="4592517"/>
            <a:ext cx="3657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UiPath (RPA)  •  Pega (BPM)  •  MuleSoft  •  ServiceNow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56675" y="4873725"/>
            <a:ext cx="908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9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8A9A9B"/>
                </a:solidFill>
                <a:latin typeface="Calibri"/>
                <a:ea typeface="Calibri"/>
                <a:cs typeface="Calibri"/>
                <a:sym typeface="Calibri"/>
              </a:rPr>
              <a:t>Page 2 of 2  •  Workato Confidential  •  For Sellers &amp; Partners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4846320" y="3553473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KEY PARTNERS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5520618" y="3567265"/>
            <a:ext cx="3657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8C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FB8C0"/>
                </a:solidFill>
                <a:latin typeface="Calibri"/>
                <a:ea typeface="Calibri"/>
                <a:cs typeface="Calibri"/>
                <a:sym typeface="Calibri"/>
              </a:rPr>
              <a:t>Healthcare payer specialist SIs + FHIR connectivity partners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2026-02-19T22:41:25Z</dcterms:created>
  <dc:creator>Workato PMM</dc:creator>
</cp:coreProperties>
</file>