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65F6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164592"/>
            <a:ext cx="347472" cy="347472"/>
          </a:xfrm>
          <a:prstGeom prst="roundRect">
            <a:avLst>
              <a:gd name="adj" fmla="val 13158"/>
            </a:avLst>
          </a:prstGeom>
          <a:solidFill>
            <a:srgbClr val="27989F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731520" y="164592"/>
            <a:ext cx="1005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workato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004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Insurance Payers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749808"/>
            <a:ext cx="5486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 activated. Claims auto-adjudicated. Stars earned.  •  Sales Battlecard — Partners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132320" y="182880"/>
            <a:ext cx="1691640" cy="274320"/>
          </a:xfrm>
          <a:prstGeom prst="roundRect">
            <a:avLst>
              <a:gd name="adj" fmla="val 13333"/>
            </a:avLst>
          </a:prstGeom>
          <a:solidFill>
            <a:srgbClr val="1A4A4D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0" y="182880"/>
            <a:ext cx="1691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SUB-VERTICAL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132320" y="502920"/>
            <a:ext cx="1691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v2.0 • Q1 FY27 • WSS</a:t>
            </a:r>
            <a:endParaRPr lang="en-US" sz="700" dirty="0"/>
          </a:p>
        </p:txBody>
      </p:sp>
      <p:sp>
        <p:nvSpPr>
          <p:cNvPr id="10" name="Shape 8"/>
          <p:cNvSpPr/>
          <p:nvPr/>
        </p:nvSpPr>
        <p:spPr>
          <a:xfrm>
            <a:off x="320040" y="1051560"/>
            <a:ext cx="2011680" cy="228600"/>
          </a:xfrm>
          <a:prstGeom prst="roundRect">
            <a:avLst>
              <a:gd name="adj" fmla="val 16000"/>
            </a:avLst>
          </a:prstGeom>
          <a:solidFill>
            <a:srgbClr val="0A2E33"/>
          </a:solidFill>
          <a:ln w="6350">
            <a:solidFill>
              <a:srgbClr val="06B6D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051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Agility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2496312" y="1051560"/>
            <a:ext cx="2011680" cy="228600"/>
          </a:xfrm>
          <a:prstGeom prst="roundRect">
            <a:avLst>
              <a:gd name="adj" fmla="val 16000"/>
            </a:avLst>
          </a:prstGeom>
          <a:solidFill>
            <a:srgbClr val="0A2E20"/>
          </a:solidFill>
          <a:ln w="6350">
            <a:solidFill>
              <a:srgbClr val="10B9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96312" y="1051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&amp; OrCA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672584" y="1051560"/>
            <a:ext cx="2011680" cy="228600"/>
          </a:xfrm>
          <a:prstGeom prst="roundRect">
            <a:avLst>
              <a:gd name="adj" fmla="val 16000"/>
            </a:avLst>
          </a:prstGeom>
          <a:solidFill>
            <a:srgbClr val="2E2A0A"/>
          </a:solidFill>
          <a:ln w="635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72584" y="1051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848856" y="1051560"/>
            <a:ext cx="2011680" cy="228600"/>
          </a:xfrm>
          <a:prstGeom prst="roundRect">
            <a:avLst>
              <a:gd name="adj" fmla="val 16000"/>
            </a:avLst>
          </a:prstGeom>
          <a:solidFill>
            <a:srgbClr val="1E0A3E"/>
          </a:solidFill>
          <a:ln w="6350">
            <a:solidFill>
              <a:srgbClr val="8B5CF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48856" y="105156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1389888"/>
            <a:ext cx="8503920" cy="502920"/>
          </a:xfrm>
          <a:prstGeom prst="roundRect">
            <a:avLst>
              <a:gd name="adj" fmla="val 10909"/>
            </a:avLst>
          </a:prstGeom>
          <a:solidFill>
            <a:srgbClr val="120A28"/>
          </a:solidFill>
          <a:ln w="6350">
            <a:solidFill>
              <a:srgbClr val="4B2D8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1426464"/>
            <a:ext cx="813816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8B5CF6"/>
                </a:solidFill>
              </a:rPr>
              <a:t>Enterprise MCP for Health Payers  </a:t>
            </a:r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</a:rPr>
              <a:t>HIPAA BAA available. SOC 2 Type II. Enterprise MCP connects claims, eligibility, PBM, care management on one platform. PA workflows become MCP servers with human-in-the-loop. OrCA auto-scales 10-50x for open enrollment.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20040" y="19933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QUESTIONS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200400" y="1993392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WSS-aligned consultative questions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320040" y="2221992"/>
            <a:ext cx="36576" cy="292608"/>
          </a:xfrm>
          <a:prstGeom prst="rect">
            <a:avLst/>
          </a:prstGeom>
          <a:solidFill>
            <a:srgbClr val="27989F"/>
          </a:solidFill>
          <a:ln/>
        </p:spPr>
      </p:sp>
      <p:sp>
        <p:nvSpPr>
          <p:cNvPr id="23" name="Shape 21"/>
          <p:cNvSpPr/>
          <p:nvPr/>
        </p:nvSpPr>
        <p:spPr>
          <a:xfrm>
            <a:off x="438912" y="2258568"/>
            <a:ext cx="201168" cy="201168"/>
          </a:xfrm>
          <a:prstGeom prst="ellipse">
            <a:avLst/>
          </a:prstGeom>
          <a:solidFill>
            <a:srgbClr val="065F69"/>
          </a:solidFill>
          <a:ln/>
        </p:spPr>
      </p:sp>
      <p:sp>
        <p:nvSpPr>
          <p:cNvPr id="24" name="Text 22"/>
          <p:cNvSpPr/>
          <p:nvPr/>
        </p:nvSpPr>
        <p:spPr>
          <a:xfrm>
            <a:off x="438912" y="225856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13232" y="222199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your auto-adjudication rate for routine claims — cost per manually adjudicated claim ($6-12 avg)? What happens to backlog during open enrollment when volume spikes 10-50x?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8092440" y="2267712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0A2E20"/>
          </a:solidFill>
          <a:ln/>
        </p:spPr>
      </p:sp>
      <p:sp>
        <p:nvSpPr>
          <p:cNvPr id="27" name="Text 25"/>
          <p:cNvSpPr/>
          <p:nvPr/>
        </p:nvSpPr>
        <p:spPr>
          <a:xfrm>
            <a:off x="8092440" y="2267712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600" dirty="0"/>
          </a:p>
        </p:txBody>
      </p:sp>
      <p:sp>
        <p:nvSpPr>
          <p:cNvPr id="28" name="Shape 26"/>
          <p:cNvSpPr/>
          <p:nvPr/>
        </p:nvSpPr>
        <p:spPr>
          <a:xfrm>
            <a:off x="320040" y="2551176"/>
            <a:ext cx="36576" cy="292608"/>
          </a:xfrm>
          <a:prstGeom prst="rect">
            <a:avLst/>
          </a:prstGeom>
          <a:solidFill>
            <a:srgbClr val="27989F"/>
          </a:solidFill>
          <a:ln/>
        </p:spPr>
      </p:sp>
      <p:sp>
        <p:nvSpPr>
          <p:cNvPr id="29" name="Shape 27"/>
          <p:cNvSpPr/>
          <p:nvPr/>
        </p:nvSpPr>
        <p:spPr>
          <a:xfrm>
            <a:off x="438912" y="2587752"/>
            <a:ext cx="201168" cy="201168"/>
          </a:xfrm>
          <a:prstGeom prst="ellipse">
            <a:avLst/>
          </a:prstGeom>
          <a:solidFill>
            <a:srgbClr val="065F69"/>
          </a:solidFill>
          <a:ln/>
        </p:spPr>
      </p:sp>
      <p:sp>
        <p:nvSpPr>
          <p:cNvPr id="30" name="Text 28"/>
          <p:cNvSpPr/>
          <p:nvPr/>
        </p:nvSpPr>
        <p:spPr>
          <a:xfrm>
            <a:off x="438912" y="258775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13232" y="2551176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 mandates FHIR-based prior auth APIs. How far along is your PA automation — how many PA requests are still manual (industry: 70%) at $11/request (CAQH)?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8092440" y="2596896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2E2A0A"/>
          </a:solidFill>
          <a:ln/>
        </p:spPr>
      </p:sp>
      <p:sp>
        <p:nvSpPr>
          <p:cNvPr id="33" name="Text 31"/>
          <p:cNvSpPr/>
          <p:nvPr/>
        </p:nvSpPr>
        <p:spPr>
          <a:xfrm>
            <a:off x="8092440" y="2596896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320040" y="2880360"/>
            <a:ext cx="36576" cy="292608"/>
          </a:xfrm>
          <a:prstGeom prst="rect">
            <a:avLst/>
          </a:prstGeom>
          <a:solidFill>
            <a:srgbClr val="27989F"/>
          </a:solidFill>
          <a:ln/>
        </p:spPr>
      </p:sp>
      <p:sp>
        <p:nvSpPr>
          <p:cNvPr id="35" name="Shape 33"/>
          <p:cNvSpPr/>
          <p:nvPr/>
        </p:nvSpPr>
        <p:spPr>
          <a:xfrm>
            <a:off x="438912" y="2916936"/>
            <a:ext cx="201168" cy="201168"/>
          </a:xfrm>
          <a:prstGeom prst="ellipse">
            <a:avLst/>
          </a:prstGeom>
          <a:solidFill>
            <a:srgbClr val="065F69"/>
          </a:solidFill>
          <a:ln/>
        </p:spPr>
      </p:sp>
      <p:sp>
        <p:nvSpPr>
          <p:cNvPr id="36" name="Text 34"/>
          <p:cNvSpPr/>
          <p:nvPr/>
        </p:nvSpPr>
        <p:spPr>
          <a:xfrm>
            <a:off x="438912" y="291693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13232" y="288036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a member enrolls, how many systems need eligibility loaded (typically 8-10: claims, PBM, dental, vision, care mgmt) — what's activation time? How many claim denials trace to eligibility errors?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8092440" y="2926080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0A2E33"/>
          </a:solidFill>
          <a:ln/>
        </p:spPr>
      </p:sp>
      <p:sp>
        <p:nvSpPr>
          <p:cNvPr id="39" name="Text 37"/>
          <p:cNvSpPr/>
          <p:nvPr/>
        </p:nvSpPr>
        <p:spPr>
          <a:xfrm>
            <a:off x="8092440" y="2926080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Agility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320040" y="3209544"/>
            <a:ext cx="36576" cy="292608"/>
          </a:xfrm>
          <a:prstGeom prst="rect">
            <a:avLst/>
          </a:prstGeom>
          <a:solidFill>
            <a:srgbClr val="27989F"/>
          </a:solidFill>
          <a:ln/>
        </p:spPr>
      </p:sp>
      <p:sp>
        <p:nvSpPr>
          <p:cNvPr id="41" name="Shape 39"/>
          <p:cNvSpPr/>
          <p:nvPr/>
        </p:nvSpPr>
        <p:spPr>
          <a:xfrm>
            <a:off x="438912" y="3246120"/>
            <a:ext cx="201168" cy="201168"/>
          </a:xfrm>
          <a:prstGeom prst="ellipse">
            <a:avLst/>
          </a:prstGeom>
          <a:solidFill>
            <a:srgbClr val="065F69"/>
          </a:solidFill>
          <a:ln/>
        </p:spPr>
      </p:sp>
      <p:sp>
        <p:nvSpPr>
          <p:cNvPr id="42" name="Text 40"/>
          <p:cNvSpPr/>
          <p:nvPr/>
        </p:nvSpPr>
        <p:spPr>
          <a:xfrm>
            <a:off x="438912" y="324612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13232" y="3209544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Medicare Advantage, how are you identifying and closing HEDIS care gaps before measurement period ends — real-time or retrospective batch? Each 0.5-star = significant CMS bonus.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8092440" y="3255264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1E0A3E"/>
          </a:solidFill>
          <a:ln/>
        </p:spPr>
      </p:sp>
      <p:sp>
        <p:nvSpPr>
          <p:cNvPr id="45" name="Text 43"/>
          <p:cNvSpPr/>
          <p:nvPr/>
        </p:nvSpPr>
        <p:spPr>
          <a:xfrm>
            <a:off x="8092440" y="325526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320040" y="3538728"/>
            <a:ext cx="36576" cy="292608"/>
          </a:xfrm>
          <a:prstGeom prst="rect">
            <a:avLst/>
          </a:prstGeom>
          <a:solidFill>
            <a:srgbClr val="27989F"/>
          </a:solidFill>
          <a:ln/>
        </p:spPr>
      </p:sp>
      <p:sp>
        <p:nvSpPr>
          <p:cNvPr id="47" name="Shape 45"/>
          <p:cNvSpPr/>
          <p:nvPr/>
        </p:nvSpPr>
        <p:spPr>
          <a:xfrm>
            <a:off x="438912" y="3575304"/>
            <a:ext cx="201168" cy="201168"/>
          </a:xfrm>
          <a:prstGeom prst="ellipse">
            <a:avLst/>
          </a:prstGeom>
          <a:solidFill>
            <a:srgbClr val="065F69"/>
          </a:solidFill>
          <a:ln/>
        </p:spPr>
      </p:sp>
      <p:sp>
        <p:nvSpPr>
          <p:cNvPr id="48" name="Text 46"/>
          <p:cNvSpPr/>
          <p:nvPr/>
        </p:nvSpPr>
        <p:spPr>
          <a:xfrm>
            <a:off x="438912" y="35753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13232" y="3538728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costs = 25-30% of health insurance spending. What % of HR, Finance, IT back-office is still manual — how does that affect MLR targets and member-facing investment?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8092440" y="3584448"/>
            <a:ext cx="731520" cy="182880"/>
          </a:xfrm>
          <a:prstGeom prst="roundRect">
            <a:avLst>
              <a:gd name="adj" fmla="val 15000"/>
            </a:avLst>
          </a:prstGeom>
          <a:solidFill>
            <a:srgbClr val="0A2E20"/>
          </a:solidFill>
          <a:ln/>
        </p:spPr>
      </p:sp>
      <p:sp>
        <p:nvSpPr>
          <p:cNvPr id="51" name="Text 49"/>
          <p:cNvSpPr/>
          <p:nvPr/>
        </p:nvSpPr>
        <p:spPr>
          <a:xfrm>
            <a:off x="8092440" y="3584448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600" dirty="0"/>
          </a:p>
        </p:txBody>
      </p:sp>
      <p:sp>
        <p:nvSpPr>
          <p:cNvPr id="52" name="Text 50"/>
          <p:cNvSpPr/>
          <p:nvPr/>
        </p:nvSpPr>
        <p:spPr>
          <a:xfrm>
            <a:off x="320040" y="3749040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USE CASES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20040" y="4005072"/>
            <a:ext cx="4133088" cy="640080"/>
          </a:xfrm>
          <a:prstGeom prst="roundRect">
            <a:avLst>
              <a:gd name="adj" fmla="val 7143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20040" y="4005072"/>
            <a:ext cx="4133088" cy="3200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55" name="Text 53"/>
          <p:cNvSpPr/>
          <p:nvPr/>
        </p:nvSpPr>
        <p:spPr>
          <a:xfrm>
            <a:off x="429768" y="405993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Auto-Adjudication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429768" y="422452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Genie: intake → eligibility → benefit rules → auto-adjudicate → EOB → payment. Target: 80%+ auto-adj rate. FWA Detection Genie flags anomalous billing.</a:t>
            </a:r>
            <a:endParaRPr lang="en-US" sz="650" dirty="0"/>
          </a:p>
        </p:txBody>
      </p:sp>
      <p:sp>
        <p:nvSpPr>
          <p:cNvPr id="57" name="Shape 55"/>
          <p:cNvSpPr/>
          <p:nvPr/>
        </p:nvSpPr>
        <p:spPr>
          <a:xfrm>
            <a:off x="3447288" y="4462272"/>
            <a:ext cx="868680" cy="146304"/>
          </a:xfrm>
          <a:prstGeom prst="roundRect">
            <a:avLst>
              <a:gd name="adj" fmla="val 18750"/>
            </a:avLst>
          </a:prstGeom>
          <a:solidFill>
            <a:srgbClr val="0A2E20"/>
          </a:solidFill>
          <a:ln/>
        </p:spPr>
      </p:sp>
      <p:sp>
        <p:nvSpPr>
          <p:cNvPr id="58" name="Text 56"/>
          <p:cNvSpPr/>
          <p:nvPr/>
        </p:nvSpPr>
        <p:spPr>
          <a:xfrm>
            <a:off x="3447288" y="446227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 &amp; OrCA</a:t>
            </a:r>
            <a:endParaRPr lang="en-US" sz="550" dirty="0"/>
          </a:p>
        </p:txBody>
      </p:sp>
      <p:sp>
        <p:nvSpPr>
          <p:cNvPr id="59" name="Shape 57"/>
          <p:cNvSpPr/>
          <p:nvPr/>
        </p:nvSpPr>
        <p:spPr>
          <a:xfrm>
            <a:off x="4617720" y="4005072"/>
            <a:ext cx="4133088" cy="640080"/>
          </a:xfrm>
          <a:prstGeom prst="roundRect">
            <a:avLst>
              <a:gd name="adj" fmla="val 7143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4617720" y="4005072"/>
            <a:ext cx="4133088" cy="3200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61" name="Text 59"/>
          <p:cNvSpPr/>
          <p:nvPr/>
        </p:nvSpPr>
        <p:spPr>
          <a:xfrm>
            <a:off x="4727448" y="405993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 &amp; Member Experience</a:t>
            </a:r>
            <a:endParaRPr lang="en-US" sz="800" dirty="0"/>
          </a:p>
        </p:txBody>
      </p:sp>
      <p:sp>
        <p:nvSpPr>
          <p:cNvPr id="62" name="Text 60"/>
          <p:cNvSpPr/>
          <p:nvPr/>
        </p:nvSpPr>
        <p:spPr>
          <a:xfrm>
            <a:off x="4727448" y="422452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 Genie: request → clinical criteria → auto-approve routine / human exception → FHIR status. Support Genie 24/7. CMS FHIR mandate without multi-year program.</a:t>
            </a:r>
            <a:endParaRPr lang="en-US" sz="650" dirty="0"/>
          </a:p>
        </p:txBody>
      </p:sp>
      <p:sp>
        <p:nvSpPr>
          <p:cNvPr id="63" name="Shape 61"/>
          <p:cNvSpPr/>
          <p:nvPr/>
        </p:nvSpPr>
        <p:spPr>
          <a:xfrm>
            <a:off x="7744968" y="4462272"/>
            <a:ext cx="868680" cy="146304"/>
          </a:xfrm>
          <a:prstGeom prst="roundRect">
            <a:avLst>
              <a:gd name="adj" fmla="val 18750"/>
            </a:avLst>
          </a:prstGeom>
          <a:solidFill>
            <a:srgbClr val="2E2A0A"/>
          </a:solidFill>
          <a:ln/>
        </p:spPr>
      </p:sp>
      <p:sp>
        <p:nvSpPr>
          <p:cNvPr id="64" name="Text 62"/>
          <p:cNvSpPr/>
          <p:nvPr/>
        </p:nvSpPr>
        <p:spPr>
          <a:xfrm>
            <a:off x="7744968" y="446227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Reduction</a:t>
            </a:r>
            <a:endParaRPr lang="en-US" sz="550" dirty="0"/>
          </a:p>
        </p:txBody>
      </p:sp>
      <p:sp>
        <p:nvSpPr>
          <p:cNvPr id="65" name="Shape 63"/>
          <p:cNvSpPr/>
          <p:nvPr/>
        </p:nvSpPr>
        <p:spPr>
          <a:xfrm>
            <a:off x="320040" y="4736592"/>
            <a:ext cx="4133088" cy="640080"/>
          </a:xfrm>
          <a:prstGeom prst="roundRect">
            <a:avLst>
              <a:gd name="adj" fmla="val 7143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320040" y="4736592"/>
            <a:ext cx="4133088" cy="32004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7" name="Text 65"/>
          <p:cNvSpPr/>
          <p:nvPr/>
        </p:nvSpPr>
        <p:spPr>
          <a:xfrm>
            <a:off x="429768" y="479145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&amp; Provider Operations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429768" y="495604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Genie: enrollment → load claims + PBM + dental + vision + care mgmt simultaneously. Hours not days. Zero errors. Provider credentialing automation.</a:t>
            </a:r>
            <a:endParaRPr lang="en-US" sz="650" dirty="0"/>
          </a:p>
        </p:txBody>
      </p:sp>
      <p:sp>
        <p:nvSpPr>
          <p:cNvPr id="69" name="Shape 67"/>
          <p:cNvSpPr/>
          <p:nvPr/>
        </p:nvSpPr>
        <p:spPr>
          <a:xfrm>
            <a:off x="3447288" y="5193792"/>
            <a:ext cx="868680" cy="146304"/>
          </a:xfrm>
          <a:prstGeom prst="roundRect">
            <a:avLst>
              <a:gd name="adj" fmla="val 18750"/>
            </a:avLst>
          </a:prstGeom>
          <a:solidFill>
            <a:srgbClr val="0A2E33"/>
          </a:solidFill>
          <a:ln/>
        </p:spPr>
      </p:sp>
      <p:sp>
        <p:nvSpPr>
          <p:cNvPr id="70" name="Text 68"/>
          <p:cNvSpPr/>
          <p:nvPr/>
        </p:nvSpPr>
        <p:spPr>
          <a:xfrm>
            <a:off x="3447288" y="519379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Agility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4617720" y="4736592"/>
            <a:ext cx="4133088" cy="640080"/>
          </a:xfrm>
          <a:prstGeom prst="roundRect">
            <a:avLst>
              <a:gd name="adj" fmla="val 7143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617720" y="4736592"/>
            <a:ext cx="4133088" cy="3200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73" name="Text 71"/>
          <p:cNvSpPr/>
          <p:nvPr/>
        </p:nvSpPr>
        <p:spPr>
          <a:xfrm>
            <a:off x="4727448" y="4791456"/>
            <a:ext cx="3913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 Ratings &amp; HEDIS Care Gaps</a:t>
            </a:r>
            <a:endParaRPr lang="en-US" sz="800" dirty="0"/>
          </a:p>
        </p:txBody>
      </p:sp>
      <p:sp>
        <p:nvSpPr>
          <p:cNvPr id="74" name="Text 72"/>
          <p:cNvSpPr/>
          <p:nvPr/>
        </p:nvSpPr>
        <p:spPr>
          <a:xfrm>
            <a:off x="4727448" y="4956048"/>
            <a:ext cx="39136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5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Gap Genie: real-time claims + FHIR clinical → gap ID → member outreach → provider scheduling. HEDIS reporting automation. 0.5-star = CMS quality bonus.</a:t>
            </a:r>
            <a:endParaRPr lang="en-US" sz="650" dirty="0"/>
          </a:p>
        </p:txBody>
      </p:sp>
      <p:sp>
        <p:nvSpPr>
          <p:cNvPr id="75" name="Shape 73"/>
          <p:cNvSpPr/>
          <p:nvPr/>
        </p:nvSpPr>
        <p:spPr>
          <a:xfrm>
            <a:off x="7744968" y="5193792"/>
            <a:ext cx="868680" cy="146304"/>
          </a:xfrm>
          <a:prstGeom prst="roundRect">
            <a:avLst>
              <a:gd name="adj" fmla="val 18750"/>
            </a:avLst>
          </a:prstGeom>
          <a:solidFill>
            <a:srgbClr val="1E0A3E"/>
          </a:solidFill>
          <a:ln/>
        </p:spPr>
      </p:sp>
      <p:sp>
        <p:nvSpPr>
          <p:cNvPr id="76" name="Text 74"/>
          <p:cNvSpPr/>
          <p:nvPr/>
        </p:nvSpPr>
        <p:spPr>
          <a:xfrm>
            <a:off x="7744968" y="5193792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Growth</a:t>
            </a:r>
            <a:endParaRPr lang="en-US" sz="550" dirty="0"/>
          </a:p>
        </p:txBody>
      </p:sp>
      <p:sp>
        <p:nvSpPr>
          <p:cNvPr id="77" name="Text 75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1 of 2  •  Workato Confidential  •  For Sellers &amp; Partners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11480"/>
          </a:xfrm>
          <a:prstGeom prst="rect">
            <a:avLst/>
          </a:prstGeom>
          <a:solidFill>
            <a:srgbClr val="065F6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4572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Insurance Payers  —  Sales Battlecard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20040" y="50292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PROOF POINTS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840480" y="50292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Salesforce-verified health payer customers</a:t>
            </a:r>
            <a:endParaRPr lang="en-US" sz="700" dirty="0"/>
          </a:p>
        </p:txBody>
      </p:sp>
      <p:sp>
        <p:nvSpPr>
          <p:cNvPr id="6" name="Shape 4"/>
          <p:cNvSpPr/>
          <p:nvPr/>
        </p:nvSpPr>
        <p:spPr>
          <a:xfrm>
            <a:off x="320040" y="749808"/>
            <a:ext cx="4133088" cy="594360"/>
          </a:xfrm>
          <a:prstGeom prst="roundRect">
            <a:avLst>
              <a:gd name="adj" fmla="val 7692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795528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Payer — NYC</a:t>
            </a:r>
            <a:endParaRPr lang="en-US" sz="600" dirty="0"/>
          </a:p>
        </p:txBody>
      </p:sp>
      <p:sp>
        <p:nvSpPr>
          <p:cNvPr id="8" name="Text 6"/>
          <p:cNvSpPr/>
          <p:nvPr/>
        </p:nvSpPr>
        <p:spPr>
          <a:xfrm>
            <a:off x="429768" y="8961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Healthfirst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331720" y="795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9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$733K ARR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29768" y="1069848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575 recipes, 3+ BUs. Acqueon, DynamoDB, Workbot, GitHub CI/CD, Events.</a:t>
            </a:r>
            <a:endParaRPr lang="en-US" sz="600" dirty="0"/>
          </a:p>
        </p:txBody>
      </p:sp>
      <p:sp>
        <p:nvSpPr>
          <p:cNvPr id="11" name="Shape 9"/>
          <p:cNvSpPr/>
          <p:nvPr/>
        </p:nvSpPr>
        <p:spPr>
          <a:xfrm>
            <a:off x="4617720" y="749808"/>
            <a:ext cx="4133088" cy="594360"/>
          </a:xfrm>
          <a:prstGeom prst="roundRect">
            <a:avLst>
              <a:gd name="adj" fmla="val 7692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27448" y="795528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 Insurance</a:t>
            </a:r>
            <a:endParaRPr lang="en-US" sz="600" dirty="0"/>
          </a:p>
        </p:txBody>
      </p:sp>
      <p:sp>
        <p:nvSpPr>
          <p:cNvPr id="13" name="Text 11"/>
          <p:cNvSpPr/>
          <p:nvPr/>
        </p:nvSpPr>
        <p:spPr>
          <a:xfrm>
            <a:off x="4727448" y="89611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Northwestern Mutual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629400" y="795528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9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$101K ARR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27448" y="1069848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Zendesk, ServiceNow, Splunk. Enterprise-wide automation.</a:t>
            </a:r>
            <a:endParaRPr lang="en-US" sz="600" dirty="0"/>
          </a:p>
        </p:txBody>
      </p:sp>
      <p:sp>
        <p:nvSpPr>
          <p:cNvPr id="16" name="Shape 14"/>
          <p:cNvSpPr/>
          <p:nvPr/>
        </p:nvSpPr>
        <p:spPr>
          <a:xfrm>
            <a:off x="320040" y="1417320"/>
            <a:ext cx="4133088" cy="594360"/>
          </a:xfrm>
          <a:prstGeom prst="roundRect">
            <a:avLst>
              <a:gd name="adj" fmla="val 7692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9768" y="1463040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InsurTech AI-Native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429768" y="156362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Lemonade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331720" y="1463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9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227 Recipes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29768" y="173736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$104K ARR. Anthropic Claude + Meraki + Ashby + Brex + Navan.</a:t>
            </a:r>
            <a:endParaRPr lang="en-US" sz="600" dirty="0"/>
          </a:p>
        </p:txBody>
      </p:sp>
      <p:sp>
        <p:nvSpPr>
          <p:cNvPr id="21" name="Shape 19"/>
          <p:cNvSpPr/>
          <p:nvPr/>
        </p:nvSpPr>
        <p:spPr>
          <a:xfrm>
            <a:off x="4617720" y="1417320"/>
            <a:ext cx="4133088" cy="594360"/>
          </a:xfrm>
          <a:prstGeom prst="roundRect">
            <a:avLst>
              <a:gd name="adj" fmla="val 7692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27448" y="1463040"/>
            <a:ext cx="16459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Payer — Digital</a:t>
            </a:r>
            <a:endParaRPr lang="en-US" sz="600" dirty="0"/>
          </a:p>
        </p:txBody>
      </p:sp>
      <p:sp>
        <p:nvSpPr>
          <p:cNvPr id="23" name="Text 21"/>
          <p:cNvSpPr/>
          <p:nvPr/>
        </p:nvSpPr>
        <p:spPr>
          <a:xfrm>
            <a:off x="4727448" y="1563624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Oscar Health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29400" y="1463040"/>
            <a:ext cx="19202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798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Digital-First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727448" y="1737360"/>
            <a:ext cx="39136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6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$92K ARR. Okta, Salesforce, Google Workspace, Workbot.</a:t>
            </a:r>
            <a:endParaRPr lang="en-US" sz="600" dirty="0"/>
          </a:p>
        </p:txBody>
      </p:sp>
      <p:sp>
        <p:nvSpPr>
          <p:cNvPr id="26" name="Shape 24"/>
          <p:cNvSpPr/>
          <p:nvPr/>
        </p:nvSpPr>
        <p:spPr>
          <a:xfrm>
            <a:off x="320040" y="2578608"/>
            <a:ext cx="4133088" cy="2331720"/>
          </a:xfrm>
          <a:prstGeom prst="roundRect">
            <a:avLst>
              <a:gd name="adj" fmla="val 2353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9768" y="26517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 CONNECTORS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429768" y="2871216"/>
            <a:ext cx="758952" cy="164592"/>
          </a:xfrm>
          <a:prstGeom prst="roundRect">
            <a:avLst>
              <a:gd name="adj" fmla="val 16667"/>
            </a:avLst>
          </a:prstGeom>
          <a:solidFill>
            <a:srgbClr val="0D3A3D"/>
          </a:solidFill>
          <a:ln w="5080">
            <a:solidFill>
              <a:srgbClr val="27989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29768" y="2871216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HealthEdge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1243584" y="2871216"/>
            <a:ext cx="1175004" cy="164592"/>
          </a:xfrm>
          <a:prstGeom prst="roundRect">
            <a:avLst>
              <a:gd name="adj" fmla="val 16667"/>
            </a:avLst>
          </a:prstGeom>
          <a:solidFill>
            <a:srgbClr val="0D3A3D"/>
          </a:solidFill>
          <a:ln w="5080">
            <a:solidFill>
              <a:srgbClr val="27989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43584" y="2871216"/>
            <a:ext cx="11750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FACETS / TriZetto</a:t>
            </a:r>
            <a:endParaRPr lang="en-US" sz="600" dirty="0"/>
          </a:p>
        </p:txBody>
      </p:sp>
      <p:sp>
        <p:nvSpPr>
          <p:cNvPr id="32" name="Shape 30"/>
          <p:cNvSpPr/>
          <p:nvPr/>
        </p:nvSpPr>
        <p:spPr>
          <a:xfrm>
            <a:off x="2473452" y="2871216"/>
            <a:ext cx="402336" cy="164592"/>
          </a:xfrm>
          <a:prstGeom prst="roundRect">
            <a:avLst>
              <a:gd name="adj" fmla="val 16667"/>
            </a:avLst>
          </a:prstGeom>
          <a:solidFill>
            <a:srgbClr val="0D3A3D"/>
          </a:solidFill>
          <a:ln w="5080">
            <a:solidFill>
              <a:srgbClr val="27989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73452" y="2871216"/>
            <a:ext cx="40233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QNXT</a:t>
            </a:r>
            <a:endParaRPr lang="en-US" sz="600" dirty="0"/>
          </a:p>
        </p:txBody>
      </p:sp>
      <p:sp>
        <p:nvSpPr>
          <p:cNvPr id="34" name="Shape 32"/>
          <p:cNvSpPr/>
          <p:nvPr/>
        </p:nvSpPr>
        <p:spPr>
          <a:xfrm>
            <a:off x="2930652" y="2871216"/>
            <a:ext cx="640080" cy="164592"/>
          </a:xfrm>
          <a:prstGeom prst="roundRect">
            <a:avLst>
              <a:gd name="adj" fmla="val 16667"/>
            </a:avLst>
          </a:prstGeom>
          <a:solidFill>
            <a:srgbClr val="0D3A3D"/>
          </a:solidFill>
          <a:ln w="5080">
            <a:solidFill>
              <a:srgbClr val="27989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930652" y="2871216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Availity</a:t>
            </a:r>
            <a:endParaRPr lang="en-US" sz="600" dirty="0"/>
          </a:p>
        </p:txBody>
      </p:sp>
      <p:sp>
        <p:nvSpPr>
          <p:cNvPr id="36" name="Shape 34"/>
          <p:cNvSpPr/>
          <p:nvPr/>
        </p:nvSpPr>
        <p:spPr>
          <a:xfrm>
            <a:off x="429768" y="3090672"/>
            <a:ext cx="1175004" cy="164592"/>
          </a:xfrm>
          <a:prstGeom prst="roundRect">
            <a:avLst>
              <a:gd name="adj" fmla="val 16667"/>
            </a:avLst>
          </a:prstGeom>
          <a:solidFill>
            <a:srgbClr val="0D3A3D"/>
          </a:solidFill>
          <a:ln w="5080">
            <a:solidFill>
              <a:srgbClr val="27989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9768" y="3090672"/>
            <a:ext cx="117500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Healthcare</a:t>
            </a:r>
            <a:endParaRPr lang="en-US" sz="600" dirty="0"/>
          </a:p>
        </p:txBody>
      </p:sp>
      <p:sp>
        <p:nvSpPr>
          <p:cNvPr id="38" name="Shape 36"/>
          <p:cNvSpPr/>
          <p:nvPr/>
        </p:nvSpPr>
        <p:spPr>
          <a:xfrm>
            <a:off x="1659636" y="3090672"/>
            <a:ext cx="1531620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659636" y="3090672"/>
            <a:ext cx="15316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Salesforce Health Cloud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3246120" y="3090672"/>
            <a:ext cx="580644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246120" y="3090672"/>
            <a:ext cx="580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Workday</a:t>
            </a:r>
            <a:endParaRPr lang="en-US" sz="600" dirty="0"/>
          </a:p>
        </p:txBody>
      </p:sp>
      <p:sp>
        <p:nvSpPr>
          <p:cNvPr id="42" name="Shape 40"/>
          <p:cNvSpPr/>
          <p:nvPr/>
        </p:nvSpPr>
        <p:spPr>
          <a:xfrm>
            <a:off x="429768" y="3310128"/>
            <a:ext cx="521208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29768" y="3310128"/>
            <a:ext cx="5212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</a:t>
            </a:r>
            <a:endParaRPr lang="en-US" sz="600" dirty="0"/>
          </a:p>
        </p:txBody>
      </p:sp>
      <p:sp>
        <p:nvSpPr>
          <p:cNvPr id="44" name="Shape 42"/>
          <p:cNvSpPr/>
          <p:nvPr/>
        </p:nvSpPr>
        <p:spPr>
          <a:xfrm>
            <a:off x="1005840" y="3310128"/>
            <a:ext cx="342900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05840" y="3310128"/>
            <a:ext cx="3429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SAP</a:t>
            </a:r>
            <a:endParaRPr lang="en-US" sz="600" dirty="0"/>
          </a:p>
        </p:txBody>
      </p:sp>
      <p:sp>
        <p:nvSpPr>
          <p:cNvPr id="46" name="Shape 44"/>
          <p:cNvSpPr/>
          <p:nvPr/>
        </p:nvSpPr>
        <p:spPr>
          <a:xfrm>
            <a:off x="1403604" y="3310128"/>
            <a:ext cx="699516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403604" y="3310128"/>
            <a:ext cx="699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Snowflake</a:t>
            </a:r>
            <a:endParaRPr lang="en-US" sz="600" dirty="0"/>
          </a:p>
        </p:txBody>
      </p:sp>
      <p:sp>
        <p:nvSpPr>
          <p:cNvPr id="48" name="Shape 46"/>
          <p:cNvSpPr/>
          <p:nvPr/>
        </p:nvSpPr>
        <p:spPr>
          <a:xfrm>
            <a:off x="2157984" y="3310128"/>
            <a:ext cx="996696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157984" y="3310128"/>
            <a:ext cx="9966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Epic (FHIR R4)</a:t>
            </a:r>
            <a:endParaRPr lang="en-US" sz="600" dirty="0"/>
          </a:p>
        </p:txBody>
      </p:sp>
      <p:sp>
        <p:nvSpPr>
          <p:cNvPr id="50" name="Shape 48"/>
          <p:cNvSpPr/>
          <p:nvPr/>
        </p:nvSpPr>
        <p:spPr>
          <a:xfrm>
            <a:off x="429768" y="3529584"/>
            <a:ext cx="1353312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9768" y="3529584"/>
            <a:ext cx="13533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Cerner/Oracle Health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1837944" y="3529584"/>
            <a:ext cx="580644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837944" y="3529584"/>
            <a:ext cx="58064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Acqueon</a:t>
            </a:r>
            <a:endParaRPr lang="en-US" sz="600" dirty="0"/>
          </a:p>
        </p:txBody>
      </p:sp>
      <p:sp>
        <p:nvSpPr>
          <p:cNvPr id="54" name="Shape 52"/>
          <p:cNvSpPr/>
          <p:nvPr/>
        </p:nvSpPr>
        <p:spPr>
          <a:xfrm>
            <a:off x="2473452" y="3529584"/>
            <a:ext cx="1056132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2473452" y="3529584"/>
            <a:ext cx="10561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 Scripts</a:t>
            </a:r>
            <a:endParaRPr lang="en-US" sz="600" dirty="0"/>
          </a:p>
        </p:txBody>
      </p:sp>
      <p:sp>
        <p:nvSpPr>
          <p:cNvPr id="56" name="Shape 54"/>
          <p:cNvSpPr/>
          <p:nvPr/>
        </p:nvSpPr>
        <p:spPr>
          <a:xfrm>
            <a:off x="3584448" y="3529584"/>
            <a:ext cx="640080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84448" y="3529584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Cotiviti</a:t>
            </a:r>
            <a:endParaRPr lang="en-US" sz="600" dirty="0"/>
          </a:p>
        </p:txBody>
      </p:sp>
      <p:sp>
        <p:nvSpPr>
          <p:cNvPr id="58" name="Shape 56"/>
          <p:cNvSpPr/>
          <p:nvPr/>
        </p:nvSpPr>
        <p:spPr>
          <a:xfrm>
            <a:off x="429768" y="3749040"/>
            <a:ext cx="877824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29768" y="3749040"/>
            <a:ext cx="8778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CAQH ProView</a:t>
            </a:r>
            <a:endParaRPr lang="en-US" sz="600" dirty="0"/>
          </a:p>
        </p:txBody>
      </p:sp>
      <p:sp>
        <p:nvSpPr>
          <p:cNvPr id="60" name="Shape 58"/>
          <p:cNvSpPr/>
          <p:nvPr/>
        </p:nvSpPr>
        <p:spPr>
          <a:xfrm>
            <a:off x="1362456" y="3749040"/>
            <a:ext cx="640080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362456" y="37490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Inovalon</a:t>
            </a:r>
            <a:endParaRPr lang="en-US" sz="600" dirty="0"/>
          </a:p>
        </p:txBody>
      </p:sp>
      <p:sp>
        <p:nvSpPr>
          <p:cNvPr id="62" name="Shape 60"/>
          <p:cNvSpPr/>
          <p:nvPr/>
        </p:nvSpPr>
        <p:spPr>
          <a:xfrm>
            <a:off x="2057400" y="3749040"/>
            <a:ext cx="1056132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057400" y="3749040"/>
            <a:ext cx="10561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 Catalyst</a:t>
            </a:r>
            <a:endParaRPr lang="en-US" sz="600" dirty="0"/>
          </a:p>
        </p:txBody>
      </p:sp>
      <p:sp>
        <p:nvSpPr>
          <p:cNvPr id="64" name="Shape 62"/>
          <p:cNvSpPr/>
          <p:nvPr/>
        </p:nvSpPr>
        <p:spPr>
          <a:xfrm>
            <a:off x="3168396" y="3749040"/>
            <a:ext cx="640080" cy="164592"/>
          </a:xfrm>
          <a:prstGeom prst="roundRect">
            <a:avLst>
              <a:gd name="adj" fmla="val 16667"/>
            </a:avLst>
          </a:prstGeom>
          <a:solidFill>
            <a:srgbClr val="1A4A4D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3168396" y="3749040"/>
            <a:ext cx="640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600" dirty="0"/>
          </a:p>
        </p:txBody>
      </p:sp>
      <p:sp>
        <p:nvSpPr>
          <p:cNvPr id="66" name="Text 64"/>
          <p:cNvSpPr/>
          <p:nvPr/>
        </p:nvSpPr>
        <p:spPr>
          <a:xfrm>
            <a:off x="429768" y="4087368"/>
            <a:ext cx="1828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WORKATO GENIES</a:t>
            </a:r>
            <a:endParaRPr lang="en-US" sz="700" dirty="0"/>
          </a:p>
        </p:txBody>
      </p:sp>
      <p:sp>
        <p:nvSpPr>
          <p:cNvPr id="67" name="Shape 65"/>
          <p:cNvSpPr/>
          <p:nvPr/>
        </p:nvSpPr>
        <p:spPr>
          <a:xfrm>
            <a:off x="429768" y="4270248"/>
            <a:ext cx="1472184" cy="155448"/>
          </a:xfrm>
          <a:prstGeom prst="roundRect">
            <a:avLst>
              <a:gd name="adj" fmla="val 17647"/>
            </a:avLst>
          </a:prstGeom>
          <a:solidFill>
            <a:srgbClr val="1E0A3E"/>
          </a:solidFill>
          <a:ln/>
        </p:spPr>
      </p:sp>
      <p:sp>
        <p:nvSpPr>
          <p:cNvPr id="68" name="Text 66"/>
          <p:cNvSpPr/>
          <p:nvPr/>
        </p:nvSpPr>
        <p:spPr>
          <a:xfrm>
            <a:off x="429768" y="4270248"/>
            <a:ext cx="147218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Adjudication Genie</a:t>
            </a:r>
            <a:endParaRPr lang="en-US" sz="550" dirty="0"/>
          </a:p>
        </p:txBody>
      </p:sp>
      <p:sp>
        <p:nvSpPr>
          <p:cNvPr id="69" name="Shape 67"/>
          <p:cNvSpPr/>
          <p:nvPr/>
        </p:nvSpPr>
        <p:spPr>
          <a:xfrm>
            <a:off x="1947672" y="4270248"/>
            <a:ext cx="1153973" cy="155448"/>
          </a:xfrm>
          <a:prstGeom prst="roundRect">
            <a:avLst>
              <a:gd name="adj" fmla="val 17647"/>
            </a:avLst>
          </a:prstGeom>
          <a:solidFill>
            <a:srgbClr val="1E0A3E"/>
          </a:solidFill>
          <a:ln/>
        </p:spPr>
      </p:sp>
      <p:sp>
        <p:nvSpPr>
          <p:cNvPr id="70" name="Text 68"/>
          <p:cNvSpPr/>
          <p:nvPr/>
        </p:nvSpPr>
        <p:spPr>
          <a:xfrm>
            <a:off x="1947672" y="4270248"/>
            <a:ext cx="115397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FWA Detection Genie</a:t>
            </a:r>
            <a:endParaRPr lang="en-US" sz="550" dirty="0"/>
          </a:p>
        </p:txBody>
      </p:sp>
      <p:sp>
        <p:nvSpPr>
          <p:cNvPr id="71" name="Shape 69"/>
          <p:cNvSpPr/>
          <p:nvPr/>
        </p:nvSpPr>
        <p:spPr>
          <a:xfrm>
            <a:off x="3147365" y="4270248"/>
            <a:ext cx="994867" cy="155448"/>
          </a:xfrm>
          <a:prstGeom prst="roundRect">
            <a:avLst>
              <a:gd name="adj" fmla="val 17647"/>
            </a:avLst>
          </a:prstGeom>
          <a:solidFill>
            <a:srgbClr val="1E0A3E"/>
          </a:solidFill>
          <a:ln/>
        </p:spPr>
      </p:sp>
      <p:sp>
        <p:nvSpPr>
          <p:cNvPr id="72" name="Text 70"/>
          <p:cNvSpPr/>
          <p:nvPr/>
        </p:nvSpPr>
        <p:spPr>
          <a:xfrm>
            <a:off x="3147365" y="4270248"/>
            <a:ext cx="99486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 Auth Genie</a:t>
            </a:r>
            <a:endParaRPr lang="en-US" sz="550" dirty="0"/>
          </a:p>
        </p:txBody>
      </p:sp>
      <p:sp>
        <p:nvSpPr>
          <p:cNvPr id="73" name="Shape 71"/>
          <p:cNvSpPr/>
          <p:nvPr/>
        </p:nvSpPr>
        <p:spPr>
          <a:xfrm>
            <a:off x="429768" y="4471416"/>
            <a:ext cx="835762" cy="155448"/>
          </a:xfrm>
          <a:prstGeom prst="roundRect">
            <a:avLst>
              <a:gd name="adj" fmla="val 17647"/>
            </a:avLst>
          </a:prstGeom>
          <a:solidFill>
            <a:srgbClr val="1E0A3E"/>
          </a:solidFill>
          <a:ln/>
        </p:spPr>
      </p:sp>
      <p:sp>
        <p:nvSpPr>
          <p:cNvPr id="74" name="Text 72"/>
          <p:cNvSpPr/>
          <p:nvPr/>
        </p:nvSpPr>
        <p:spPr>
          <a:xfrm>
            <a:off x="429768" y="4471416"/>
            <a:ext cx="83576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Genie</a:t>
            </a:r>
            <a:endParaRPr lang="en-US" sz="550" dirty="0"/>
          </a:p>
        </p:txBody>
      </p:sp>
      <p:sp>
        <p:nvSpPr>
          <p:cNvPr id="75" name="Shape 73"/>
          <p:cNvSpPr/>
          <p:nvPr/>
        </p:nvSpPr>
        <p:spPr>
          <a:xfrm>
            <a:off x="1311250" y="4471416"/>
            <a:ext cx="1047902" cy="155448"/>
          </a:xfrm>
          <a:prstGeom prst="roundRect">
            <a:avLst>
              <a:gd name="adj" fmla="val 17647"/>
            </a:avLst>
          </a:prstGeom>
          <a:solidFill>
            <a:srgbClr val="1E0A3E"/>
          </a:solidFill>
          <a:ln/>
        </p:spPr>
      </p:sp>
      <p:sp>
        <p:nvSpPr>
          <p:cNvPr id="76" name="Text 74"/>
          <p:cNvSpPr/>
          <p:nvPr/>
        </p:nvSpPr>
        <p:spPr>
          <a:xfrm>
            <a:off x="1311250" y="4471416"/>
            <a:ext cx="1047902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Genie</a:t>
            </a:r>
            <a:endParaRPr lang="en-US" sz="550" dirty="0"/>
          </a:p>
        </p:txBody>
      </p:sp>
      <p:sp>
        <p:nvSpPr>
          <p:cNvPr id="77" name="Shape 75"/>
          <p:cNvSpPr/>
          <p:nvPr/>
        </p:nvSpPr>
        <p:spPr>
          <a:xfrm>
            <a:off x="2404872" y="4471416"/>
            <a:ext cx="888797" cy="155448"/>
          </a:xfrm>
          <a:prstGeom prst="roundRect">
            <a:avLst>
              <a:gd name="adj" fmla="val 17647"/>
            </a:avLst>
          </a:prstGeom>
          <a:solidFill>
            <a:srgbClr val="1E0A3E"/>
          </a:solidFill>
          <a:ln/>
        </p:spPr>
      </p:sp>
      <p:sp>
        <p:nvSpPr>
          <p:cNvPr id="78" name="Text 76"/>
          <p:cNvSpPr/>
          <p:nvPr/>
        </p:nvSpPr>
        <p:spPr>
          <a:xfrm>
            <a:off x="2404872" y="4471416"/>
            <a:ext cx="888797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 Gap Genie</a:t>
            </a:r>
            <a:endParaRPr lang="en-US" sz="550" dirty="0"/>
          </a:p>
        </p:txBody>
      </p:sp>
      <p:sp>
        <p:nvSpPr>
          <p:cNvPr id="79" name="Shape 77"/>
          <p:cNvSpPr/>
          <p:nvPr/>
        </p:nvSpPr>
        <p:spPr>
          <a:xfrm>
            <a:off x="429768" y="4672584"/>
            <a:ext cx="1260043" cy="155448"/>
          </a:xfrm>
          <a:prstGeom prst="roundRect">
            <a:avLst>
              <a:gd name="adj" fmla="val 17647"/>
            </a:avLst>
          </a:prstGeom>
          <a:solidFill>
            <a:srgbClr val="1E0A3E"/>
          </a:solidFill>
          <a:ln/>
        </p:spPr>
      </p:sp>
      <p:sp>
        <p:nvSpPr>
          <p:cNvPr id="80" name="Text 78"/>
          <p:cNvSpPr/>
          <p:nvPr/>
        </p:nvSpPr>
        <p:spPr>
          <a:xfrm>
            <a:off x="429768" y="4672584"/>
            <a:ext cx="1260043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HEDIS Reporting Genie</a:t>
            </a:r>
            <a:endParaRPr lang="en-US" sz="550" dirty="0"/>
          </a:p>
        </p:txBody>
      </p:sp>
      <p:sp>
        <p:nvSpPr>
          <p:cNvPr id="81" name="Text 79"/>
          <p:cNvSpPr/>
          <p:nvPr/>
        </p:nvSpPr>
        <p:spPr>
          <a:xfrm>
            <a:off x="429768" y="4544568"/>
            <a:ext cx="1828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FEATURED PARTNER</a:t>
            </a:r>
            <a:endParaRPr lang="en-US" sz="600" dirty="0"/>
          </a:p>
        </p:txBody>
      </p:sp>
      <p:sp>
        <p:nvSpPr>
          <p:cNvPr id="82" name="Text 80"/>
          <p:cNvSpPr/>
          <p:nvPr/>
        </p:nvSpPr>
        <p:spPr>
          <a:xfrm>
            <a:off x="429768" y="4663440"/>
            <a:ext cx="3657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Healthcare payer specialist SIs + FHIR connectivity partners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4736592" y="2578608"/>
            <a:ext cx="4133088" cy="2331720"/>
          </a:xfrm>
          <a:prstGeom prst="roundRect">
            <a:avLst>
              <a:gd name="adj" fmla="val 2353"/>
            </a:avLst>
          </a:prstGeom>
          <a:solidFill>
            <a:srgbClr val="0B2D2F"/>
          </a:solidFill>
          <a:ln w="6350">
            <a:solidFill>
              <a:srgbClr val="1A5A5E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4846320" y="265176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DEFENSIBLE DIFFERENTIATORS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7662672" y="2651760"/>
            <a:ext cx="10972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 • POWER • SCALE</a:t>
            </a:r>
            <a:endParaRPr lang="en-US" sz="600" dirty="0"/>
          </a:p>
        </p:txBody>
      </p:sp>
      <p:sp>
        <p:nvSpPr>
          <p:cNvPr id="86" name="Shape 84"/>
          <p:cNvSpPr/>
          <p:nvPr/>
        </p:nvSpPr>
        <p:spPr>
          <a:xfrm>
            <a:off x="4846320" y="2871216"/>
            <a:ext cx="1252728" cy="777240"/>
          </a:xfrm>
          <a:prstGeom prst="roundRect">
            <a:avLst>
              <a:gd name="adj" fmla="val 4706"/>
            </a:avLst>
          </a:prstGeom>
          <a:solidFill>
            <a:srgbClr val="061E20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4846320" y="2916936"/>
            <a:ext cx="1252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SPEED</a:t>
            </a:r>
            <a:endParaRPr lang="en-US" sz="800" dirty="0"/>
          </a:p>
        </p:txBody>
      </p:sp>
      <p:sp>
        <p:nvSpPr>
          <p:cNvPr id="88" name="Text 86"/>
          <p:cNvSpPr/>
          <p:nvPr/>
        </p:nvSpPr>
        <p:spPr>
          <a:xfrm>
            <a:off x="4901184" y="3072384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HealthEdge, FACETS, QNXT connectors. FHIR R4 connectivity. Pre-built clinical integrations.</a:t>
            </a:r>
            <a:endParaRPr lang="en-US" sz="600" dirty="0"/>
          </a:p>
        </p:txBody>
      </p:sp>
      <p:sp>
        <p:nvSpPr>
          <p:cNvPr id="89" name="Shape 87"/>
          <p:cNvSpPr/>
          <p:nvPr/>
        </p:nvSpPr>
        <p:spPr>
          <a:xfrm>
            <a:off x="6172200" y="2871216"/>
            <a:ext cx="1252728" cy="777240"/>
          </a:xfrm>
          <a:prstGeom prst="roundRect">
            <a:avLst>
              <a:gd name="adj" fmla="val 4706"/>
            </a:avLst>
          </a:prstGeom>
          <a:solidFill>
            <a:srgbClr val="061E20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172200" y="2916936"/>
            <a:ext cx="1252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6227064" y="3072384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MCP + HIPAA BAA. Human-in-the-loop for PA/claims. Zero downtime during open enrollment.</a:t>
            </a:r>
            <a:endParaRPr lang="en-US" sz="600" dirty="0"/>
          </a:p>
        </p:txBody>
      </p:sp>
      <p:sp>
        <p:nvSpPr>
          <p:cNvPr id="92" name="Shape 90"/>
          <p:cNvSpPr/>
          <p:nvPr/>
        </p:nvSpPr>
        <p:spPr>
          <a:xfrm>
            <a:off x="7498080" y="2871216"/>
            <a:ext cx="1252728" cy="777240"/>
          </a:xfrm>
          <a:prstGeom prst="roundRect">
            <a:avLst>
              <a:gd name="adj" fmla="val 4706"/>
            </a:avLst>
          </a:prstGeom>
          <a:solidFill>
            <a:srgbClr val="061E20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7498080" y="2916936"/>
            <a:ext cx="125272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F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800" dirty="0"/>
          </a:p>
        </p:txBody>
      </p:sp>
      <p:sp>
        <p:nvSpPr>
          <p:cNvPr id="94" name="Text 92"/>
          <p:cNvSpPr/>
          <p:nvPr/>
        </p:nvSpPr>
        <p:spPr>
          <a:xfrm>
            <a:off x="7552944" y="3072384"/>
            <a:ext cx="1143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OrCA auto-scales 10-50x for open enrollment. No capacity planning. SOC 2. FHIR mandate compliance.</a:t>
            </a:r>
            <a:endParaRPr lang="en-US" sz="600" dirty="0"/>
          </a:p>
        </p:txBody>
      </p:sp>
      <p:sp>
        <p:nvSpPr>
          <p:cNvPr id="95" name="Shape 93"/>
          <p:cNvSpPr/>
          <p:nvPr/>
        </p:nvSpPr>
        <p:spPr>
          <a:xfrm>
            <a:off x="4846320" y="3749040"/>
            <a:ext cx="3913632" cy="411480"/>
          </a:xfrm>
          <a:prstGeom prst="roundRect">
            <a:avLst>
              <a:gd name="adj" fmla="val 8889"/>
            </a:avLst>
          </a:prstGeom>
          <a:solidFill>
            <a:srgbClr val="061E20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937760" y="3785616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GSI PARTNERS</a:t>
            </a:r>
            <a:endParaRPr lang="en-US" sz="600" dirty="0"/>
          </a:p>
        </p:txBody>
      </p:sp>
      <p:sp>
        <p:nvSpPr>
          <p:cNvPr id="97" name="Text 95"/>
          <p:cNvSpPr/>
          <p:nvPr/>
        </p:nvSpPr>
        <p:spPr>
          <a:xfrm>
            <a:off x="4937760" y="3913632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  •  Deloitte  •  PwC  •  Capgemini</a:t>
            </a:r>
            <a:endParaRPr lang="en-US" sz="700" dirty="0"/>
          </a:p>
        </p:txBody>
      </p:sp>
      <p:sp>
        <p:nvSpPr>
          <p:cNvPr id="98" name="Text 96"/>
          <p:cNvSpPr/>
          <p:nvPr/>
        </p:nvSpPr>
        <p:spPr>
          <a:xfrm>
            <a:off x="4937760" y="4041648"/>
            <a:ext cx="36576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Regional SIs: healthcare payer technology specialists</a:t>
            </a:r>
            <a:endParaRPr lang="en-US" sz="550" dirty="0"/>
          </a:p>
        </p:txBody>
      </p:sp>
      <p:sp>
        <p:nvSpPr>
          <p:cNvPr id="99" name="Shape 97"/>
          <p:cNvSpPr/>
          <p:nvPr/>
        </p:nvSpPr>
        <p:spPr>
          <a:xfrm>
            <a:off x="4846320" y="4224528"/>
            <a:ext cx="3913632" cy="320040"/>
          </a:xfrm>
          <a:prstGeom prst="roundRect">
            <a:avLst>
              <a:gd name="adj" fmla="val 11429"/>
            </a:avLst>
          </a:prstGeom>
          <a:solidFill>
            <a:srgbClr val="061E20"/>
          </a:solidFill>
          <a:ln w="5080">
            <a:solidFill>
              <a:srgbClr val="1A5A5E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4937760" y="4261104"/>
            <a:ext cx="1371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" b="1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COMPETITORS</a:t>
            </a:r>
            <a:endParaRPr lang="en-US" sz="600" dirty="0"/>
          </a:p>
        </p:txBody>
      </p:sp>
      <p:sp>
        <p:nvSpPr>
          <p:cNvPr id="101" name="Text 99"/>
          <p:cNvSpPr/>
          <p:nvPr/>
        </p:nvSpPr>
        <p:spPr>
          <a:xfrm>
            <a:off x="4937760" y="4379976"/>
            <a:ext cx="3657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4D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UiPath (RPA)  •  Pega (BPM)  •  MuleSoft  •  ServiceNow</a:t>
            </a:r>
            <a:endParaRPr lang="en-US" sz="700" dirty="0"/>
          </a:p>
        </p:txBody>
      </p:sp>
      <p:sp>
        <p:nvSpPr>
          <p:cNvPr id="102" name="Text 100"/>
          <p:cNvSpPr/>
          <p:nvPr/>
        </p:nvSpPr>
        <p:spPr>
          <a:xfrm>
            <a:off x="0" y="4892040"/>
            <a:ext cx="9144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8A9A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2 of 2  •  Workato Confidential  •  For Sellers &amp; Partners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 Insurance Payers — Sales Battlecard</dc:title>
  <dc:subject>PptxGenJS Presentation</dc:subject>
  <dc:creator>Workato PMM</dc:creator>
  <cp:lastModifiedBy>Workato PMM</cp:lastModifiedBy>
  <cp:revision>1</cp:revision>
  <dcterms:created xsi:type="dcterms:W3CDTF">2026-02-19T22:41:25Z</dcterms:created>
  <dcterms:modified xsi:type="dcterms:W3CDTF">2026-02-19T22:41:25Z</dcterms:modified>
</cp:coreProperties>
</file>