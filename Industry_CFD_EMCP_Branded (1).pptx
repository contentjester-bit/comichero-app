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+ Hook
Customize: Add partner logo (if GSI co-sell), adjust industry vertical name and tagline.
Script: "Thanks for the time today. I want to share how leading banks are using automation to transform loan processing, compliance, and customer experience..."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vertical segment messaging. Replace logos with approved customer logos for the subvertical.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 with Value drivers of WSS.
Discover time - what are you needing to solve?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industry-specific ecosystem diagram showing key vendors, systems, and data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Workato fits into the banking/industry ecosystem.
Connectors - Orchestration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to each of the customer reference packages.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Workato ONE—Orchestration for the Agentic Era—Powered by the #1 iPaaS.
Unlike solutions that give you pieces of the puzzle, Workato ONE delivers the complete agentic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LIGHT_TEAL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DARK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EAL_CLOSING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E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/logo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1097280" cy="320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/logo_r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1097280" cy="320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EAL_BA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/teal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3152"/>
          </a:xfrm>
          <a:prstGeom prst="rect">
            <a:avLst/>
          </a:prstGeom>
        </p:spPr>
      </p:pic>
      <p:pic>
        <p:nvPicPr>
          <p:cNvPr id="3" name="Image 1" descr="/home/claude/bg/logo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17720"/>
            <a:ext cx="1097280" cy="320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L_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/icon_r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4805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65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'Lighting up AI'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Banks and Credit Union customers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for the Agentic Era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926080" cy="4572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main penthouse message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work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365760"/>
            <a:ext cx="0" cy="4389120"/>
          </a:xfrm>
          <a:prstGeom prst="line">
            <a:avLst/>
          </a:prstGeom>
          <a:noFill/>
          <a:ln w="25400">
            <a:solidFill>
              <a:srgbClr val="2798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65760"/>
            <a:ext cx="4754880" cy="4572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logos of approved customer logo usage in subvertical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331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331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 - top level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54864" cy="29260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Value drivers, align to WSS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109728" cy="109728"/>
          </a:xfrm>
          <a:prstGeom prst="ellipse">
            <a:avLst/>
          </a:prstGeom>
          <a:solidFill>
            <a:srgbClr val="3BF7E5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109728" cy="109728"/>
          </a:xfrm>
          <a:prstGeom prst="ellipse">
            <a:avLst/>
          </a:prstGeom>
          <a:solidFill>
            <a:srgbClr val="3BF7E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291840"/>
            <a:ext cx="109728" cy="109728"/>
          </a:xfrm>
          <a:prstGeom prst="ellipse">
            <a:avLst/>
          </a:prstGeom>
          <a:solidFill>
            <a:srgbClr val="3BF7E5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3794760"/>
            <a:ext cx="109728" cy="109728"/>
          </a:xfrm>
          <a:prstGeom prst="ellipse">
            <a:avLst/>
          </a:prstGeom>
          <a:solidFill>
            <a:srgbClr val="3BF7E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2743200" cy="274320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3BF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scary stat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 nothing.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to be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substantiated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'Industry Vertical' Ecosystem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474720"/>
          </a:xfrm>
          <a:prstGeom prst="roundRect">
            <a:avLst>
              <a:gd name="adj" fmla="val 394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[Industry-specific ecosystem diagram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vendor logos and integration points]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Workato connects the ecosystem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6400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pre-built connectors to core banking, CRM, and industry apps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51760" cy="6400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Templates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Skills for governed AI agent 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Templates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agents for business teams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5029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#1 - Title of use 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use case #1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5029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188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#2 - Title of use case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3840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83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use case #2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840480" cy="5029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#3 - Title of use case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11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use case #3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3840480" cy="5029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#4 - Title of use case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611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use case #4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#1 -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ROI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specific to any customers)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/ Ecosystem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 WSS aligned)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( WSS aligned)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416052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#2 -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ROI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specific to any customers)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/ Ecosystem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 WSS aligned)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( WSS aligned)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416052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#3 -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ROI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specific to any customers)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/ Ecosystem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 WSS aligned)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( WSS aligned)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416052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#4 -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ROI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specific to any customers)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/ Ecosystem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 WSS aligned)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88036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( WSS aligned)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416052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value for customers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4114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(s)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ROI/Value Stats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products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4114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two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(s)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ROI/Value Stats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products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41148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three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(s)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ROI/Value Stats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products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quote?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for the Agentic Era—Powered by the #1 iPaaS.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3291840"/>
          </a:xfrm>
          <a:prstGeom prst="roundRect">
            <a:avLst>
              <a:gd name="adj" fmla="val 3333"/>
            </a:avLst>
          </a:prstGeom>
          <a:solidFill>
            <a:srgbClr val="DDFFFC"/>
          </a:solidFill>
          <a:ln w="12700">
            <a:solidFill>
              <a:srgbClr val="5CE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O R K A T O   E N T E R P R I S E   M C 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(AIRO™)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(Acumen)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SKILLS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691640"/>
            <a:ext cx="46634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109728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Builder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0" y="2011680"/>
            <a:ext cx="109728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Composition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109728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109728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Proxy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2377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2697480"/>
            <a:ext cx="2331720" cy="2743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2697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2697480"/>
            <a:ext cx="2331720" cy="2743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97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Integration &amp; B2B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017520"/>
            <a:ext cx="2331720" cy="2743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3017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Orchestration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3017520"/>
            <a:ext cx="2331720" cy="274320"/>
          </a:xfrm>
          <a:prstGeom prst="rect">
            <a:avLst/>
          </a:prstGeom>
          <a:solidFill>
            <a:srgbClr val="3BF7E5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017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33375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iPaaS+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1371600"/>
            <a:ext cx="1188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1737360"/>
            <a:ext cx="10058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7373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89520" y="2084832"/>
            <a:ext cx="10058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2084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89520" y="2432304"/>
            <a:ext cx="10058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4323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89520" y="2779776"/>
            <a:ext cx="10058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779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589520" y="3127248"/>
            <a:ext cx="10058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127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16052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CONNECTIVITY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SaaS/On-prem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87452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9184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0916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2648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43800" y="4434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in iPaaS platform &amp; orchestration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iPaaS : Leader - 7x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[Gartner iPaaS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Quadrant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Gartner B.O.A.T.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9319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286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[Gartner BOAT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Quadrant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2025]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CFD Template - EMCP Branded</dc:title>
  <dc:subject>PptxGenJS Presentation</dc:subject>
  <dc:creator>Workato</dc:creator>
  <cp:lastModifiedBy>Workato</cp:lastModifiedBy>
  <cp:revision>1</cp:revision>
  <dcterms:created xsi:type="dcterms:W3CDTF">2026-02-21T01:21:13Z</dcterms:created>
  <dcterms:modified xsi:type="dcterms:W3CDTF">2026-02-21T01:21:13Z</dcterms:modified>
</cp:coreProperties>
</file>