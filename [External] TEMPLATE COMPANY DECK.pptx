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30">
          <p15:clr>
            <a:srgbClr val="9AA0A6"/>
          </p15:clr>
        </p15:guide>
        <p15:guide id="4" orient="horz" pos="471">
          <p15:clr>
            <a:srgbClr val="9AA0A6"/>
          </p15:clr>
        </p15:guide>
        <p15:guide id="5" orient="horz" pos="67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30"/>
        <p:guide pos="471" orient="horz"/>
        <p:guide pos="67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a3045a12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a3045a12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a3045a12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a3045a12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a3045a12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a3045a12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a3045a12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a3045a12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a3045a12c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a3045a12c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a3045a12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a3045a12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a3045a12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a3045a12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8802892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8802892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a3045a12c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a3045a12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a3045a12c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a3045a12c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3781a335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3781a335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9a3045a12c_1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9a3045a12c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C1B1B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53325" y="2864600"/>
            <a:ext cx="8520600" cy="74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300"/>
              <a:buFont typeface="Poppins"/>
              <a:buNone/>
              <a:defRPr sz="43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3527900"/>
            <a:ext cx="8520600" cy="79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56450" y="1470075"/>
            <a:ext cx="5106198" cy="8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187325" y="4544250"/>
            <a:ext cx="8817900" cy="4371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B1B"/>
              </a:solidFill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0" y="0"/>
            <a:ext cx="9144000" cy="1317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B1B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25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3600"/>
              <a:buFont typeface="Poppins"/>
              <a:buNone/>
              <a:defRPr sz="3600">
                <a:solidFill>
                  <a:srgbClr val="1C1B1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Highlight">
  <p:cSld name="SECTION_HEADER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9171000" cy="51525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450600" y="759225"/>
            <a:ext cx="6899400" cy="1517400"/>
          </a:xfrm>
          <a:prstGeom prst="rect">
            <a:avLst/>
          </a:prstGeom>
          <a:noFill/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subTitle"/>
          </p:nvPr>
        </p:nvSpPr>
        <p:spPr>
          <a:xfrm>
            <a:off x="1794150" y="3464225"/>
            <a:ext cx="5358300" cy="39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0"/>
            <a:ext cx="28773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/>
        </p:nvSpPr>
        <p:spPr>
          <a:xfrm>
            <a:off x="464100" y="749825"/>
            <a:ext cx="136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Agenda</a:t>
            </a:r>
            <a:endParaRPr sz="2400"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366875" y="769300"/>
            <a:ext cx="5358300" cy="380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2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152475"/>
            <a:ext cx="3999900" cy="312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832400" y="1152475"/>
            <a:ext cx="3999900" cy="312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+ UI">
  <p:cSld name="TITLE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" name="Google Shape;4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71250" y="930012"/>
            <a:ext cx="4506826" cy="31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/>
          <p:nvPr>
            <p:ph type="title"/>
          </p:nvPr>
        </p:nvSpPr>
        <p:spPr>
          <a:xfrm>
            <a:off x="403175" y="683025"/>
            <a:ext cx="4054500" cy="70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00050" y="745550"/>
            <a:ext cx="6367800" cy="352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4800"/>
              <a:buNone/>
              <a:defRPr sz="4800">
                <a:solidFill>
                  <a:srgbClr val="1C1B1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572000" y="98800"/>
            <a:ext cx="4572000" cy="5044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-8375" y="-792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-7225" y="-7925"/>
            <a:ext cx="5569800" cy="51435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3975" y="-50925"/>
            <a:ext cx="2118600" cy="2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23" y="579688"/>
            <a:ext cx="1479225" cy="41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75" y="1350125"/>
            <a:ext cx="4330424" cy="2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>
            <p:ph type="title"/>
          </p:nvPr>
        </p:nvSpPr>
        <p:spPr>
          <a:xfrm>
            <a:off x="6068100" y="1440150"/>
            <a:ext cx="2687100" cy="2853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Points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/>
          <p:nvPr/>
        </p:nvSpPr>
        <p:spPr>
          <a:xfrm>
            <a:off x="-8375" y="-79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/>
          <p:nvPr/>
        </p:nvSpPr>
        <p:spPr>
          <a:xfrm>
            <a:off x="3878975" y="-7925"/>
            <a:ext cx="52650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87200" y="703350"/>
            <a:ext cx="3651626" cy="4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075" y="1350125"/>
            <a:ext cx="4330424" cy="2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311700" y="654250"/>
            <a:ext cx="3267900" cy="4029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0" name="Google Shape;7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75" y="4710130"/>
            <a:ext cx="804775" cy="1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3"/>
          <p:cNvSpPr/>
          <p:nvPr/>
        </p:nvSpPr>
        <p:spPr>
          <a:xfrm>
            <a:off x="-100" y="0"/>
            <a:ext cx="914400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1217200" y="4686575"/>
            <a:ext cx="159630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6250" y="3082775"/>
            <a:ext cx="5603400" cy="1730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316250" y="616975"/>
            <a:ext cx="83775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None/>
              <a:defRPr sz="7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16250" y="4073375"/>
            <a:ext cx="56034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5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40628" y="4578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81575" y="4710130"/>
            <a:ext cx="804775" cy="13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0" y="0"/>
            <a:ext cx="9144000" cy="903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230578" y="4710125"/>
            <a:ext cx="11406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| workato.com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9.png"/><Relationship Id="rId13" Type="http://schemas.openxmlformats.org/officeDocument/2006/relationships/hyperlink" Target="https://company-181808.frontify.com/d/uoFs2aGeuAjs/guidelines#/visual-language/icons" TargetMode="External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9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896850" y="2843350"/>
            <a:ext cx="73503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Automate the w</a:t>
            </a:r>
            <a:r>
              <a:rPr lang="en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*</a:t>
            </a:r>
            <a:r>
              <a:rPr lang="en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rk out of everything</a:t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130763" y="986700"/>
            <a:ext cx="2001600" cy="29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Speakers</a:t>
            </a:r>
            <a:endParaRPr sz="1600"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4645500" y="1919975"/>
            <a:ext cx="3658200" cy="47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Ashley Kate</a:t>
            </a:r>
            <a:endParaRPr sz="3600"/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4645500" y="2623175"/>
            <a:ext cx="3140400" cy="254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 R O D U C T   M A R K E T I N G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4645500" y="3608075"/>
            <a:ext cx="4006800" cy="47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Karl Mosgovian</a:t>
            </a:r>
            <a:endParaRPr sz="3600"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645500" y="4311275"/>
            <a:ext cx="3140400" cy="254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 I T L 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-1071" l="0" r="-1071" t="0"/>
          <a:stretch/>
        </p:blipFill>
        <p:spPr>
          <a:xfrm>
            <a:off x="2498413" y="1714900"/>
            <a:ext cx="1266300" cy="117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5158" y="3463916"/>
            <a:ext cx="1252828" cy="1177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578700" y="624400"/>
            <a:ext cx="5347800" cy="45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01  Workato Overview</a:t>
            </a:r>
            <a:endParaRPr sz="3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02  Customer Stories</a:t>
            </a:r>
            <a:endParaRPr sz="3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03  Features</a:t>
            </a:r>
            <a:endParaRPr sz="3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04  Product</a:t>
            </a:r>
            <a:endParaRPr sz="3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05  Partners</a:t>
            </a:r>
            <a:endParaRPr sz="3600"/>
          </a:p>
        </p:txBody>
      </p:sp>
      <p:sp>
        <p:nvSpPr>
          <p:cNvPr id="103" name="Google Shape;103;p18"/>
          <p:cNvSpPr/>
          <p:nvPr/>
        </p:nvSpPr>
        <p:spPr>
          <a:xfrm>
            <a:off x="0" y="0"/>
            <a:ext cx="28773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464100" y="749825"/>
            <a:ext cx="13695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Agenda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288600" y="484375"/>
            <a:ext cx="14940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  </a:t>
            </a:r>
            <a:endParaRPr sz="7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364800" y="2934075"/>
            <a:ext cx="5373000" cy="23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Workato Overview</a:t>
            </a:r>
            <a:endParaRPr sz="5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250" y="930012"/>
            <a:ext cx="4506826" cy="31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654250"/>
            <a:ext cx="3267900" cy="4029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Lorem ipsum dolor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Sit amet, consectetur adipiscing elit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Sed do eiusmod tempor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Incidunt ut labore et dolore magna tempor</a:t>
            </a:r>
            <a:endParaRPr sz="1600">
              <a:solidFill>
                <a:srgbClr val="1C1B1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C1B1B"/>
              </a:solidFill>
            </a:endParaRPr>
          </a:p>
        </p:txBody>
      </p:sp>
      <p:sp>
        <p:nvSpPr>
          <p:cNvPr id="118" name="Google Shape;118;p20"/>
          <p:cNvSpPr txBox="1"/>
          <p:nvPr>
            <p:ph idx="4294967295" type="title"/>
          </p:nvPr>
        </p:nvSpPr>
        <p:spPr>
          <a:xfrm>
            <a:off x="364800" y="730075"/>
            <a:ext cx="5050500" cy="47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00" y="3347050"/>
            <a:ext cx="929575" cy="8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>
            <p:ph idx="4294967295" type="title"/>
          </p:nvPr>
        </p:nvSpPr>
        <p:spPr>
          <a:xfrm>
            <a:off x="1673700" y="3504000"/>
            <a:ext cx="3658200" cy="47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Bill Oslo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26" name="Google Shape;126;p21"/>
          <p:cNvSpPr txBox="1"/>
          <p:nvPr>
            <p:ph idx="4294967295" type="title"/>
          </p:nvPr>
        </p:nvSpPr>
        <p:spPr>
          <a:xfrm>
            <a:off x="1673700" y="3902400"/>
            <a:ext cx="3140400" cy="254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 A R K E T I N G   M A N A G E R  @  G U S T O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27" name="Google Shape;127;p21"/>
          <p:cNvSpPr txBox="1"/>
          <p:nvPr>
            <p:ph idx="4294967295" type="title"/>
          </p:nvPr>
        </p:nvSpPr>
        <p:spPr>
          <a:xfrm>
            <a:off x="441000" y="765200"/>
            <a:ext cx="6866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</a:rPr>
              <a:t>“Too long, need developers, too much pain… </a:t>
            </a:r>
            <a:r>
              <a:rPr lang="en" sz="3000">
                <a:solidFill>
                  <a:srgbClr val="67EADD"/>
                </a:solidFill>
              </a:rPr>
              <a:t>Workato</a:t>
            </a:r>
            <a:r>
              <a:rPr lang="en" sz="3000">
                <a:solidFill>
                  <a:schemeClr val="lt1"/>
                </a:solidFill>
              </a:rPr>
              <a:t> is what I’ve been looking for.”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-8375" y="-79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3878975" y="-7925"/>
            <a:ext cx="5265000" cy="5143500"/>
          </a:xfrm>
          <a:prstGeom prst="rect">
            <a:avLst/>
          </a:prstGeom>
          <a:solidFill>
            <a:srgbClr val="67E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7200" y="703350"/>
            <a:ext cx="3651626" cy="4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075" y="1350125"/>
            <a:ext cx="4330424" cy="2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654250"/>
            <a:ext cx="3267900" cy="4029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Lorem ipsum dolor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Sit amet, consectetur adipiscing elit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Sed do eiusmod tempor</a:t>
            </a:r>
            <a:endParaRPr sz="1600">
              <a:solidFill>
                <a:srgbClr val="1C1B1B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B"/>
              </a:buClr>
              <a:buSzPts val="1000"/>
              <a:buChar char="●"/>
            </a:pPr>
            <a:r>
              <a:rPr lang="en" sz="1600">
                <a:solidFill>
                  <a:srgbClr val="1C1B1B"/>
                </a:solidFill>
              </a:rPr>
              <a:t>Incidunt ut labore et dolore magna tempor</a:t>
            </a:r>
            <a:endParaRPr sz="1600">
              <a:solidFill>
                <a:srgbClr val="1C1B1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C1B1B"/>
              </a:solidFill>
            </a:endParaRPr>
          </a:p>
        </p:txBody>
      </p:sp>
      <p:sp>
        <p:nvSpPr>
          <p:cNvPr id="137" name="Google Shape;137;p22"/>
          <p:cNvSpPr txBox="1"/>
          <p:nvPr>
            <p:ph idx="4294967295" type="title"/>
          </p:nvPr>
        </p:nvSpPr>
        <p:spPr>
          <a:xfrm>
            <a:off x="420125" y="280200"/>
            <a:ext cx="3140400" cy="254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 R O D U C T</a:t>
            </a:r>
            <a:r>
              <a:rPr lang="en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-8375" y="-792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-7225" y="-7925"/>
            <a:ext cx="5569800" cy="51435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975" y="-50925"/>
            <a:ext cx="2118600" cy="2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223" y="579688"/>
            <a:ext cx="1479225" cy="41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675" y="1350125"/>
            <a:ext cx="4330424" cy="25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idx="4294967295" type="title"/>
          </p:nvPr>
        </p:nvSpPr>
        <p:spPr>
          <a:xfrm>
            <a:off x="6068100" y="1433600"/>
            <a:ext cx="1714800" cy="108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%</a:t>
            </a:r>
            <a:endParaRPr sz="6000"/>
          </a:p>
        </p:txBody>
      </p:sp>
      <p:sp>
        <p:nvSpPr>
          <p:cNvPr id="148" name="Google Shape;148;p23"/>
          <p:cNvSpPr txBox="1"/>
          <p:nvPr>
            <p:ph idx="4294967295" type="title"/>
          </p:nvPr>
        </p:nvSpPr>
        <p:spPr>
          <a:xfrm>
            <a:off x="6068100" y="2703525"/>
            <a:ext cx="2852100" cy="120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cost</a:t>
            </a:r>
            <a:br>
              <a:rPr lang="en"/>
            </a:br>
            <a:r>
              <a:rPr lang="en"/>
              <a:t>of ownership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6250" y="4073375"/>
            <a:ext cx="5603400" cy="68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78300" y="521225"/>
            <a:ext cx="1994700" cy="29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Icon/Logo library</a:t>
            </a:r>
            <a:endParaRPr sz="1600"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250" y="817312"/>
            <a:ext cx="1767817" cy="1767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900" y="833462"/>
            <a:ext cx="1735500" cy="173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3247" y="936367"/>
            <a:ext cx="1640719" cy="1635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1297" y="817303"/>
            <a:ext cx="1574400" cy="15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0406" y="817323"/>
            <a:ext cx="1773594" cy="1767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6200" y="2962216"/>
            <a:ext cx="1616620" cy="161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28676" y="2818950"/>
            <a:ext cx="1909400" cy="1903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3629" y="2967986"/>
            <a:ext cx="1610371" cy="1605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6625" y="2815837"/>
            <a:ext cx="1909400" cy="190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83661" y="2773200"/>
            <a:ext cx="2075981" cy="20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>
            <p:ph type="title"/>
          </p:nvPr>
        </p:nvSpPr>
        <p:spPr>
          <a:xfrm>
            <a:off x="3325800" y="4713925"/>
            <a:ext cx="2492400" cy="29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Visit </a:t>
            </a:r>
            <a:r>
              <a:rPr lang="en" sz="1000" u="sng">
                <a:solidFill>
                  <a:schemeClr val="hlink"/>
                </a:solidFill>
                <a:hlinkClick r:id="rId13"/>
              </a:rPr>
              <a:t>here</a:t>
            </a:r>
            <a:r>
              <a:rPr lang="en" sz="1000"/>
              <a:t> for more icons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925" y="0"/>
            <a:ext cx="4186075" cy="302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90600"/>
            <a:ext cx="4653125" cy="3349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9825" y="3081201"/>
            <a:ext cx="2763030" cy="181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4583450" y="-16425"/>
            <a:ext cx="4560600" cy="5143500"/>
          </a:xfrm>
          <a:prstGeom prst="rect">
            <a:avLst/>
          </a:prstGeom>
          <a:solidFill>
            <a:srgbClr val="1C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417" y="2936724"/>
            <a:ext cx="1835850" cy="108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0595" y="2981262"/>
            <a:ext cx="1760552" cy="104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31" y="2936725"/>
            <a:ext cx="1760552" cy="104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1502" y="2936725"/>
            <a:ext cx="1835850" cy="108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4100" y="1821566"/>
            <a:ext cx="2470030" cy="39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6725" y="1879116"/>
            <a:ext cx="2470030" cy="39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4100" y="1069991"/>
            <a:ext cx="2470030" cy="39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6725" y="1193491"/>
            <a:ext cx="2470030" cy="394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