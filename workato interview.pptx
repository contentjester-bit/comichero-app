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 id="2147483664" r:id="rId2"/>
    <p:sldMasterId id="2147483680" r:id="rId3"/>
  </p:sldMasterIdLst>
  <p:notesMasterIdLst>
    <p:notesMasterId r:id="rId23"/>
  </p:notesMasterIdLst>
  <p:sldIdLst>
    <p:sldId id="256" r:id="rId4"/>
    <p:sldId id="257" r:id="rId5"/>
    <p:sldId id="258" r:id="rId6"/>
    <p:sldId id="273" r:id="rId7"/>
    <p:sldId id="276" r:id="rId8"/>
    <p:sldId id="279" r:id="rId9"/>
    <p:sldId id="280" r:id="rId10"/>
    <p:sldId id="290" r:id="rId11"/>
    <p:sldId id="264" r:id="rId12"/>
    <p:sldId id="284" r:id="rId13"/>
    <p:sldId id="272" r:id="rId14"/>
    <p:sldId id="260" r:id="rId15"/>
    <p:sldId id="288" r:id="rId16"/>
    <p:sldId id="286" r:id="rId17"/>
    <p:sldId id="281" r:id="rId18"/>
    <p:sldId id="287" r:id="rId19"/>
    <p:sldId id="267" r:id="rId20"/>
    <p:sldId id="289" r:id="rId21"/>
    <p:sldId id="265" r:id="rId22"/>
  </p:sldIdLst>
  <p:sldSz cx="9144000" cy="5143500" type="screen16x9"/>
  <p:notesSz cx="6858000" cy="9144000"/>
  <p:embeddedFontLst>
    <p:embeddedFont>
      <p:font typeface="Poppins" panose="00000500000000000000" pitchFamily="2" charset="0"/>
      <p:regular r:id="rId24"/>
      <p:bold r:id="rId25"/>
      <p:italic r:id="rId26"/>
      <p:boldItalic r:id="rId27"/>
    </p:embeddedFont>
    <p:embeddedFont>
      <p:font typeface="Source Sans Pro" panose="020B050303040302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pos="230">
          <p15:clr>
            <a:srgbClr val="9AA0A6"/>
          </p15:clr>
        </p15:guide>
        <p15:guide id="4" orient="horz" pos="468" userDrawn="1">
          <p15:clr>
            <a:srgbClr val="9AA0A6"/>
          </p15:clr>
        </p15:guide>
        <p15:guide id="5" orient="horz" pos="684"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EA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539" autoAdjust="0"/>
  </p:normalViewPr>
  <p:slideViewPr>
    <p:cSldViewPr snapToGrid="0">
      <p:cViewPr varScale="1">
        <p:scale>
          <a:sx n="95" d="100"/>
          <a:sy n="95" d="100"/>
        </p:scale>
        <p:origin x="528" y="53"/>
      </p:cViewPr>
      <p:guideLst>
        <p:guide orient="horz" pos="1620"/>
        <p:guide pos="2880"/>
        <p:guide pos="230"/>
        <p:guide orient="horz" pos="468"/>
        <p:guide orient="horz" pos="6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mordorintelligence.com/industry-reports/workflow-automation-market#:~:text=%2A%20By%20end,and%20robotic%20process%20automation%20software" TargetMode="External"/><Relationship Id="rId7" Type="http://schemas.openxmlformats.org/officeDocument/2006/relationships/hyperlink" Target="https://www.mordorintelligence.com/industry-reports/hyperautomation-market#:~:text=workflow%20orchestration%20rather%20than%20isolated,services%2C%20healthcare%2C%20and%20retail%20ecosystems"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ww.precedenceresearch.com/robotic-process-automation-market#:~:text=Global%20Robotic%20Process%20Automation%20Market,2024" TargetMode="External"/><Relationship Id="rId5" Type="http://schemas.openxmlformats.org/officeDocument/2006/relationships/hyperlink" Target="https://www.mordorintelligence.com/industry-reports/intelligent-process-automation-market#:~:text=process%20automation%20market%20size%20in,CAGR" TargetMode="External"/><Relationship Id="rId4" Type="http://schemas.openxmlformats.org/officeDocument/2006/relationships/hyperlink" Target="https://www.deloitte.com/us/en/services/audit-assurance/services/integrated-business-solutions-workato-alliance.html#:~:text=Industry" TargetMode="Externa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www.workato.com/the-connector/the-force-multipliers-of-intelligent-automation/#:~:text=In%20recognition%20of%20the%20hard,HR%2C%20higher%20education%2C%20and%20nonprofits" TargetMode="External"/><Relationship Id="rId3" Type="http://schemas.openxmlformats.org/officeDocument/2006/relationships/hyperlink" Target="https://www.mordorintelligence.com/industry-reports/workflow-automation-market#:~:text=%2A%20By%20end,and%20robotic%20process%20automation%20software" TargetMode="External"/><Relationship Id="rId7" Type="http://schemas.openxmlformats.org/officeDocument/2006/relationships/hyperlink" Target="https://www.deloitte.com/us/en/services/audit-assurance/services/integrated-business-solutions-workato-alliance.html#:~:text=Industry"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workato.com/the-connector/enterprise-automation-transforming-11-industries/#:~:text=AvidXchange%20%2C%20a%20leading%20provider,automate%20the%20supplier%20onboarding%20process" TargetMode="External"/><Relationship Id="rId11" Type="http://schemas.openxmlformats.org/officeDocument/2006/relationships/hyperlink" Target="https://www.workato.com/the-connector/enterprise-automation-transforming-11-industries/#:~:text=Payless%20Shoesource%2C%20an%20iconic%20footwear,that%20their%20shoes%20stay%20affordable" TargetMode="External"/><Relationship Id="rId5" Type="http://schemas.openxmlformats.org/officeDocument/2006/relationships/hyperlink" Target="https://www.workato.com/the-connector/enterprise-automation-transforming-11-industries/#:~:text=It%E2%80%99s%20a%20tough%20line%20to,of%20the%20previous%20half%20hour" TargetMode="External"/><Relationship Id="rId10" Type="http://schemas.openxmlformats.org/officeDocument/2006/relationships/hyperlink" Target="https://www.solvexia.com/blog/finance-automation-trends-and-statistics#:~:text=1.%2098,of%20organizations%20state%20that%20their" TargetMode="External"/><Relationship Id="rId4" Type="http://schemas.openxmlformats.org/officeDocument/2006/relationships/hyperlink" Target="https://www.mordorintelligence.com/industry-reports/workflow-automation-market#:~:text=RPA%20has%20evolved%20from%20screen,management%20programs%20that" TargetMode="External"/><Relationship Id="rId9" Type="http://schemas.openxmlformats.org/officeDocument/2006/relationships/hyperlink" Target="https://www.solvexia.com/blog/finance-automation-trends-and-statistics#:~:text=Here%20are%20the%20key%20statistics,financial%20digital%20transformation%20in%202025"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mordorintelligence.com/industry-reports/workflow-automation-market#:~:text=match%20at%20L317%20Manufacturing%20remains,Government" TargetMode="External"/><Relationship Id="rId7" Type="http://schemas.openxmlformats.org/officeDocument/2006/relationships/hyperlink" Target="https://www.workato.com/the-connector/the-force-multipliers-of-intelligent-automation/#:~:text=HR%2C%20higher%20education%2C%20and%20nonprofits"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workato.com/the-connector/enterprise-automation-transforming-11-industries/#:~:text=Payless%20Shoesource%2C%20an%20iconic%20footwear,that%20their%20shoes%20stay%20affordable" TargetMode="External"/><Relationship Id="rId5" Type="http://schemas.openxmlformats.org/officeDocument/2006/relationships/hyperlink" Target="https://www.workato.com/the-connector/enterprise-automation-transforming-11-industries/#:~:text=At%20Marel%2C%20automation%20is%20all,data%20for%20research%20and%20development" TargetMode="External"/><Relationship Id="rId4" Type="http://schemas.openxmlformats.org/officeDocument/2006/relationships/hyperlink" Target="https://www.mordorintelligence.com/industry-reports/workflow-automation-market#:~:text=Real,into%20bedside%20monitors%20so%20clinical" TargetMode="Externa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www.workato.com/the-connector/enterprise-automation-transforming-11-industries/#:~:text=6,a%20fractured%20transportation%20industry" TargetMode="External"/><Relationship Id="rId3" Type="http://schemas.openxmlformats.org/officeDocument/2006/relationships/hyperlink" Target="https://www.deloitte.com/us/en/services/audit-assurance/services/integrated-business-solutions-workato-alliance.html#:~:text=Industry" TargetMode="External"/><Relationship Id="rId7" Type="http://schemas.openxmlformats.org/officeDocument/2006/relationships/hyperlink" Target="https://www.mordorintelligence.com/industry-reports/workflow-automation-market#:~:text=RPA%20has%20evolved%20from%20screen,management%20programs%20that"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workato.com/the-connector/enterprise-automation-transforming-11-industries/#:~:text=The%20results%20have%20been%20tangible" TargetMode="External"/><Relationship Id="rId5" Type="http://schemas.openxmlformats.org/officeDocument/2006/relationships/hyperlink" Target="https://www.mordorintelligence.com/industry-reports/workflow-automation-market#:~:text=Generative%20AI%20is%20elevating%20automation,terms%20from%20multilingual%20policies%2C%20then" TargetMode="External"/><Relationship Id="rId4" Type="http://schemas.openxmlformats.org/officeDocument/2006/relationships/hyperlink" Target="https://www.mordorintelligence.com/industry-reports/workflow-automation-market#:~:text=%2A%20By%20end,and%20robotic%20process%20automation%20software"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saastr.com/the-biggest-challenge-with-vertical-saas-your-sales-team-has-to-be-domain-experts/#:~:text=In%20vertical%20SaaS%2C%20most%20customers,They%20never%20really%20understand"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www.workato.com/the-connector/introducing-automation-accelerators/#:~:text=These%20Accelerators%20will%20support%20organizations,but%20have%20plans%20for%20many" TargetMode="External"/><Relationship Id="rId4" Type="http://schemas.openxmlformats.org/officeDocument/2006/relationships/hyperlink" Target="https://www.softserveinc.com/en-us/our-partners/workato#:~:text=%2A%20"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mordorintelligence.com/industry-reports/workflow-automation-market#:~:text=RPA%20has%20evolved%20from%20screen,management%20programs%20that" TargetMode="External"/><Relationship Id="rId2" Type="http://schemas.openxmlformats.org/officeDocument/2006/relationships/slide" Target="../slides/slide16.xml"/><Relationship Id="rId1" Type="http://schemas.openxmlformats.org/officeDocument/2006/relationships/notesMaster" Target="../notesMasters/notesMaster1.xml"/><Relationship Id="rId5" Type="http://schemas.openxmlformats.org/officeDocument/2006/relationships/hyperlink" Target="https://www.mordorintelligence.com/industry-reports/workflow-automation-market#:~:text=Generative%20AI%20is%20elevating%20automation,terms%20from%20multilingual%20policies%2C%20then" TargetMode="External"/><Relationship Id="rId4" Type="http://schemas.openxmlformats.org/officeDocument/2006/relationships/hyperlink" Target="https://www.workato.com/the-connector/enterprise-automation-transforming-11-industries/#:~:text=It%E2%80%99s%20a%20tough%20line%20to,of%20the%20previous%20half%20hour"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9a3045a12c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9a3045a12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a3045a12c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9a3045a12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EBCC5357-9E8A-ED1D-BFEB-D0FBC5C553D5}"/>
            </a:ext>
          </a:extLst>
        </p:cNvPr>
        <p:cNvGrpSpPr/>
        <p:nvPr/>
      </p:nvGrpSpPr>
      <p:grpSpPr>
        <a:xfrm>
          <a:off x="0" y="0"/>
          <a:ext cx="0" cy="0"/>
          <a:chOff x="0" y="0"/>
          <a:chExt cx="0" cy="0"/>
        </a:xfrm>
      </p:grpSpPr>
      <p:sp>
        <p:nvSpPr>
          <p:cNvPr id="150" name="Google Shape;150;g8802892f9b_0_0:notes">
            <a:extLst>
              <a:ext uri="{FF2B5EF4-FFF2-40B4-BE49-F238E27FC236}">
                <a16:creationId xmlns:a16="http://schemas.microsoft.com/office/drawing/2014/main" id="{AA3AD12E-5E8F-ED60-5669-1F7B6EF5B7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802892f9b_0_0:notes">
            <a:extLst>
              <a:ext uri="{FF2B5EF4-FFF2-40B4-BE49-F238E27FC236}">
                <a16:creationId xmlns:a16="http://schemas.microsoft.com/office/drawing/2014/main" id="{706F6E65-0C9A-726D-B7C5-5B5550D0F7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b="1" dirty="0"/>
          </a:p>
          <a:p>
            <a:pPr marL="158750" indent="0">
              <a:buNone/>
            </a:pPr>
            <a:r>
              <a:rPr lang="en-US" b="1" dirty="0"/>
              <a:t>Industry Prioritization Framework</a:t>
            </a:r>
          </a:p>
          <a:p>
            <a:pPr marL="158750" indent="0">
              <a:buNone/>
            </a:pPr>
            <a:endParaRPr lang="en-US" b="1" dirty="0"/>
          </a:p>
          <a:p>
            <a:r>
              <a:rPr lang="en-US" b="1" dirty="0"/>
              <a:t>Selection Criteria:</a:t>
            </a:r>
            <a:r>
              <a:rPr lang="en-US" dirty="0"/>
              <a:t> To determine the top 3 focus industries for the next 12–18 months, we evaluate each candidate industry against a clear framework of criteria. These include </a:t>
            </a:r>
            <a:r>
              <a:rPr lang="en-US" b="1" dirty="0"/>
              <a:t>market size</a:t>
            </a:r>
            <a:r>
              <a:rPr lang="en-US" dirty="0"/>
              <a:t>, </a:t>
            </a:r>
            <a:r>
              <a:rPr lang="en-US" b="1" dirty="0"/>
              <a:t>automation maturity</a:t>
            </a:r>
            <a:r>
              <a:rPr lang="en-US" dirty="0"/>
              <a:t>, </a:t>
            </a:r>
            <a:r>
              <a:rPr lang="en-US" b="1" dirty="0"/>
              <a:t>partner ecosystem strength</a:t>
            </a:r>
            <a:r>
              <a:rPr lang="en-US" dirty="0"/>
              <a:t>, and </a:t>
            </a:r>
            <a:r>
              <a:rPr lang="en-US" b="1" dirty="0" err="1"/>
              <a:t>Workato</a:t>
            </a:r>
            <a:r>
              <a:rPr lang="en-US" b="1" dirty="0"/>
              <a:t> fit</a:t>
            </a:r>
            <a:r>
              <a:rPr lang="en-US" dirty="0"/>
              <a:t>. Each criterion ensures we choose verticals with significant revenue opportunity (large market, high demand for automation), readiness for integration/automation solutions (mature processes ripe for automation), strong partner alignment (consultancies or ISVs active in the space), and a natural alignment with </a:t>
            </a:r>
            <a:r>
              <a:rPr lang="en-US" dirty="0" err="1"/>
              <a:t>Workato’s</a:t>
            </a:r>
            <a:r>
              <a:rPr lang="en-US" dirty="0"/>
              <a:t> platform capabilities and success stories.</a:t>
            </a:r>
            <a:endParaRPr lang="en-US" b="1" dirty="0"/>
          </a:p>
          <a:p>
            <a:endParaRPr lang="en-US" b="1" dirty="0"/>
          </a:p>
          <a:p>
            <a:r>
              <a:rPr lang="en-US" b="1" dirty="0"/>
              <a:t>Automation Maturity:</a:t>
            </a:r>
            <a:r>
              <a:rPr lang="en-US" dirty="0"/>
              <a:t> Industries at higher automation maturity (or rapidly maturing) can more quickly leverage </a:t>
            </a:r>
            <a:r>
              <a:rPr lang="en-US" dirty="0" err="1"/>
              <a:t>Workato</a:t>
            </a:r>
            <a:r>
              <a:rPr lang="en-US" dirty="0"/>
              <a:t>. For example, banking leads in workflow automation adoption with nearly </a:t>
            </a:r>
            <a:r>
              <a:rPr lang="en-US" b="1" dirty="0"/>
              <a:t>24%</a:t>
            </a:r>
            <a:r>
              <a:rPr lang="en-US" dirty="0"/>
              <a:t> of the market</a:t>
            </a:r>
            <a:r>
              <a:rPr lang="en-US" dirty="0">
                <a:hlinkClick r:id="rId3"/>
              </a:rPr>
              <a:t>mordorintelligence.com</a:t>
            </a:r>
            <a:r>
              <a:rPr lang="en-US" dirty="0"/>
              <a:t>, indicating openness to integration and RPA solutions. Meanwhile, sectors like healthcare are traditionally less automated but now accelerating (11.4% CAGR in automation spend)</a:t>
            </a:r>
            <a:r>
              <a:rPr lang="en-US" dirty="0">
                <a:hlinkClick r:id="rId3"/>
              </a:rPr>
              <a:t>mordorintelligence.com</a:t>
            </a:r>
            <a:r>
              <a:rPr lang="en-US" dirty="0"/>
              <a:t>, suggesting a growing need we can tap into.</a:t>
            </a:r>
          </a:p>
          <a:p>
            <a:r>
              <a:rPr lang="en-US" b="1" dirty="0"/>
              <a:t>TAM (Market Opportunity):</a:t>
            </a:r>
            <a:r>
              <a:rPr lang="en-US" dirty="0"/>
              <a:t> We sized the potential by looking at IT spending and number of enterprises in each sector. Financial Services and Manufacturing have massive global IT budgets and thousands of large enterprises, making for a big TAM. Healthcare/Life Sciences and Retail are also huge markets undergoing digital transformation. We favor industries where automation can address costly inefficiencies (e.g. high transaction volumes in banking, complex supply chains in manufacturing) for significant ROI.</a:t>
            </a:r>
          </a:p>
          <a:p>
            <a:r>
              <a:rPr lang="en-US" b="1" dirty="0"/>
              <a:t>Partner Strength:</a:t>
            </a:r>
            <a:r>
              <a:rPr lang="en-US" dirty="0"/>
              <a:t> We considered where our Global Systems Integrators (GSIs) and technology partners have deep expertise. Sectors like </a:t>
            </a:r>
            <a:r>
              <a:rPr lang="en-US" b="1" dirty="0"/>
              <a:t>Financial Services, Life Sciences, and Retail</a:t>
            </a:r>
            <a:r>
              <a:rPr lang="en-US" dirty="0"/>
              <a:t> are specifically highlighted in our Deloitte alliance</a:t>
            </a:r>
            <a:r>
              <a:rPr lang="en-US" dirty="0">
                <a:hlinkClick r:id="rId4"/>
              </a:rPr>
              <a:t>deloitte.com</a:t>
            </a:r>
            <a:r>
              <a:rPr lang="en-US" dirty="0"/>
              <a:t>, and GSIs like Accenture and PwC have sizable practices in </a:t>
            </a:r>
            <a:r>
              <a:rPr lang="en-US" b="1" dirty="0"/>
              <a:t>Banking, Manufacturing, Healthcare,</a:t>
            </a:r>
            <a:r>
              <a:rPr lang="en-US" dirty="0"/>
              <a:t> etc. A strong partner presence means ready allies to co-develop solutions and credibility in those markets.</a:t>
            </a:r>
          </a:p>
          <a:p>
            <a:r>
              <a:rPr lang="en-US" b="1" dirty="0"/>
              <a:t>Use Case Alignment:</a:t>
            </a:r>
            <a:r>
              <a:rPr lang="en-US" dirty="0"/>
              <a:t> We mapped each industry’s common workflows to </a:t>
            </a:r>
            <a:r>
              <a:rPr lang="en-US" dirty="0" err="1"/>
              <a:t>Workato’s</a:t>
            </a:r>
            <a:r>
              <a:rPr lang="en-US" dirty="0"/>
              <a:t> proven </a:t>
            </a:r>
            <a:r>
              <a:rPr lang="en-US" b="1" dirty="0"/>
              <a:t>enterprise automation use cases</a:t>
            </a:r>
            <a:r>
              <a:rPr lang="en-US" dirty="0"/>
              <a:t> (e.g. </a:t>
            </a:r>
            <a:r>
              <a:rPr lang="en-US" b="1" dirty="0"/>
              <a:t>sales lead management, quote-to-cash, employee onboarding, IT ops, data pipeline automation</a:t>
            </a:r>
            <a:r>
              <a:rPr lang="en-US" dirty="0"/>
              <a:t>). Prioritized industries have clear pain points that </a:t>
            </a:r>
            <a:r>
              <a:rPr lang="en-US" dirty="0" err="1"/>
              <a:t>Workato</a:t>
            </a:r>
            <a:r>
              <a:rPr lang="en-US" dirty="0"/>
              <a:t> can solve – for instance, banks need faster customer onboarding (a strength of </a:t>
            </a:r>
            <a:r>
              <a:rPr lang="en-US" dirty="0" err="1"/>
              <a:t>Workato’s</a:t>
            </a:r>
            <a:r>
              <a:rPr lang="en-US" dirty="0"/>
              <a:t> integration workflows), and manufacturers need to connect disparate systems (core iPaaS capability). Industries where </a:t>
            </a:r>
            <a:r>
              <a:rPr lang="en-US" dirty="0" err="1"/>
              <a:t>Workato’s</a:t>
            </a:r>
            <a:r>
              <a:rPr lang="en-US" dirty="0"/>
              <a:t> existing “recipes” and connectors already address typical applications got a higher score</a:t>
            </a:r>
          </a:p>
          <a:p>
            <a:pPr marL="158750" indent="0">
              <a:buNone/>
            </a:pPr>
            <a:endParaRPr lang="en-US" dirty="0"/>
          </a:p>
          <a:p>
            <a:pPr marL="158750" indent="0">
              <a:buNone/>
            </a:pPr>
            <a:endParaRPr lang="en-US" dirty="0"/>
          </a:p>
          <a:p>
            <a:pPr marL="158750" indent="0">
              <a:buNone/>
            </a:pPr>
            <a:r>
              <a:rPr lang="en-US" dirty="0"/>
              <a:t>Each industry’s TAM reflects spending on enterprise </a:t>
            </a:r>
            <a:r>
              <a:rPr lang="en-US" b="1" dirty="0"/>
              <a:t>automation, integration, and orchestration</a:t>
            </a:r>
            <a:r>
              <a:rPr lang="en-US" dirty="0"/>
              <a:t> platforms (e.g. RPA, iPaaS, workflow automation, API integration). Financial services leads in total spend, while healthcare is seeing the quickest growth. Manufacturing (including supply chain automation) also represents a significant opportunity, leveraging automation for operational efficiency. </a:t>
            </a:r>
            <a:r>
              <a:rPr lang="en-US" b="1" dirty="0"/>
              <a:t>Sources:</a:t>
            </a:r>
            <a:r>
              <a:rPr lang="en-US" dirty="0"/>
              <a:t> Gartner/Mordor Intelligence market share estimates and industry reports</a:t>
            </a:r>
          </a:p>
          <a:p>
            <a:endParaRPr lang="en-US" b="1" dirty="0"/>
          </a:p>
          <a:p>
            <a:endParaRPr lang="en-US" b="1" dirty="0"/>
          </a:p>
          <a:p>
            <a:endParaRPr lang="en-US" b="1" dirty="0"/>
          </a:p>
          <a:p>
            <a:r>
              <a:rPr lang="en-US" b="1" dirty="0"/>
              <a:t>Financial Services</a:t>
            </a:r>
            <a:r>
              <a:rPr lang="en-US" dirty="0"/>
              <a:t> (Banking &amp; Insurance)</a:t>
            </a:r>
            <a:r>
              <a:rPr lang="en-US" b="1" dirty="0"/>
              <a:t>~$12–15 billion</a:t>
            </a:r>
            <a:r>
              <a:rPr lang="en-US" dirty="0"/>
              <a:t> (est. 2024)Largest vertical in enterprise automation. BFSI accounted for ~30% of intelligent automation software spend in 2024</a:t>
            </a:r>
            <a:r>
              <a:rPr lang="en-US" dirty="0">
                <a:hlinkClick r:id="rId5"/>
              </a:rPr>
              <a:t>mordorintelligence.com</a:t>
            </a:r>
            <a:r>
              <a:rPr lang="en-US" dirty="0"/>
              <a:t>. For example, the BFSI sector’s RPA spend alone was about </a:t>
            </a:r>
            <a:r>
              <a:rPr lang="en-US" b="1" dirty="0"/>
              <a:t>$8.3B</a:t>
            </a:r>
            <a:r>
              <a:rPr lang="en-US" dirty="0"/>
              <a:t> in 2024</a:t>
            </a:r>
            <a:r>
              <a:rPr lang="en-US" dirty="0">
                <a:hlinkClick r:id="rId6"/>
              </a:rPr>
              <a:t>precedenceresearch.com</a:t>
            </a:r>
            <a:r>
              <a:rPr lang="en-US" dirty="0"/>
              <a:t>. Strong adoption is driven by use cases in regulatory reporting, customer onboarding, and fraud detection.</a:t>
            </a:r>
            <a:r>
              <a:rPr lang="en-US" dirty="0">
                <a:hlinkClick r:id="rId5"/>
              </a:rPr>
              <a:t>mordorintelligence.com</a:t>
            </a:r>
            <a:r>
              <a:rPr lang="en-US" dirty="0">
                <a:hlinkClick r:id="rId6"/>
              </a:rPr>
              <a:t>precedenceresearch.com</a:t>
            </a:r>
            <a:endParaRPr lang="en-US" dirty="0"/>
          </a:p>
          <a:p>
            <a:r>
              <a:rPr lang="en-US" b="1" dirty="0"/>
              <a:t>Manufacturing</a:t>
            </a:r>
            <a:r>
              <a:rPr lang="en-US" dirty="0"/>
              <a:t> (incl. Supply Chain)</a:t>
            </a:r>
            <a:r>
              <a:rPr lang="en-US" b="1" dirty="0"/>
              <a:t>~$8–10 billion</a:t>
            </a:r>
            <a:r>
              <a:rPr lang="en-US" dirty="0"/>
              <a:t> (est. 2024)Major adopter of automation and integration tech, e.g. ~18% of global RPA revenue (≈$4.2B in 2024) came from manufacturing</a:t>
            </a:r>
            <a:r>
              <a:rPr lang="en-US" dirty="0">
                <a:hlinkClick r:id="rId6"/>
              </a:rPr>
              <a:t>precedenceresearch.com</a:t>
            </a:r>
            <a:r>
              <a:rPr lang="en-US" dirty="0"/>
              <a:t>. Automation platforms are widely used to streamline production, quality control, and supply chain processes. Industry 4.0 initiatives and </a:t>
            </a:r>
            <a:r>
              <a:rPr lang="en-US" b="1" dirty="0" err="1"/>
              <a:t>hyperautomation</a:t>
            </a:r>
            <a:r>
              <a:rPr lang="en-US" dirty="0"/>
              <a:t> are firmly on manufacturing boardroom agendas</a:t>
            </a:r>
            <a:r>
              <a:rPr lang="en-US" dirty="0">
                <a:hlinkClick r:id="rId7"/>
              </a:rPr>
              <a:t>mordorintelligence.com</a:t>
            </a:r>
            <a:r>
              <a:rPr lang="en-US" dirty="0"/>
              <a:t>, driving steady growth (high single-digit to low double-digit CAGR).</a:t>
            </a:r>
            <a:r>
              <a:rPr lang="en-US" dirty="0">
                <a:hlinkClick r:id="rId6"/>
              </a:rPr>
              <a:t>precedenceresearch.com</a:t>
            </a:r>
            <a:r>
              <a:rPr lang="en-US" dirty="0">
                <a:hlinkClick r:id="rId7"/>
              </a:rPr>
              <a:t>mordorintelligence.com</a:t>
            </a:r>
            <a:endParaRPr lang="en-US" dirty="0"/>
          </a:p>
          <a:p>
            <a:r>
              <a:rPr lang="en-US" b="1" dirty="0"/>
              <a:t>Healthcare &amp; Life Sciences~$5–8 billion</a:t>
            </a:r>
            <a:r>
              <a:rPr lang="en-US" dirty="0"/>
              <a:t> (est. 2024)Fastest-growing vertical in enterprise automation. Healthcare/Life Sciences made up ~20% of RPA spend (~$4.8B in 2024)</a:t>
            </a:r>
            <a:r>
              <a:rPr lang="en-US" dirty="0">
                <a:hlinkClick r:id="rId6"/>
              </a:rPr>
              <a:t>precedenceresearch.com</a:t>
            </a:r>
            <a:r>
              <a:rPr lang="en-US" dirty="0"/>
              <a:t> and are adopting workflow automation for patient data, claims processing, and R&amp;D. Projected to expand at ~25% </a:t>
            </a:r>
            <a:r>
              <a:rPr lang="en-US" b="1" dirty="0"/>
              <a:t>CAGR</a:t>
            </a:r>
            <a:r>
              <a:rPr lang="en-US" dirty="0"/>
              <a:t> as organizations automate patient workflows and compliance tasks</a:t>
            </a:r>
            <a:r>
              <a:rPr lang="en-US" dirty="0">
                <a:hlinkClick r:id="rId5"/>
              </a:rPr>
              <a:t>mordorintelligence.com</a:t>
            </a:r>
            <a:r>
              <a:rPr lang="en-US" dirty="0"/>
              <a:t>. This sector’s automation investments are accelerating to improve efficiency and outcomes.</a:t>
            </a:r>
          </a:p>
          <a:p>
            <a:endParaRPr lang="en-US" b="1" dirty="0"/>
          </a:p>
          <a:p>
            <a:r>
              <a:rPr lang="en-US" b="1" dirty="0"/>
              <a:t>-------------------------------------------------</a:t>
            </a:r>
          </a:p>
        </p:txBody>
      </p:sp>
    </p:spTree>
    <p:extLst>
      <p:ext uri="{BB962C8B-B14F-4D97-AF65-F5344CB8AC3E}">
        <p14:creationId xmlns:p14="http://schemas.microsoft.com/office/powerpoint/2010/main" val="4283265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3720C164-5D31-3CDD-3C50-72B118188B22}"/>
            </a:ext>
          </a:extLst>
        </p:cNvPr>
        <p:cNvGrpSpPr/>
        <p:nvPr/>
      </p:nvGrpSpPr>
      <p:grpSpPr>
        <a:xfrm>
          <a:off x="0" y="0"/>
          <a:ext cx="0" cy="0"/>
          <a:chOff x="0" y="0"/>
          <a:chExt cx="0" cy="0"/>
        </a:xfrm>
      </p:grpSpPr>
      <p:sp>
        <p:nvSpPr>
          <p:cNvPr id="150" name="Google Shape;150;g8802892f9b_0_0:notes">
            <a:extLst>
              <a:ext uri="{FF2B5EF4-FFF2-40B4-BE49-F238E27FC236}">
                <a16:creationId xmlns:a16="http://schemas.microsoft.com/office/drawing/2014/main" id="{EA5D25AA-F53B-6853-2394-3FBB80E043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802892f9b_0_0:notes">
            <a:extLst>
              <a:ext uri="{FF2B5EF4-FFF2-40B4-BE49-F238E27FC236}">
                <a16:creationId xmlns:a16="http://schemas.microsoft.com/office/drawing/2014/main" id="{D1215051-C774-FB8C-234E-A810F8B240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dirty="0"/>
              <a:t> Financial Services (Banking &amp; Insurance)</a:t>
            </a:r>
          </a:p>
          <a:p>
            <a:r>
              <a:rPr lang="en-US" b="1" dirty="0"/>
              <a:t>Rationale:</a:t>
            </a:r>
            <a:r>
              <a:rPr lang="en-US" dirty="0"/>
              <a:t> Financial Services is a clear front-runner for </a:t>
            </a:r>
            <a:r>
              <a:rPr lang="en-US" dirty="0" err="1"/>
              <a:t>Workato</a:t>
            </a:r>
            <a:r>
              <a:rPr lang="en-US" dirty="0"/>
              <a:t>. Banks and insurers are </a:t>
            </a:r>
            <a:r>
              <a:rPr lang="en-US" b="1" dirty="0"/>
              <a:t>highly automation-aware</a:t>
            </a:r>
            <a:r>
              <a:rPr lang="en-US" dirty="0"/>
              <a:t> – they currently represent about a </a:t>
            </a:r>
            <a:r>
              <a:rPr lang="en-US" b="1" dirty="0"/>
              <a:t>24% share of the workflow automation market</a:t>
            </a:r>
            <a:r>
              <a:rPr lang="en-US" dirty="0"/>
              <a:t> (the single largest of any sector)</a:t>
            </a:r>
            <a:r>
              <a:rPr lang="en-US" dirty="0">
                <a:hlinkClick r:id="rId3"/>
              </a:rPr>
              <a:t>mordorintelligence.com</a:t>
            </a:r>
            <a:r>
              <a:rPr lang="en-US" dirty="0"/>
              <a:t>. They have enormous IT spending and pressure to modernize legacy systems, giving </a:t>
            </a:r>
            <a:r>
              <a:rPr lang="en-US" dirty="0" err="1"/>
              <a:t>Workato</a:t>
            </a:r>
            <a:r>
              <a:rPr lang="en-US" dirty="0"/>
              <a:t> a large TAM. Critically, finance organizations handle huge volumes of data and transactions under strict compliance requirements – an ideal scenario for integration and workflow automation.</a:t>
            </a:r>
          </a:p>
          <a:p>
            <a:r>
              <a:rPr lang="en-US" b="1" dirty="0"/>
              <a:t>Automation Maturity:</a:t>
            </a:r>
            <a:r>
              <a:rPr lang="en-US" dirty="0"/>
              <a:t> Banks have led in adopting RPA and integration platforms. Many have already done tactical automations (like RPA bots for data entry) and are now looking for more robust, </a:t>
            </a:r>
            <a:r>
              <a:rPr lang="en-US" b="1" dirty="0"/>
              <a:t>enterprise-wide orchestration</a:t>
            </a:r>
            <a:r>
              <a:rPr lang="en-US" dirty="0"/>
              <a:t>. For example, banks employ automation bots for customer due diligence and KYC checks, yielding up to </a:t>
            </a:r>
            <a:r>
              <a:rPr lang="en-US" b="1" dirty="0"/>
              <a:t>70% faster cycle times and lower error rates</a:t>
            </a:r>
            <a:r>
              <a:rPr lang="en-US" dirty="0"/>
              <a:t> than manual processing</a:t>
            </a:r>
            <a:r>
              <a:rPr lang="en-US" dirty="0">
                <a:hlinkClick r:id="rId4"/>
              </a:rPr>
              <a:t>mordorintelligence.com</a:t>
            </a:r>
            <a:r>
              <a:rPr lang="en-US" dirty="0"/>
              <a:t>. This maturity means less education needed – they understand the value of a unified platform.</a:t>
            </a:r>
          </a:p>
          <a:p>
            <a:r>
              <a:rPr lang="en-US" b="1" dirty="0"/>
              <a:t>Use Case Alignment:</a:t>
            </a:r>
            <a:r>
              <a:rPr lang="en-US" dirty="0"/>
              <a:t> </a:t>
            </a:r>
            <a:r>
              <a:rPr lang="en-US" dirty="0" err="1"/>
              <a:t>Workato’s</a:t>
            </a:r>
            <a:r>
              <a:rPr lang="en-US" dirty="0"/>
              <a:t> core use cases map strongly here. </a:t>
            </a:r>
            <a:r>
              <a:rPr lang="en-US" b="1" dirty="0"/>
              <a:t>Customer onboarding/KYC</a:t>
            </a:r>
            <a:r>
              <a:rPr lang="en-US" dirty="0"/>
              <a:t>, </a:t>
            </a:r>
            <a:r>
              <a:rPr lang="en-US" b="1" dirty="0"/>
              <a:t>loan application processing</a:t>
            </a:r>
            <a:r>
              <a:rPr lang="en-US" dirty="0"/>
              <a:t>, </a:t>
            </a:r>
            <a:r>
              <a:rPr lang="en-US" b="1" dirty="0"/>
              <a:t>payment processing</a:t>
            </a:r>
            <a:r>
              <a:rPr lang="en-US" dirty="0"/>
              <a:t>, and </a:t>
            </a:r>
            <a:r>
              <a:rPr lang="en-US" b="1" dirty="0"/>
              <a:t>compliance reporting</a:t>
            </a:r>
            <a:r>
              <a:rPr lang="en-US" dirty="0"/>
              <a:t> are critical processes that demand integration of multiple apps (core banking, CRM, credit bureaus, etc.). </a:t>
            </a:r>
            <a:r>
              <a:rPr lang="en-US" dirty="0" err="1"/>
              <a:t>Workato</a:t>
            </a:r>
            <a:r>
              <a:rPr lang="en-US" dirty="0"/>
              <a:t> can streamline these end-to-end. For instance, the fintech </a:t>
            </a:r>
            <a:r>
              <a:rPr lang="en-US" b="1" dirty="0"/>
              <a:t>Bread Financial</a:t>
            </a:r>
            <a:r>
              <a:rPr lang="en-US" dirty="0"/>
              <a:t> used </a:t>
            </a:r>
            <a:r>
              <a:rPr lang="en-US" dirty="0" err="1"/>
              <a:t>Workato</a:t>
            </a:r>
            <a:r>
              <a:rPr lang="en-US" dirty="0"/>
              <a:t> to integrate online credit card applications with Salesforce and internal databases, </a:t>
            </a:r>
            <a:r>
              <a:rPr lang="en-US" b="1" dirty="0"/>
              <a:t>cutting application processing from ~30 minutes to just a few minutes</a:t>
            </a:r>
            <a:r>
              <a:rPr lang="en-US" dirty="0">
                <a:hlinkClick r:id="rId5"/>
              </a:rPr>
              <a:t>workato.com</a:t>
            </a:r>
            <a:r>
              <a:rPr lang="en-US" dirty="0"/>
              <a:t>. Similarly, </a:t>
            </a:r>
            <a:r>
              <a:rPr lang="en-US" b="1" dirty="0"/>
              <a:t>AvidXchange</a:t>
            </a:r>
            <a:r>
              <a:rPr lang="en-US" dirty="0"/>
              <a:t> uses </a:t>
            </a:r>
            <a:r>
              <a:rPr lang="en-US" dirty="0" err="1"/>
              <a:t>Workato</a:t>
            </a:r>
            <a:r>
              <a:rPr lang="en-US" dirty="0"/>
              <a:t> as middleware between its application portal and Salesforce to automate customer and supplier onboarding</a:t>
            </a:r>
            <a:r>
              <a:rPr lang="en-US" dirty="0">
                <a:hlinkClick r:id="rId6"/>
              </a:rPr>
              <a:t>workato.com</a:t>
            </a:r>
            <a:r>
              <a:rPr lang="en-US" dirty="0"/>
              <a:t>. These successes show </a:t>
            </a:r>
            <a:r>
              <a:rPr lang="en-US" dirty="0" err="1"/>
              <a:t>Workato</a:t>
            </a:r>
            <a:r>
              <a:rPr lang="en-US" dirty="0"/>
              <a:t> delivering the fast, error-free processing that banks need to stay competitive.</a:t>
            </a:r>
          </a:p>
          <a:p>
            <a:r>
              <a:rPr lang="en-US" b="1" dirty="0"/>
              <a:t>Partner Ecosystem:</a:t>
            </a:r>
            <a:r>
              <a:rPr lang="en-US" dirty="0"/>
              <a:t> GSIs have deep financial services practices – </a:t>
            </a:r>
            <a:r>
              <a:rPr lang="en-US" b="1" dirty="0"/>
              <a:t>Deloitte, Accenture, PwC</a:t>
            </a:r>
            <a:r>
              <a:rPr lang="en-US" dirty="0"/>
              <a:t> all advise banks/insurers on digital transformation. In fact, Deloitte was recognized as </a:t>
            </a:r>
            <a:r>
              <a:rPr lang="en-US" dirty="0" err="1"/>
              <a:t>Workato’s</a:t>
            </a:r>
            <a:r>
              <a:rPr lang="en-US" dirty="0"/>
              <a:t> strategic partner of the year and has been co-developing </a:t>
            </a:r>
            <a:r>
              <a:rPr lang="en-US" b="1" dirty="0"/>
              <a:t>industry-specific orchestration use cases</a:t>
            </a:r>
            <a:r>
              <a:rPr lang="en-US" dirty="0"/>
              <a:t> for finance</a:t>
            </a:r>
            <a:r>
              <a:rPr lang="en-US" dirty="0">
                <a:hlinkClick r:id="rId7"/>
              </a:rPr>
              <a:t>deloitte.com</a:t>
            </a:r>
            <a:r>
              <a:rPr lang="en-US" dirty="0">
                <a:hlinkClick r:id="rId8"/>
              </a:rPr>
              <a:t>workato.com</a:t>
            </a:r>
            <a:r>
              <a:rPr lang="en-US" dirty="0"/>
              <a:t>. By prioritizing FS, we can leverage these partners’ domain knowledge and client relationships. Joint solutions (e.g. automating mortgage processing, or claims in insurance) will resonate given partners’ credibility.</a:t>
            </a:r>
          </a:p>
          <a:p>
            <a:r>
              <a:rPr lang="en-US" b="1" dirty="0"/>
              <a:t>Market Momentum:</a:t>
            </a:r>
            <a:r>
              <a:rPr lang="en-US" dirty="0"/>
              <a:t> Industry trends like </a:t>
            </a:r>
            <a:r>
              <a:rPr lang="en-US" b="1" dirty="0"/>
              <a:t>fintech disruption, open banking APIs, and stricter regulations</a:t>
            </a:r>
            <a:r>
              <a:rPr lang="en-US" dirty="0"/>
              <a:t> are forcing banks to integrate systems and automate manual workflows. Automation maturity is high but so are the stakes – nearly </a:t>
            </a:r>
            <a:r>
              <a:rPr lang="en-US" b="1" dirty="0"/>
              <a:t>98% of finance teams have invested in some process automation </a:t>
            </a:r>
            <a:r>
              <a:rPr lang="en-US" dirty="0">
                <a:hlinkClick r:id="rId9"/>
              </a:rPr>
              <a:t>solvexia.com</a:t>
            </a:r>
            <a:r>
              <a:rPr lang="en-US" dirty="0"/>
              <a:t>, yet most have only automated a fraction of their processes</a:t>
            </a:r>
            <a:r>
              <a:rPr lang="en-US" dirty="0">
                <a:hlinkClick r:id="rId10"/>
              </a:rPr>
              <a:t>solvexia.com</a:t>
            </a:r>
            <a:r>
              <a:rPr lang="en-US" dirty="0"/>
              <a:t>. This gap presents an opportunity: </a:t>
            </a:r>
            <a:r>
              <a:rPr lang="en-US" dirty="0" err="1"/>
              <a:t>Workato</a:t>
            </a:r>
            <a:r>
              <a:rPr lang="en-US" dirty="0"/>
              <a:t> can help FS organizations go from isolated bots to </a:t>
            </a:r>
            <a:r>
              <a:rPr lang="en-US" b="1" dirty="0"/>
              <a:t>end-to-end automation</a:t>
            </a:r>
            <a:r>
              <a:rPr lang="en-US" dirty="0"/>
              <a:t>, addressing both front-office needs (customer experience) and back-office efficiency (compliance, finance ops). Given the </a:t>
            </a:r>
            <a:r>
              <a:rPr lang="en-US" b="1" dirty="0"/>
              <a:t>strong ROI</a:t>
            </a:r>
            <a:r>
              <a:rPr lang="en-US" dirty="0"/>
              <a:t> – e.g. one </a:t>
            </a:r>
            <a:r>
              <a:rPr lang="en-US" dirty="0" err="1"/>
              <a:t>Workato</a:t>
            </a:r>
            <a:r>
              <a:rPr lang="en-US" dirty="0"/>
              <a:t> customer in banking saw a </a:t>
            </a:r>
            <a:r>
              <a:rPr lang="en-US" b="1" dirty="0"/>
              <a:t>40% reduction in IT operational costs</a:t>
            </a:r>
            <a:r>
              <a:rPr lang="en-US" dirty="0"/>
              <a:t> through automation</a:t>
            </a:r>
            <a:r>
              <a:rPr lang="en-US" dirty="0">
                <a:hlinkClick r:id="rId11"/>
              </a:rPr>
              <a:t>workato.com</a:t>
            </a:r>
            <a:r>
              <a:rPr lang="en-US" dirty="0"/>
              <a:t> – we expect quick wins that can be publicized as proof points.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953319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CD1F6427-D484-F62B-951F-EB3CBB912CAF}"/>
            </a:ext>
          </a:extLst>
        </p:cNvPr>
        <p:cNvGrpSpPr/>
        <p:nvPr/>
      </p:nvGrpSpPr>
      <p:grpSpPr>
        <a:xfrm>
          <a:off x="0" y="0"/>
          <a:ext cx="0" cy="0"/>
          <a:chOff x="0" y="0"/>
          <a:chExt cx="0" cy="0"/>
        </a:xfrm>
      </p:grpSpPr>
      <p:sp>
        <p:nvSpPr>
          <p:cNvPr id="150" name="Google Shape;150;g8802892f9b_0_0:notes">
            <a:extLst>
              <a:ext uri="{FF2B5EF4-FFF2-40B4-BE49-F238E27FC236}">
                <a16:creationId xmlns:a16="http://schemas.microsoft.com/office/drawing/2014/main" id="{A6323089-A53F-7737-F951-6A62C479E9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802892f9b_0_0:notes">
            <a:extLst>
              <a:ext uri="{FF2B5EF4-FFF2-40B4-BE49-F238E27FC236}">
                <a16:creationId xmlns:a16="http://schemas.microsoft.com/office/drawing/2014/main" id="{9B158452-9A4A-C422-26D3-D4416F20B3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Manufacturing &amp; Supply Chain</a:t>
            </a:r>
          </a:p>
          <a:p>
            <a:r>
              <a:rPr lang="en-US" b="1" dirty="0"/>
              <a:t>Rationale:</a:t>
            </a:r>
            <a:r>
              <a:rPr lang="en-US" dirty="0"/>
              <a:t> Manufacturing (including supply chain and logistics) is a vast sector undergoing rapid digital transformation (“Industry 4.0”). Manufacturers have complex </a:t>
            </a:r>
            <a:r>
              <a:rPr lang="en-US" b="1" dirty="0"/>
              <a:t>legacy ERPs, shop-floor systems, IoT devices, and global supply chain networks</a:t>
            </a:r>
            <a:r>
              <a:rPr lang="en-US" dirty="0"/>
              <a:t> that are often siloed – a perfect scenario for an integration and automation platform. The TAM is huge: global industrial firms spend hundreds of billions on automation and IT, and even mid-sized manufacturers need better connectivity. Partner strength is notable; firms like Accenture (through “Industry X”) and Deloitte have practices helping manufacturers modernize operations. </a:t>
            </a:r>
            <a:r>
              <a:rPr lang="en-US" dirty="0" err="1"/>
              <a:t>Workato’s</a:t>
            </a:r>
            <a:r>
              <a:rPr lang="en-US" dirty="0"/>
              <a:t> use cases around data integration and process orchestration align extremely well with manufacturing needs.</a:t>
            </a:r>
          </a:p>
          <a:p>
            <a:r>
              <a:rPr lang="en-US" b="1" dirty="0"/>
              <a:t>Automation Maturity:</a:t>
            </a:r>
            <a:r>
              <a:rPr lang="en-US" dirty="0"/>
              <a:t> Historically, manufacturing focused on physical automation (robots, control systems). But enterprise process automation maturity is </a:t>
            </a:r>
            <a:r>
              <a:rPr lang="en-US" b="1" dirty="0"/>
              <a:t>medium and rising</a:t>
            </a:r>
            <a:r>
              <a:rPr lang="en-US" dirty="0"/>
              <a:t> – many companies still rely on manual data handling across MES, ERP, procurement, etc., but are now investing in workflow automation to </a:t>
            </a:r>
            <a:r>
              <a:rPr lang="en-US" b="1" dirty="0"/>
              <a:t>stabilize supply chains and respond to demand volatility</a:t>
            </a:r>
            <a:r>
              <a:rPr lang="en-US" dirty="0">
                <a:hlinkClick r:id="rId3"/>
              </a:rPr>
              <a:t>mordorintelligence.com</a:t>
            </a:r>
            <a:r>
              <a:rPr lang="en-US" dirty="0"/>
              <a:t>. As IoT adoption grows, there’s an acute need to integrate sensor data with business systems in real-time. For example, manufacturers are leveraging automation to analyze machine data and trigger maintenance or quality checks instantly at the edge</a:t>
            </a:r>
            <a:r>
              <a:rPr lang="en-US" dirty="0">
                <a:hlinkClick r:id="rId4"/>
              </a:rPr>
              <a:t>mordorintelligence.com</a:t>
            </a:r>
            <a:r>
              <a:rPr lang="en-US" dirty="0"/>
              <a:t>. The sector is primed for </a:t>
            </a:r>
            <a:r>
              <a:rPr lang="en-US" dirty="0" err="1"/>
              <a:t>Workato</a:t>
            </a:r>
            <a:r>
              <a:rPr lang="en-US" dirty="0"/>
              <a:t> to introduce low-code integration as a complement to industrial automation.</a:t>
            </a:r>
          </a:p>
          <a:p>
            <a:r>
              <a:rPr lang="en-US" b="1" dirty="0"/>
              <a:t>Use Case Alignment:</a:t>
            </a:r>
            <a:r>
              <a:rPr lang="en-US" dirty="0"/>
              <a:t> Key processes in manufacturing/supply chain match </a:t>
            </a:r>
            <a:r>
              <a:rPr lang="en-US" dirty="0" err="1"/>
              <a:t>Workato’s</a:t>
            </a:r>
            <a:r>
              <a:rPr lang="en-US" dirty="0"/>
              <a:t> strengths:</a:t>
            </a:r>
          </a:p>
          <a:p>
            <a:pPr lvl="1"/>
            <a:r>
              <a:rPr lang="en-US" b="1" dirty="0"/>
              <a:t>Order-to-Cash and Supply Chain Integrations:</a:t>
            </a:r>
            <a:r>
              <a:rPr lang="en-US" dirty="0"/>
              <a:t> Connecting CRM orders to ERP fulfillment, inventory systems, and shipping providers to automate order processing and updates.</a:t>
            </a:r>
          </a:p>
          <a:p>
            <a:pPr lvl="1"/>
            <a:r>
              <a:rPr lang="en-US" b="1" dirty="0"/>
              <a:t>Procure-to-Pay:</a:t>
            </a:r>
            <a:r>
              <a:rPr lang="en-US" dirty="0"/>
              <a:t> Automating procurement workflows by integrating procurement apps with ERP and supplier portals.</a:t>
            </a:r>
          </a:p>
          <a:p>
            <a:pPr lvl="1"/>
            <a:r>
              <a:rPr lang="en-US" b="1" dirty="0"/>
              <a:t>IoT Data Orchestration:</a:t>
            </a:r>
            <a:r>
              <a:rPr lang="en-US" dirty="0"/>
              <a:t> Ingesting factory sensor/IoT data and integrating with maintenance systems or analytics platforms (e.g. trigger a </a:t>
            </a:r>
            <a:r>
              <a:rPr lang="en-US" dirty="0" err="1"/>
              <a:t>Workato</a:t>
            </a:r>
            <a:r>
              <a:rPr lang="en-US" dirty="0"/>
              <a:t> recipe when a machine sensor flags an anomaly, to create a service ticket in ServiceNow).</a:t>
            </a:r>
          </a:p>
          <a:p>
            <a:pPr lvl="1"/>
            <a:r>
              <a:rPr lang="en-US" b="1" dirty="0"/>
              <a:t>Employee and Partner Onboarding:</a:t>
            </a:r>
            <a:r>
              <a:rPr lang="en-US" dirty="0"/>
              <a:t> Large manufacturers onboard thousands of employees and contractors across plants – </a:t>
            </a:r>
            <a:r>
              <a:rPr lang="en-US" dirty="0" err="1"/>
              <a:t>Workato</a:t>
            </a:r>
            <a:r>
              <a:rPr lang="en-US" dirty="0"/>
              <a:t> can automate user account setups, training enrollment, etc., similar to HR use cases in other industries.</a:t>
            </a:r>
          </a:p>
          <a:p>
            <a:r>
              <a:rPr lang="en-US" dirty="0"/>
              <a:t>Real-world examples underscore the fit. </a:t>
            </a:r>
            <a:r>
              <a:rPr lang="en-US" b="1" dirty="0"/>
              <a:t>Marel</a:t>
            </a:r>
            <a:r>
              <a:rPr lang="en-US" dirty="0"/>
              <a:t>, a global food equipment manufacturer, uses </a:t>
            </a:r>
            <a:r>
              <a:rPr lang="en-US" dirty="0" err="1"/>
              <a:t>Workato</a:t>
            </a:r>
            <a:r>
              <a:rPr lang="en-US" dirty="0"/>
              <a:t> to automate internal processes (employee onboarding/offboarding, inter-company sales data sync) to ensure every system has </a:t>
            </a:r>
            <a:r>
              <a:rPr lang="en-US" b="1" dirty="0"/>
              <a:t>standardized, clean data in near real time</a:t>
            </a:r>
            <a:r>
              <a:rPr lang="en-US" dirty="0">
                <a:hlinkClick r:id="rId5"/>
              </a:rPr>
              <a:t>workato.com</a:t>
            </a:r>
            <a:r>
              <a:rPr lang="en-US" dirty="0"/>
              <a:t>. This unified data flow is invaluable in a volatile supply chain environment. Another example in retail/manufacturing: </a:t>
            </a:r>
            <a:r>
              <a:rPr lang="en-US" b="1" dirty="0"/>
              <a:t>Payless</a:t>
            </a:r>
            <a:r>
              <a:rPr lang="en-US" dirty="0"/>
              <a:t> utilized </a:t>
            </a:r>
            <a:r>
              <a:rPr lang="en-US" dirty="0" err="1"/>
              <a:t>Workato</a:t>
            </a:r>
            <a:r>
              <a:rPr lang="en-US" dirty="0"/>
              <a:t> to unify its data warehouse across four different payroll systems, saving 40% in IT costs and simplifying compliance across regions</a:t>
            </a:r>
            <a:r>
              <a:rPr lang="en-US" dirty="0">
                <a:hlinkClick r:id="rId6"/>
              </a:rPr>
              <a:t>workato.com</a:t>
            </a:r>
            <a:r>
              <a:rPr lang="en-US" dirty="0"/>
              <a:t>. These cases show that integrating systems end-to-end – from R&amp;D and production to sales, HR, and finance – yields huge efficiency gains for manufacturers.</a:t>
            </a:r>
          </a:p>
          <a:p>
            <a:r>
              <a:rPr lang="en-US" b="1" dirty="0"/>
              <a:t>Partner Ecosystem:</a:t>
            </a:r>
            <a:r>
              <a:rPr lang="en-US" dirty="0"/>
              <a:t> Manufacturing transformation often involves big consultancies for systems integration (SAP/ERP experts, IoT specialists). </a:t>
            </a:r>
            <a:r>
              <a:rPr lang="en-US" b="1" dirty="0"/>
              <a:t>Accenture</a:t>
            </a:r>
            <a:r>
              <a:rPr lang="en-US" dirty="0"/>
              <a:t> in particular is a strong ally here – they have a dedicated Industry X group focusing on smart factory and supply chain automation, and they’ve been recognized as </a:t>
            </a:r>
            <a:r>
              <a:rPr lang="en-US" dirty="0" err="1"/>
              <a:t>Workato’s</a:t>
            </a:r>
            <a:r>
              <a:rPr lang="en-US" dirty="0"/>
              <a:t> “Best Digital Innovation </a:t>
            </a:r>
            <a:r>
              <a:rPr lang="en-US" dirty="0" err="1"/>
              <a:t>Partner”</a:t>
            </a:r>
            <a:r>
              <a:rPr lang="en-US" dirty="0" err="1">
                <a:hlinkClick r:id="rId7"/>
              </a:rPr>
              <a:t>workato.com</a:t>
            </a:r>
            <a:r>
              <a:rPr lang="en-US" dirty="0"/>
              <a:t>. We can partner with Accenture (and others like Deloitte’s supply chain practice) to build solutions such as </a:t>
            </a:r>
            <a:r>
              <a:rPr lang="en-US" b="1" dirty="0"/>
              <a:t>“Connected Factory”</a:t>
            </a:r>
            <a:r>
              <a:rPr lang="en-US" dirty="0"/>
              <a:t> frameworks (e.g. integrating factory floor data with enterprise applications). Partners bring domain IP (e.g. templates for SAP integration, industry-specific compliance) that, combined with </a:t>
            </a:r>
            <a:r>
              <a:rPr lang="en-US" dirty="0" err="1"/>
              <a:t>Workato’s</a:t>
            </a:r>
            <a:r>
              <a:rPr lang="en-US" dirty="0"/>
              <a:t> platform, result in ready-made solutions for manufacturing clients. Given that </a:t>
            </a:r>
            <a:r>
              <a:rPr lang="en-US" b="1" dirty="0"/>
              <a:t>automation in manufacturing is pivotal for shop-floor decisions and quality control</a:t>
            </a:r>
            <a:r>
              <a:rPr lang="en-US" dirty="0">
                <a:hlinkClick r:id="rId3"/>
              </a:rPr>
              <a:t>mordorintelligence.com</a:t>
            </a:r>
            <a:r>
              <a:rPr lang="en-US" dirty="0"/>
              <a:t>, our joint offerings can directly address those mission-critical needs.</a:t>
            </a:r>
          </a:p>
          <a:p>
            <a:r>
              <a:rPr lang="en-US" b="1" dirty="0"/>
              <a:t>Market Momentum:</a:t>
            </a:r>
            <a:r>
              <a:rPr lang="en-US" dirty="0"/>
              <a:t> Current trends amplify the need for </a:t>
            </a:r>
            <a:r>
              <a:rPr lang="en-US" dirty="0" err="1"/>
              <a:t>Workato</a:t>
            </a:r>
            <a:r>
              <a:rPr lang="en-US" dirty="0"/>
              <a:t> in this vertical. </a:t>
            </a:r>
            <a:r>
              <a:rPr lang="en-US" b="1" dirty="0"/>
              <a:t>Supply chain disruptions</a:t>
            </a:r>
            <a:r>
              <a:rPr lang="en-US" dirty="0"/>
              <a:t> have highlighted the importance of real-time data flow between manufacturers, suppliers, and logistics providers. Many are investing in </a:t>
            </a:r>
            <a:r>
              <a:rPr lang="en-US" b="1" dirty="0"/>
              <a:t>resilience</a:t>
            </a:r>
            <a:r>
              <a:rPr lang="en-US" dirty="0"/>
              <a:t> – for example, deploying automation to instantly reroute orders or update customers when delays occur</a:t>
            </a:r>
            <a:r>
              <a:rPr lang="en-US" dirty="0">
                <a:hlinkClick r:id="rId3"/>
              </a:rPr>
              <a:t>mordorintelligence.com</a:t>
            </a:r>
            <a:r>
              <a:rPr lang="en-US" dirty="0"/>
              <a:t>. Sustainability and compliance requirements (e.g. environmental reporting) also demand better data integration across operations</a:t>
            </a:r>
            <a:r>
              <a:rPr lang="en-US" dirty="0">
                <a:hlinkClick r:id="rId3"/>
              </a:rPr>
              <a:t>mordorintelligence.com</a:t>
            </a:r>
            <a:r>
              <a:rPr lang="en-US" dirty="0"/>
              <a:t>. Furthermore, as manufacturing firms adopt more cloud apps (for PLM, asset management, etc.), the integration challenge grows. </a:t>
            </a:r>
            <a:r>
              <a:rPr lang="en-US" dirty="0" err="1"/>
              <a:t>Workato’s</a:t>
            </a:r>
            <a:r>
              <a:rPr lang="en-US" dirty="0"/>
              <a:t> low-code approach allows even non-IT staff (like plant operations or business analysts) to create automations under IT governance, which is a big plus in resource-constrained IT environments. By prioritizing manufacturing, </a:t>
            </a:r>
            <a:r>
              <a:rPr lang="en-US" dirty="0" err="1"/>
              <a:t>Workato</a:t>
            </a:r>
            <a:r>
              <a:rPr lang="en-US" dirty="0"/>
              <a:t> can position itself as the </a:t>
            </a:r>
            <a:r>
              <a:rPr lang="en-US" b="1" dirty="0"/>
              <a:t>digital glue of Industry 4.0</a:t>
            </a:r>
            <a:r>
              <a:rPr lang="en-US" dirty="0"/>
              <a:t>, supported by strong partner credentials in this space.</a:t>
            </a:r>
          </a:p>
        </p:txBody>
      </p:sp>
    </p:spTree>
    <p:extLst>
      <p:ext uri="{BB962C8B-B14F-4D97-AF65-F5344CB8AC3E}">
        <p14:creationId xmlns:p14="http://schemas.microsoft.com/office/powerpoint/2010/main" val="2922641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74770126-1838-D36E-508D-E703647E8152}"/>
            </a:ext>
          </a:extLst>
        </p:cNvPr>
        <p:cNvGrpSpPr/>
        <p:nvPr/>
      </p:nvGrpSpPr>
      <p:grpSpPr>
        <a:xfrm>
          <a:off x="0" y="0"/>
          <a:ext cx="0" cy="0"/>
          <a:chOff x="0" y="0"/>
          <a:chExt cx="0" cy="0"/>
        </a:xfrm>
      </p:grpSpPr>
      <p:sp>
        <p:nvSpPr>
          <p:cNvPr id="150" name="Google Shape;150;g8802892f9b_0_0:notes">
            <a:extLst>
              <a:ext uri="{FF2B5EF4-FFF2-40B4-BE49-F238E27FC236}">
                <a16:creationId xmlns:a16="http://schemas.microsoft.com/office/drawing/2014/main" id="{48535582-4329-C197-412B-C39DD4289A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802892f9b_0_0:notes">
            <a:extLst>
              <a:ext uri="{FF2B5EF4-FFF2-40B4-BE49-F238E27FC236}">
                <a16:creationId xmlns:a16="http://schemas.microsoft.com/office/drawing/2014/main" id="{0433943F-7AC1-D32B-A5F6-EE79FE7A58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a:t>3</a:t>
            </a:r>
            <a:r>
              <a:rPr lang="en-US" b="1" dirty="0"/>
              <a:t>. Healthcare &amp; Life Sciences</a:t>
            </a:r>
          </a:p>
          <a:p>
            <a:r>
              <a:rPr lang="en-US" b="1" dirty="0"/>
              <a:t>Rationale:</a:t>
            </a:r>
            <a:r>
              <a:rPr lang="en-US" dirty="0"/>
              <a:t> Healthcare (including providers, hospitals, and payers) and Life Sciences (pharmaceuticals, biotech, medical devices) form another giant industry where automation needs are now acute. While historically slower to adopt new tech due to regulations and legacy systems, healthcare is at a </a:t>
            </a:r>
            <a:r>
              <a:rPr lang="en-US" b="1" dirty="0"/>
              <a:t>tipping point for digital transformation</a:t>
            </a:r>
            <a:r>
              <a:rPr lang="en-US" dirty="0"/>
              <a:t> – especially post-pandemic with telehealth, staffing shortages, and the drive for efficiency. The TAM is enormous: healthcare is one of the largest global sectors by spend. Partner strength is solid, as GSIs like Deloitte and PwC have major healthcare consulting divisions (Deloitte explicitly calls out </a:t>
            </a:r>
            <a:r>
              <a:rPr lang="en-US" b="1" dirty="0"/>
              <a:t>life sciences</a:t>
            </a:r>
            <a:r>
              <a:rPr lang="en-US" dirty="0"/>
              <a:t> as a focus with Workato</a:t>
            </a:r>
            <a:r>
              <a:rPr lang="en-US" dirty="0">
                <a:hlinkClick r:id="rId3"/>
              </a:rPr>
              <a:t>deloitte.com</a:t>
            </a:r>
            <a:r>
              <a:rPr lang="en-US" dirty="0"/>
              <a:t>). </a:t>
            </a:r>
            <a:r>
              <a:rPr lang="en-US" dirty="0" err="1"/>
              <a:t>Workato’s</a:t>
            </a:r>
            <a:r>
              <a:rPr lang="en-US" dirty="0"/>
              <a:t> platform can help healthcare organizations connect their fragmented systems and automate manual workflows, improving both operational efficiency and patient outcomes.</a:t>
            </a:r>
          </a:p>
          <a:p>
            <a:r>
              <a:rPr lang="en-US" b="1" dirty="0"/>
              <a:t>Automation Maturity:</a:t>
            </a:r>
            <a:r>
              <a:rPr lang="en-US" dirty="0"/>
              <a:t> Currently </a:t>
            </a:r>
            <a:r>
              <a:rPr lang="en-US" b="1" dirty="0"/>
              <a:t>moderate but rapidly growing</a:t>
            </a:r>
            <a:r>
              <a:rPr lang="en-US" dirty="0"/>
              <a:t>. Healthcare organizations have begun automating administrative tasks (e.g. scheduling, billing) but many processes remain manual or paper-based. Notably, </a:t>
            </a:r>
            <a:r>
              <a:rPr lang="en-US" b="1" dirty="0"/>
              <a:t>Healthcare and Pharma are projected to see the fastest automation growth (~11% CAGR)</a:t>
            </a:r>
            <a:r>
              <a:rPr lang="en-US" dirty="0"/>
              <a:t> through 2030</a:t>
            </a:r>
            <a:r>
              <a:rPr lang="en-US" dirty="0">
                <a:hlinkClick r:id="rId4"/>
              </a:rPr>
              <a:t>mordorintelligence.com</a:t>
            </a:r>
            <a:r>
              <a:rPr lang="en-US" dirty="0"/>
              <a:t>, indicating a strong upcoming demand for solutions. We’re already seeing early signs: for instance, hospitals are experimenting with automation + AI, like analyzing unstructured clinical notes with AI to trigger care workflows (e.g. flagging sepsis risk and automating alerts)</a:t>
            </a:r>
            <a:r>
              <a:rPr lang="en-US" dirty="0">
                <a:hlinkClick r:id="rId5"/>
              </a:rPr>
              <a:t>mordorintelligence.com</a:t>
            </a:r>
            <a:r>
              <a:rPr lang="en-US" dirty="0"/>
              <a:t>. This suggests openness to modern automation platforms. However, many healthcare institutions lack large IT teams, so a low-code solution like </a:t>
            </a:r>
            <a:r>
              <a:rPr lang="en-US" dirty="0" err="1"/>
              <a:t>Workato</a:t>
            </a:r>
            <a:r>
              <a:rPr lang="en-US" dirty="0"/>
              <a:t> (with strong governance and security) is very attractive as they mature.</a:t>
            </a:r>
          </a:p>
          <a:p>
            <a:r>
              <a:rPr lang="en-US" b="1" dirty="0"/>
              <a:t>Use Case Alignment:</a:t>
            </a:r>
            <a:r>
              <a:rPr lang="en-US" dirty="0"/>
              <a:t> There are high-impact use cases in healthcare/</a:t>
            </a:r>
            <a:r>
              <a:rPr lang="en-US" dirty="0" err="1"/>
              <a:t>LifeSci</a:t>
            </a:r>
            <a:r>
              <a:rPr lang="en-US" dirty="0"/>
              <a:t> where </a:t>
            </a:r>
            <a:r>
              <a:rPr lang="en-US" dirty="0" err="1"/>
              <a:t>Workato</a:t>
            </a:r>
            <a:r>
              <a:rPr lang="en-US" dirty="0"/>
              <a:t> excels:</a:t>
            </a:r>
          </a:p>
          <a:p>
            <a:pPr lvl="1"/>
            <a:r>
              <a:rPr lang="en-US" b="1" dirty="0"/>
              <a:t>Employee Onboarding &amp; Credentialing:</a:t>
            </a:r>
            <a:r>
              <a:rPr lang="en-US" dirty="0"/>
              <a:t> Hospitals and clinics face chronic staff shortages and high turnover. Automating onboarding (account setup, training, credential verification across HR and clinical systems) saves critical time. </a:t>
            </a:r>
            <a:r>
              <a:rPr lang="en-US" b="1" dirty="0" err="1"/>
              <a:t>Vituity</a:t>
            </a:r>
            <a:r>
              <a:rPr lang="en-US" dirty="0"/>
              <a:t>, a leading acute care provider, automated its physician onboarding with </a:t>
            </a:r>
            <a:r>
              <a:rPr lang="en-US" dirty="0" err="1"/>
              <a:t>Workato</a:t>
            </a:r>
            <a:r>
              <a:rPr lang="en-US" dirty="0"/>
              <a:t> and saw </a:t>
            </a:r>
            <a:r>
              <a:rPr lang="en-US" b="1" dirty="0"/>
              <a:t>20–30% faster productivity in bringing new clinicians on board</a:t>
            </a:r>
            <a:r>
              <a:rPr lang="en-US" dirty="0">
                <a:hlinkClick r:id="rId6"/>
              </a:rPr>
              <a:t>workato.com</a:t>
            </a:r>
            <a:r>
              <a:rPr lang="en-US" dirty="0"/>
              <a:t>. This directly addresses the staffing challenge by getting doctors and nurses to the bedside faster.</a:t>
            </a:r>
          </a:p>
          <a:p>
            <a:pPr lvl="1"/>
            <a:r>
              <a:rPr lang="en-US" b="1" dirty="0"/>
              <a:t>Patient Intake and Referrals:</a:t>
            </a:r>
            <a:r>
              <a:rPr lang="en-US" dirty="0"/>
              <a:t> Integrating electronic health record (EHR) systems with scheduling, insurance, and communication tools to streamline patient admissions or referrals. For example, automating the transfer of patient data from a hospital EHR to a specialist clinic’s system could eliminate faxing and delays – </a:t>
            </a:r>
            <a:r>
              <a:rPr lang="en-US" dirty="0" err="1"/>
              <a:t>Workato</a:t>
            </a:r>
            <a:r>
              <a:rPr lang="en-US" dirty="0"/>
              <a:t> can securely orchestrate these data flows (with HIPAA compliance features).</a:t>
            </a:r>
          </a:p>
          <a:p>
            <a:pPr lvl="1"/>
            <a:r>
              <a:rPr lang="en-US" b="1" dirty="0"/>
              <a:t>Claims Processing and Billing (Healthcare Payers):</a:t>
            </a:r>
            <a:r>
              <a:rPr lang="en-US" dirty="0"/>
              <a:t> Automating the hand-off between healthcare providers, insurance systems, and billing. </a:t>
            </a:r>
            <a:r>
              <a:rPr lang="en-US" dirty="0" err="1"/>
              <a:t>Workato</a:t>
            </a:r>
            <a:r>
              <a:rPr lang="en-US" dirty="0"/>
              <a:t> can integrate claims management software with finance and even use bots to validate claim data, reducing errors and approval times. (Notably, some healthcare providers using RPA have achieved </a:t>
            </a:r>
            <a:r>
              <a:rPr lang="en-US" b="1" dirty="0"/>
              <a:t>90% accuracy improvements</a:t>
            </a:r>
            <a:r>
              <a:rPr lang="en-US" dirty="0"/>
              <a:t> in claims adjudication and reporting</a:t>
            </a:r>
            <a:r>
              <a:rPr lang="en-US" dirty="0">
                <a:hlinkClick r:id="rId7"/>
              </a:rPr>
              <a:t>mordorintelligence.com</a:t>
            </a:r>
            <a:r>
              <a:rPr lang="en-US" dirty="0"/>
              <a:t> – a benchmark </a:t>
            </a:r>
            <a:r>
              <a:rPr lang="en-US" dirty="0" err="1"/>
              <a:t>Workato</a:t>
            </a:r>
            <a:r>
              <a:rPr lang="en-US" dirty="0"/>
              <a:t> can meet or exceed with end-to-end integration).</a:t>
            </a:r>
          </a:p>
          <a:p>
            <a:pPr lvl="1"/>
            <a:r>
              <a:rPr lang="en-US" b="1" dirty="0"/>
              <a:t>Life Sciences Data Integration:</a:t>
            </a:r>
            <a:r>
              <a:rPr lang="en-US" dirty="0"/>
              <a:t> In pharma/biotech, </a:t>
            </a:r>
            <a:r>
              <a:rPr lang="en-US" dirty="0" err="1"/>
              <a:t>Workato</a:t>
            </a:r>
            <a:r>
              <a:rPr lang="en-US" dirty="0"/>
              <a:t> can connect systems like clinical trial management, lab information systems, and CRMs. A use case might be automating the flow of clinical trial data from research sites to a central database and to reporting tools, ensuring faster insights and compliance with FDA reporting timelines.</a:t>
            </a:r>
          </a:p>
          <a:p>
            <a:r>
              <a:rPr lang="en-US" dirty="0"/>
              <a:t>Overall, </a:t>
            </a:r>
            <a:r>
              <a:rPr lang="en-US" dirty="0" err="1"/>
              <a:t>Workato’s</a:t>
            </a:r>
            <a:r>
              <a:rPr lang="en-US" dirty="0"/>
              <a:t> ability to </a:t>
            </a:r>
            <a:r>
              <a:rPr lang="en-US" b="1" dirty="0"/>
              <a:t>unify data from fractured systems</a:t>
            </a:r>
            <a:r>
              <a:rPr lang="en-US" dirty="0"/>
              <a:t> is a game-changer for healthcare</a:t>
            </a:r>
            <a:r>
              <a:rPr lang="en-US" dirty="0">
                <a:hlinkClick r:id="rId8"/>
              </a:rPr>
              <a:t>workato.com</a:t>
            </a:r>
            <a:r>
              <a:rPr lang="en-US" dirty="0"/>
              <a:t>. Many providers still struggle with data trapped in different silos (EMRs, insurance portals, etc.). </a:t>
            </a:r>
            <a:r>
              <a:rPr lang="en-US" dirty="0" err="1"/>
              <a:t>Workato</a:t>
            </a:r>
            <a:r>
              <a:rPr lang="en-US" dirty="0"/>
              <a:t> recipes can bridge these gaps – for example, linking ambulance service data with ER admission systems to trigger pre-registrations, or syncing vaccine inventory data with state databases automatically. The result is better patient experiences and reduced admin burden on staff.</a:t>
            </a:r>
          </a:p>
          <a:p>
            <a:r>
              <a:rPr lang="en-US" b="1" dirty="0"/>
              <a:t>Partner Ecosystem:</a:t>
            </a:r>
            <a:r>
              <a:rPr lang="en-US" dirty="0"/>
              <a:t> All major GSIs have healthcare and life sciences expertise which we can leverage. </a:t>
            </a:r>
            <a:r>
              <a:rPr lang="en-US" b="1" dirty="0"/>
              <a:t>Deloitte</a:t>
            </a:r>
            <a:r>
              <a:rPr lang="en-US" dirty="0"/>
              <a:t>, for instance, has a healthcare consulting arm and is already inclined to build solutions with </a:t>
            </a:r>
            <a:r>
              <a:rPr lang="en-US" dirty="0" err="1"/>
              <a:t>Workato</a:t>
            </a:r>
            <a:r>
              <a:rPr lang="en-US" dirty="0"/>
              <a:t> (our alliance mentions life sciences explicitly)</a:t>
            </a:r>
            <a:r>
              <a:rPr lang="en-US" dirty="0">
                <a:hlinkClick r:id="rId3"/>
              </a:rPr>
              <a:t>deloitte.com</a:t>
            </a:r>
            <a:r>
              <a:rPr lang="en-US" dirty="0"/>
              <a:t>. A partnership might involve creating templates for, say, “Connected Hospital Operations” or “Pharma Clinical Operations Hub” using </a:t>
            </a:r>
            <a:r>
              <a:rPr lang="en-US" dirty="0" err="1"/>
              <a:t>Workato</a:t>
            </a:r>
            <a:r>
              <a:rPr lang="en-US" dirty="0"/>
              <a:t>. These could include pre-built integrations (e.g. </a:t>
            </a:r>
            <a:r>
              <a:rPr lang="en-US" dirty="0" err="1"/>
              <a:t>Workato</a:t>
            </a:r>
            <a:r>
              <a:rPr lang="en-US" dirty="0"/>
              <a:t> connectors for Epic or Cerner EHRs, Veeva Vault for pharma, etc.) accompanied by Deloitte’s process blueprints. By focusing on this industry, we also tap into specialized tech partners (like EHR vendors, or healthcare ISVs) that can extend our platform’s reach. The credibility of a partner is key in this conservative sector – having, say, PwC or Deloitte co-create an automation playbook for healthcare finance or compliance will reassure clients about security and best practices.</a:t>
            </a:r>
          </a:p>
          <a:p>
            <a:r>
              <a:rPr lang="en-US" b="1" dirty="0"/>
              <a:t>Market Momentum:</a:t>
            </a:r>
            <a:r>
              <a:rPr lang="en-US" dirty="0"/>
              <a:t> The timing is right: </a:t>
            </a:r>
            <a:r>
              <a:rPr lang="en-US" b="1" dirty="0"/>
              <a:t>post-COVID digital health initiatives</a:t>
            </a:r>
            <a:r>
              <a:rPr lang="en-US" dirty="0"/>
              <a:t>, value-based care models, and cost pressures are pushing healthcare providers to seek efficiency through automation. Additionally, </a:t>
            </a:r>
            <a:r>
              <a:rPr lang="en-US" b="1" dirty="0"/>
              <a:t>life sciences</a:t>
            </a:r>
            <a:r>
              <a:rPr lang="en-US" dirty="0"/>
              <a:t> companies are adopting digital workflows for R&amp;D and supply chain (e.g. automating drug safety reporting, connecting manufacturing data for FDA compliance). </a:t>
            </a:r>
            <a:r>
              <a:rPr lang="en-US" dirty="0" err="1"/>
              <a:t>Workato</a:t>
            </a:r>
            <a:r>
              <a:rPr lang="en-US" dirty="0"/>
              <a:t> can ride this wave by providing an </a:t>
            </a:r>
            <a:r>
              <a:rPr lang="en-US" b="1" dirty="0"/>
              <a:t>enterprise-grade, secure automation platform</a:t>
            </a:r>
            <a:r>
              <a:rPr lang="en-US" dirty="0"/>
              <a:t> that both IT and medical operations teams can use. Early success stories (like </a:t>
            </a:r>
            <a:r>
              <a:rPr lang="en-US" dirty="0" err="1"/>
              <a:t>Vituity</a:t>
            </a:r>
            <a:r>
              <a:rPr lang="en-US" dirty="0"/>
              <a:t>) show that even a 20% productivity gain in a process can translate to faster patient service</a:t>
            </a:r>
            <a:r>
              <a:rPr lang="en-US" dirty="0">
                <a:hlinkClick r:id="rId6"/>
              </a:rPr>
              <a:t>workato.com</a:t>
            </a:r>
            <a:r>
              <a:rPr lang="en-US" dirty="0"/>
              <a:t> – exactly the kind of impact healthcare executives are looking for. With focused messaging (e.g. how </a:t>
            </a:r>
            <a:r>
              <a:rPr lang="en-US" dirty="0" err="1"/>
              <a:t>Workato</a:t>
            </a:r>
            <a:r>
              <a:rPr lang="en-US" dirty="0"/>
              <a:t> helps </a:t>
            </a:r>
            <a:r>
              <a:rPr lang="en-US" i="1" dirty="0"/>
              <a:t>“do more with less”</a:t>
            </a:r>
            <a:r>
              <a:rPr lang="en-US" dirty="0"/>
              <a:t> amid staff shortages) and partner-backed solutions, we can rapidly build momentum in this vertical.</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38664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EC9CA91-8FC6-D4FD-C2B4-CE7140706C88}"/>
            </a:ext>
          </a:extLst>
        </p:cNvPr>
        <p:cNvGrpSpPr/>
        <p:nvPr/>
      </p:nvGrpSpPr>
      <p:grpSpPr>
        <a:xfrm>
          <a:off x="0" y="0"/>
          <a:ext cx="0" cy="0"/>
          <a:chOff x="0" y="0"/>
          <a:chExt cx="0" cy="0"/>
        </a:xfrm>
      </p:grpSpPr>
      <p:sp>
        <p:nvSpPr>
          <p:cNvPr id="106" name="Google Shape;106;g9a3045a12c_1_10:notes">
            <a:extLst>
              <a:ext uri="{FF2B5EF4-FFF2-40B4-BE49-F238E27FC236}">
                <a16:creationId xmlns:a16="http://schemas.microsoft.com/office/drawing/2014/main" id="{70B7790A-E659-CF20-C902-8A152F2C64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9a3045a12c_1_10:notes">
            <a:extLst>
              <a:ext uri="{FF2B5EF4-FFF2-40B4-BE49-F238E27FC236}">
                <a16:creationId xmlns:a16="http://schemas.microsoft.com/office/drawing/2014/main" id="{C832AFF4-ECFE-5EAE-19BC-0CC9B04178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By standardizing the BoM across industries, we also create efficiency – the company isn’t reinventing the wheel for each new vertical. We use a </a:t>
            </a:r>
            <a:r>
              <a:rPr lang="en-US" b="1" dirty="0"/>
              <a:t>scalable approach</a:t>
            </a:r>
            <a:r>
              <a:rPr lang="en-US" dirty="0"/>
              <a:t>: pick an industry, plug it into the BoM framework, and quickly generate the needed positioning and materials. This approach is validated by market leaders – research notes that top automation vendors defend market share by developing </a:t>
            </a:r>
            <a:r>
              <a:rPr lang="en-US" b="1" dirty="0"/>
              <a:t>vertical-specific templates and solutions. </a:t>
            </a:r>
            <a:r>
              <a:rPr lang="en-US" dirty="0" err="1"/>
              <a:t>Workato</a:t>
            </a:r>
            <a:r>
              <a:rPr lang="en-US" dirty="0"/>
              <a:t> will do the same, establishing an </a:t>
            </a:r>
            <a:r>
              <a:rPr lang="en-US" b="1" dirty="0"/>
              <a:t>“industry playbook”</a:t>
            </a:r>
            <a:r>
              <a:rPr lang="en-US" dirty="0"/>
              <a:t> that can be executed repeatedly, leading to faster growth in each new vertical we prioritize.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57921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8802892f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802892f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b="1" dirty="0"/>
          </a:p>
          <a:p>
            <a:pPr marL="158750" indent="0">
              <a:buNone/>
            </a:pPr>
            <a:r>
              <a:rPr lang="en-US" b="1" dirty="0"/>
              <a:t>Strategic Note – Execution Overlay:</a:t>
            </a:r>
            <a:r>
              <a:rPr lang="en-US" dirty="0"/>
              <a:t> </a:t>
            </a:r>
            <a:r>
              <a:rPr lang="en-US" i="1" dirty="0"/>
              <a:t>Industry selection is not just a strategic analysis exercise; it </a:t>
            </a:r>
            <a:r>
              <a:rPr lang="en-US" b="1" i="1" dirty="0"/>
              <a:t>must</a:t>
            </a:r>
            <a:r>
              <a:rPr lang="en-US" i="1" dirty="0"/>
              <a:t> be grounded in go-to-market execution realities.</a:t>
            </a:r>
            <a:r>
              <a:rPr lang="en-US" dirty="0"/>
              <a:t> Even if an industry looks attractive on paper, </a:t>
            </a:r>
            <a:r>
              <a:rPr lang="en-US" dirty="0" err="1"/>
              <a:t>Workato’s</a:t>
            </a:r>
            <a:r>
              <a:rPr lang="en-US" dirty="0"/>
              <a:t> ability to </a:t>
            </a:r>
            <a:r>
              <a:rPr lang="en-US" b="1" dirty="0"/>
              <a:t>succeed</a:t>
            </a:r>
            <a:r>
              <a:rPr lang="en-US" dirty="0"/>
              <a:t> in that vertical hinges on having the right enablement in place. In practice, customers in target industries expect to engage with </a:t>
            </a:r>
            <a:r>
              <a:rPr lang="en-US" b="1" dirty="0"/>
              <a:t>field-facing subject matter experts (SMEs)</a:t>
            </a:r>
            <a:r>
              <a:rPr lang="en-US" dirty="0"/>
              <a:t> who truly understand their domain. These SMEs are essential to work closely with customers, </a:t>
            </a:r>
            <a:r>
              <a:rPr lang="en-US" b="1" dirty="0"/>
              <a:t>shape industry-specific messaging</a:t>
            </a:r>
            <a:r>
              <a:rPr lang="en-US" dirty="0"/>
              <a:t>, and pinpoint high-value use cases – ultimately building credibility. (In fact, in vertical SaaS, buyers often demand to talk to a </a:t>
            </a:r>
            <a:r>
              <a:rPr lang="en-US" b="1" dirty="0"/>
              <a:t>domain expert</a:t>
            </a:r>
            <a:r>
              <a:rPr lang="en-US" dirty="0"/>
              <a:t>; generic reps without domain knowledge “often literally close </a:t>
            </a:r>
            <a:r>
              <a:rPr lang="en-US" dirty="0" err="1"/>
              <a:t>nothing”</a:t>
            </a:r>
            <a:r>
              <a:rPr lang="en-US" dirty="0" err="1">
                <a:hlinkClick r:id="rId3"/>
              </a:rPr>
              <a:t>saastr.com</a:t>
            </a:r>
            <a:r>
              <a:rPr lang="en-US" dirty="0"/>
              <a:t>.)</a:t>
            </a:r>
          </a:p>
          <a:p>
            <a:pPr marL="158750" indent="0">
              <a:buNone/>
            </a:pPr>
            <a:endParaRPr lang="en-US" dirty="0"/>
          </a:p>
          <a:p>
            <a:r>
              <a:rPr lang="en-US" dirty="0"/>
              <a:t>Additionally, success requires </a:t>
            </a:r>
            <a:r>
              <a:rPr lang="en-US" b="1" dirty="0"/>
              <a:t>product-fluent marketers or solution consultants</a:t>
            </a:r>
            <a:r>
              <a:rPr lang="en-US" dirty="0"/>
              <a:t> who can translate that industry expertise into </a:t>
            </a:r>
            <a:r>
              <a:rPr lang="en-US" b="1" dirty="0"/>
              <a:t>repeatable, scalable solutions</a:t>
            </a:r>
            <a:r>
              <a:rPr lang="en-US" dirty="0"/>
              <a:t> on </a:t>
            </a:r>
            <a:r>
              <a:rPr lang="en-US" dirty="0" err="1"/>
              <a:t>Workato’s</a:t>
            </a:r>
            <a:r>
              <a:rPr lang="en-US" dirty="0"/>
              <a:t> core automation platform. This means having team members capable of rapidly building and packaging industry-specific “recipes” and integration templates that can be reused across multiple clients. (For example, effective </a:t>
            </a:r>
            <a:r>
              <a:rPr lang="en-US" dirty="0" err="1"/>
              <a:t>Workato</a:t>
            </a:r>
            <a:r>
              <a:rPr lang="en-US" dirty="0"/>
              <a:t> enablement involves developing </a:t>
            </a:r>
            <a:r>
              <a:rPr lang="en-US" b="1" dirty="0"/>
              <a:t>reusable connectors and automation templates</a:t>
            </a:r>
            <a:r>
              <a:rPr lang="en-US" dirty="0"/>
              <a:t> for common workflows</a:t>
            </a:r>
            <a:r>
              <a:rPr lang="en-US" dirty="0">
                <a:hlinkClick r:id="rId4"/>
              </a:rPr>
              <a:t>softserveinc.com</a:t>
            </a:r>
            <a:r>
              <a:rPr lang="en-US" dirty="0"/>
              <a:t>, much like </a:t>
            </a:r>
            <a:r>
              <a:rPr lang="en-US" dirty="0" err="1"/>
              <a:t>Workato’s</a:t>
            </a:r>
            <a:r>
              <a:rPr lang="en-US" dirty="0"/>
              <a:t> own pre-packaged accelerators for common use cases</a:t>
            </a:r>
            <a:r>
              <a:rPr lang="en-US" dirty="0">
                <a:hlinkClick r:id="rId5"/>
              </a:rPr>
              <a:t>workato.com</a:t>
            </a:r>
            <a:r>
              <a:rPr lang="en-US" dirty="0"/>
              <a:t>.) These product-savvy specialists ensure that for each chosen vertical, we can deliver pre-built solutions and reference architectures that demonstrate fast time-to-value.</a:t>
            </a:r>
          </a:p>
          <a:p>
            <a:endParaRPr lang="en-US" dirty="0"/>
          </a:p>
          <a:p>
            <a:endParaRPr lang="en-US" dirty="0"/>
          </a:p>
          <a:p>
            <a:r>
              <a:rPr lang="en-US" b="1" dirty="0"/>
              <a:t>Why This Matters:</a:t>
            </a:r>
            <a:r>
              <a:rPr lang="en-US" dirty="0"/>
              <a:t> This execution context is a </a:t>
            </a:r>
            <a:r>
              <a:rPr lang="en-US" b="1" dirty="0"/>
              <a:t>crucial success factor</a:t>
            </a:r>
            <a:r>
              <a:rPr lang="en-US" dirty="0"/>
              <a:t> overlaying the selection criteria above. We should validate that we have (or can develop) the necessary </a:t>
            </a:r>
            <a:r>
              <a:rPr lang="en-US" b="1" dirty="0"/>
              <a:t>GTM enablement resources</a:t>
            </a:r>
            <a:r>
              <a:rPr lang="en-US" dirty="0"/>
              <a:t> – the domain-expert field teams and solution-building capacity – </a:t>
            </a:r>
            <a:r>
              <a:rPr lang="en-US" i="1" dirty="0"/>
              <a:t>before</a:t>
            </a:r>
            <a:r>
              <a:rPr lang="en-US" dirty="0"/>
              <a:t> finalizing our industry priorities. In other words, choosing an industry isn’t just about market attractiveness; it also means </a:t>
            </a:r>
            <a:r>
              <a:rPr lang="en-US" b="1" dirty="0"/>
              <a:t>investing in expertise and assets to serve that industry</a:t>
            </a:r>
            <a:r>
              <a:rPr lang="en-US" dirty="0"/>
              <a:t>. By overlaying this execution readiness lens on our decision framework, we ensure </a:t>
            </a:r>
            <a:r>
              <a:rPr lang="en-US" dirty="0" err="1"/>
              <a:t>Workato</a:t>
            </a:r>
            <a:r>
              <a:rPr lang="en-US" dirty="0"/>
              <a:t> not only picks the right industries </a:t>
            </a:r>
            <a:r>
              <a:rPr lang="en-US" b="1" dirty="0"/>
              <a:t>in theory</a:t>
            </a:r>
            <a:r>
              <a:rPr lang="en-US" dirty="0"/>
              <a:t> but can also </a:t>
            </a:r>
            <a:r>
              <a:rPr lang="en-US" b="1" dirty="0"/>
              <a:t>execute and win</a:t>
            </a:r>
            <a:r>
              <a:rPr lang="en-US" dirty="0"/>
              <a:t> in those industries </a:t>
            </a:r>
            <a:r>
              <a:rPr lang="en-US" b="1" dirty="0"/>
              <a:t>in practice</a:t>
            </a:r>
            <a:r>
              <a:rPr lang="en-US" dirty="0"/>
              <a:t>. This alignment of strategic focus with on-the-ground capabilities will set each chosen vertical up for success, accelerating our industry penetration and customer value realization.</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F2A066F-0867-1E84-464A-320ED4071D87}"/>
            </a:ext>
          </a:extLst>
        </p:cNvPr>
        <p:cNvGrpSpPr/>
        <p:nvPr/>
      </p:nvGrpSpPr>
      <p:grpSpPr>
        <a:xfrm>
          <a:off x="0" y="0"/>
          <a:ext cx="0" cy="0"/>
          <a:chOff x="0" y="0"/>
          <a:chExt cx="0" cy="0"/>
        </a:xfrm>
      </p:grpSpPr>
      <p:sp>
        <p:nvSpPr>
          <p:cNvPr id="106" name="Google Shape;106;g9a3045a12c_1_10:notes">
            <a:extLst>
              <a:ext uri="{FF2B5EF4-FFF2-40B4-BE49-F238E27FC236}">
                <a16:creationId xmlns:a16="http://schemas.microsoft.com/office/drawing/2014/main" id="{E3D376E1-9339-D439-5F75-9626A5CC64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9a3045a12c_1_10:notes">
            <a:extLst>
              <a:ext uri="{FF2B5EF4-FFF2-40B4-BE49-F238E27FC236}">
                <a16:creationId xmlns:a16="http://schemas.microsoft.com/office/drawing/2014/main" id="{B0988893-6D89-38CC-1A1A-331FC15E43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By standardizing the BoM across industries, we also create efficiency – the company isn’t reinventing the wheel for each new vertical. We use a </a:t>
            </a:r>
            <a:r>
              <a:rPr lang="en-US" b="1" dirty="0"/>
              <a:t>scalable approach</a:t>
            </a:r>
            <a:r>
              <a:rPr lang="en-US" dirty="0"/>
              <a:t>: pick an industry, plug it into the BoM framework, and quickly generate the needed positioning and materials. This approach is validated by market leaders – research notes that top automation vendors defend market share by developing </a:t>
            </a:r>
            <a:r>
              <a:rPr lang="en-US" b="1" dirty="0"/>
              <a:t>vertical-specific templates and solutions. </a:t>
            </a:r>
            <a:r>
              <a:rPr lang="en-US" dirty="0" err="1"/>
              <a:t>Workato</a:t>
            </a:r>
            <a:r>
              <a:rPr lang="en-US" dirty="0"/>
              <a:t> will do the same, establishing an </a:t>
            </a:r>
            <a:r>
              <a:rPr lang="en-US" b="1" dirty="0"/>
              <a:t>“industry playbook”</a:t>
            </a:r>
            <a:r>
              <a:rPr lang="en-US" dirty="0"/>
              <a:t> that can be executed repeatedly, leading to faster growth in each new vertical we prioritize.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562072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827C80A-6801-670B-FD8C-3E816E374C96}"/>
            </a:ext>
          </a:extLst>
        </p:cNvPr>
        <p:cNvGrpSpPr/>
        <p:nvPr/>
      </p:nvGrpSpPr>
      <p:grpSpPr>
        <a:xfrm>
          <a:off x="0" y="0"/>
          <a:ext cx="0" cy="0"/>
          <a:chOff x="0" y="0"/>
          <a:chExt cx="0" cy="0"/>
        </a:xfrm>
      </p:grpSpPr>
      <p:sp>
        <p:nvSpPr>
          <p:cNvPr id="112" name="Google Shape;112;g9a3045a12c_0_87:notes">
            <a:extLst>
              <a:ext uri="{FF2B5EF4-FFF2-40B4-BE49-F238E27FC236}">
                <a16:creationId xmlns:a16="http://schemas.microsoft.com/office/drawing/2014/main" id="{BDE4A777-B481-2B75-5F87-A9EBB3AD56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a3045a12c_0_87:notes">
            <a:extLst>
              <a:ext uri="{FF2B5EF4-FFF2-40B4-BE49-F238E27FC236}">
                <a16:creationId xmlns:a16="http://schemas.microsoft.com/office/drawing/2014/main" id="{C342DDEC-C4BB-6B7C-2A3A-25577F3DFB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158750" indent="0">
              <a:buNone/>
            </a:pPr>
            <a:r>
              <a:rPr lang="en-US" b="1" dirty="0"/>
              <a:t>Basic enablement</a:t>
            </a:r>
            <a:endParaRPr lang="en-US" dirty="0"/>
          </a:p>
          <a:p>
            <a:r>
              <a:rPr lang="en-US" b="1" dirty="0"/>
              <a:t>Storybook / Messaging guide</a:t>
            </a:r>
            <a:r>
              <a:rPr lang="en-US" dirty="0"/>
              <a:t> — short narrative + differentiated value proposition; includes persona pain points, before/after, and talk tracks.</a:t>
            </a:r>
          </a:p>
          <a:p>
            <a:r>
              <a:rPr lang="en-US" b="1" dirty="0"/>
              <a:t>CFD (slides w/ story)</a:t>
            </a:r>
            <a:r>
              <a:rPr lang="en-US" dirty="0"/>
              <a:t> — a concise, customer-facing deck that follows the Storybook arc; intro → problem → solution → proof → next steps.</a:t>
            </a:r>
          </a:p>
          <a:p>
            <a:r>
              <a:rPr lang="en-US" b="1" dirty="0"/>
              <a:t>Competitive battlecard</a:t>
            </a:r>
            <a:r>
              <a:rPr lang="en-US" dirty="0"/>
              <a:t> — who we face, when we win/lose, traps to set/avoid, landmine map, and “why </a:t>
            </a:r>
            <a:r>
              <a:rPr lang="en-US" dirty="0" err="1"/>
              <a:t>Workato</a:t>
            </a:r>
            <a:r>
              <a:rPr lang="en-US" dirty="0"/>
              <a:t>” proof points.</a:t>
            </a:r>
          </a:p>
          <a:p>
            <a:r>
              <a:rPr lang="en-US" b="1" dirty="0"/>
              <a:t>FAQs document</a:t>
            </a:r>
            <a:r>
              <a:rPr lang="en-US" dirty="0"/>
              <a:t> — 1–2 page objection handling (security, scale, governance, TCO, build vs. buy, iPaaS vs. RPA vs. </a:t>
            </a:r>
            <a:r>
              <a:rPr lang="en-US" dirty="0" err="1"/>
              <a:t>iPaaS+AI</a:t>
            </a:r>
            <a:r>
              <a:rPr lang="en-US" dirty="0"/>
              <a:t>).</a:t>
            </a:r>
          </a:p>
          <a:p>
            <a:r>
              <a:rPr lang="en-US" b="1" dirty="0"/>
              <a:t>Demo</a:t>
            </a:r>
            <a:r>
              <a:rPr lang="en-US" dirty="0"/>
              <a:t> — reproducible, 6–8 minute narrative demo with a click-by-click script, data pack, and reset instructions.</a:t>
            </a:r>
          </a:p>
          <a:p>
            <a:endParaRPr lang="en-US" b="1" dirty="0"/>
          </a:p>
          <a:p>
            <a:endParaRPr lang="en-US" b="1" dirty="0"/>
          </a:p>
          <a:p>
            <a:endParaRPr lang="en-US" b="1" dirty="0"/>
          </a:p>
          <a:p>
            <a:pPr marL="158750" indent="0">
              <a:buNone/>
            </a:pPr>
            <a:r>
              <a:rPr lang="en-US" b="1" dirty="0"/>
              <a:t>Basic customer journey</a:t>
            </a:r>
            <a:endParaRPr lang="en-US" dirty="0"/>
          </a:p>
          <a:p>
            <a:r>
              <a:rPr lang="en-US" b="1" dirty="0"/>
              <a:t>Customer story</a:t>
            </a:r>
            <a:r>
              <a:rPr lang="en-US" dirty="0"/>
              <a:t> — 1-page and 3-slide versions; problem, approach, quantified outcomes, architecture, and quote.</a:t>
            </a:r>
          </a:p>
          <a:p>
            <a:r>
              <a:rPr lang="en-US" b="1" dirty="0"/>
              <a:t>Analyst / Market substantiation</a:t>
            </a:r>
            <a:r>
              <a:rPr lang="en-US" dirty="0"/>
              <a:t> — 1–2 pages of market stats and third-party validation that size the pain and confirm urgency.</a:t>
            </a:r>
          </a:p>
          <a:p>
            <a:r>
              <a:rPr lang="en-US" b="1" dirty="0"/>
              <a:t>“How it is done” whitepaper (PM/PMK)</a:t>
            </a:r>
            <a:r>
              <a:rPr lang="en-US" dirty="0"/>
              <a:t> — blueprint doc: reference architecture, integrations, governance, KPIs, rollout plan, and day-0/30/90 play.</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73884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9a3045a12c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a3045a12c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Atomizing the big customer facing content that was developed by SMEs, has our main vision and product truth.</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Taking those and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dirty="0"/>
              <a:t>Scaling Across Partners Using the BoM</a:t>
            </a:r>
          </a:p>
          <a:p>
            <a:pPr marL="158750" indent="0">
              <a:buNone/>
            </a:pPr>
            <a:r>
              <a:rPr lang="en-US" dirty="0"/>
              <a:t>The beauty of our standardized BoM and industry strategy is that once we craft the content and play for one partner, it can be leveraged and adapted for others with relatively low effort:</a:t>
            </a:r>
          </a:p>
          <a:p>
            <a:pPr marL="158750" indent="0">
              <a:buNone/>
            </a:pPr>
            <a:endParaRPr lang="en-US" dirty="0"/>
          </a:p>
          <a:p>
            <a:r>
              <a:rPr lang="en-US" b="1" dirty="0"/>
              <a:t>Reusing Core Content:</a:t>
            </a:r>
            <a:r>
              <a:rPr lang="en-US" dirty="0"/>
              <a:t> The industry positioning, use cases, and even campaign theme can remain the same. For example, if we did “Accelerating Digital Banking” with Deloitte, we could run </a:t>
            </a:r>
            <a:r>
              <a:rPr lang="en-US" i="1" dirty="0"/>
              <a:t>“Accelerating Digital Banking with AI and Automation”</a:t>
            </a:r>
            <a:r>
              <a:rPr lang="en-US" dirty="0"/>
              <a:t> with Accenture as a co-host, perhaps emphasizing a tech angle that Accenture’s innovation lab brings. The slide content, whitepaper, etc., would be 80% identical, with just partner branding and any partner-specific assets inserted.</a:t>
            </a:r>
          </a:p>
          <a:p>
            <a:r>
              <a:rPr lang="en-US" b="1" dirty="0"/>
              <a:t>Adapting the Joint Positioning:</a:t>
            </a:r>
            <a:r>
              <a:rPr lang="en-US" dirty="0"/>
              <a:t> Each GSI might want to highlight a slightly different strength. Deloitte might focus on compliance (their risk advisory strength), Accenture might focus on tech innovation, PwC on strategy. We can adjust the joint positioning statement to say </a:t>
            </a:r>
            <a:r>
              <a:rPr lang="en-US" i="1" dirty="0"/>
              <a:t>“</a:t>
            </a:r>
            <a:r>
              <a:rPr lang="en-US" i="1" dirty="0" err="1"/>
              <a:t>Workato</a:t>
            </a:r>
            <a:r>
              <a:rPr lang="en-US" i="1" dirty="0"/>
              <a:t> + [Partner]”</a:t>
            </a:r>
            <a:r>
              <a:rPr lang="en-US" dirty="0"/>
              <a:t> with a different last mile message. But the promise (integrated automation for banking) stays consistent. This ensures </a:t>
            </a:r>
            <a:r>
              <a:rPr lang="en-US" b="1" dirty="0"/>
              <a:t>every partner play still reinforces </a:t>
            </a:r>
            <a:r>
              <a:rPr lang="en-US" b="1" dirty="0" err="1"/>
              <a:t>Workato’s</a:t>
            </a:r>
            <a:r>
              <a:rPr lang="en-US" b="1" dirty="0"/>
              <a:t> core value prop</a:t>
            </a:r>
            <a:r>
              <a:rPr lang="en-US" dirty="0"/>
              <a:t> while letting the partner shine in their domain.</a:t>
            </a:r>
          </a:p>
          <a:p>
            <a:r>
              <a:rPr lang="en-US" b="1" dirty="0"/>
              <a:t>Extending to New Geos or Segments:</a:t>
            </a:r>
            <a:r>
              <a:rPr lang="en-US" dirty="0"/>
              <a:t> Partners often vary by region – e.g. Deloitte might drive our FS play in North America, while perhaps a regional SI (or another Big4 like EY) might do so in APAC. Because we have a kit, we can hand it to any partner and enable them quickly. We could even conduct train-the-trainer sessions with partner teams using these materials, creating multipliers in each geography.</a:t>
            </a:r>
          </a:p>
          <a:p>
            <a:r>
              <a:rPr lang="en-US" b="1" dirty="0"/>
              <a:t>Joint Campaign Kit for Partners:</a:t>
            </a:r>
            <a:r>
              <a:rPr lang="en-US" dirty="0"/>
              <a:t> Part of scaling is providing partners a </a:t>
            </a:r>
            <a:r>
              <a:rPr lang="en-US" b="1" dirty="0"/>
              <a:t>campaign-in-a-box</a:t>
            </a:r>
            <a:r>
              <a:rPr lang="en-US" dirty="0"/>
              <a:t>. We would package the slides, email templates, solution briefs, and even the webinar recording from the first event as a model. Then, partner managers at </a:t>
            </a:r>
            <a:r>
              <a:rPr lang="en-US" dirty="0" err="1"/>
              <a:t>Workato</a:t>
            </a:r>
            <a:r>
              <a:rPr lang="en-US" dirty="0"/>
              <a:t> can approach another partner and say, “We have this successful campaign blueprint for banking automation – would you like to run it together in your region or with your client base?” This makes it easy for partners to say yes, since much of the content is ready. It also ensures that even if multiple partners run similar campaigns, the messaging in the market remains consistent (just amplified by different voices).</a:t>
            </a:r>
          </a:p>
          <a:p>
            <a:r>
              <a:rPr lang="en-US" b="1" dirty="0"/>
              <a:t>Consistent Metrics and Feedback:</a:t>
            </a:r>
            <a:r>
              <a:rPr lang="en-US" dirty="0"/>
              <a:t> By scaling a similar play across partners, we can compare performance (e.g. webinar A with Deloitte got 100 attendees and 10 qualified opportunities, webinar B with Accenture got slightly different results, why?). We can learn and refine the approach continuously – perhaps one partner’s audience was more interested in a specific sub-topic, which we then incorporate going forward. This continuous improvement loop is enabled by having a common structure (so we’re comparing apples to apples).</a:t>
            </a:r>
          </a:p>
          <a:p>
            <a:endParaRPr lang="en-US" dirty="0"/>
          </a:p>
          <a:p>
            <a:endParaRPr lang="en-US" dirty="0"/>
          </a:p>
          <a:p>
            <a:pPr marL="158750" indent="0">
              <a:buNone/>
            </a:pPr>
            <a:r>
              <a:rPr lang="en-US" dirty="0"/>
              <a:t>In summary, the joint GTM example with Deloitte for Financial Services demonstrates how we combine our </a:t>
            </a:r>
            <a:r>
              <a:rPr lang="en-US" b="1" dirty="0"/>
              <a:t>industry BoM content with partner collaboration</a:t>
            </a:r>
            <a:r>
              <a:rPr lang="en-US" dirty="0"/>
              <a:t> to create a powerful, scalable campaign. We start with one partner to refine the play, then roll it out broadly:</a:t>
            </a:r>
          </a:p>
          <a:p>
            <a:r>
              <a:rPr lang="en-US" dirty="0"/>
              <a:t>Use the same </a:t>
            </a:r>
            <a:r>
              <a:rPr lang="en-US" b="1" dirty="0"/>
              <a:t>Industry BoM</a:t>
            </a:r>
            <a:r>
              <a:rPr lang="en-US" dirty="0"/>
              <a:t> (messaging, use cases, assets).</a:t>
            </a:r>
          </a:p>
          <a:p>
            <a:r>
              <a:rPr lang="en-US" dirty="0"/>
              <a:t>Tailor the </a:t>
            </a:r>
            <a:r>
              <a:rPr lang="en-US" b="1" dirty="0"/>
              <a:t>joint positioning</a:t>
            </a:r>
            <a:r>
              <a:rPr lang="en-US" dirty="0"/>
              <a:t> slightly for each partner’s flavor.</a:t>
            </a:r>
          </a:p>
          <a:p>
            <a:r>
              <a:rPr lang="en-US" dirty="0"/>
              <a:t>Re-run or repurpose the </a:t>
            </a:r>
            <a:r>
              <a:rPr lang="en-US" b="1" dirty="0"/>
              <a:t>campaign/event</a:t>
            </a:r>
            <a:r>
              <a:rPr lang="en-US" dirty="0"/>
              <a:t> in new contexts.</a:t>
            </a:r>
          </a:p>
          <a:p>
            <a:r>
              <a:rPr lang="en-US" dirty="0"/>
              <a:t>Empower partners with the ready-made kits so they can execute and co-invest.</a:t>
            </a:r>
          </a:p>
          <a:p>
            <a:pPr marL="158750" indent="0">
              <a:buNone/>
            </a:pPr>
            <a:endParaRPr lang="en-US" dirty="0"/>
          </a:p>
          <a:p>
            <a:pPr marL="158750" indent="0">
              <a:buNone/>
            </a:pPr>
            <a:r>
              <a:rPr lang="en-US" dirty="0"/>
              <a:t>This approach not only maximizes our reach (covering more of the market through multiple partner channels) but also reinforces the </a:t>
            </a:r>
            <a:r>
              <a:rPr lang="en-US" b="1" dirty="0" err="1"/>
              <a:t>Workato</a:t>
            </a:r>
            <a:r>
              <a:rPr lang="en-US" b="1" dirty="0"/>
              <a:t> brand</a:t>
            </a:r>
            <a:r>
              <a:rPr lang="en-US" dirty="0"/>
              <a:t> as we’re consistently in front of the target audience with a strong, unified message. It shows that </a:t>
            </a:r>
            <a:r>
              <a:rPr lang="en-US" dirty="0" err="1"/>
              <a:t>Workato</a:t>
            </a:r>
            <a:r>
              <a:rPr lang="en-US" dirty="0"/>
              <a:t> is not just a product but a </a:t>
            </a:r>
            <a:r>
              <a:rPr lang="en-US" b="1" dirty="0"/>
              <a:t>platform for industry solutions delivered through an ecosystem</a:t>
            </a:r>
            <a:r>
              <a:rPr lang="en-US" dirty="0"/>
              <a:t> – a critical perception as we scale in enterprise accounts.</a:t>
            </a:r>
          </a:p>
          <a:p>
            <a:endParaRPr lang="en-US" dirty="0"/>
          </a:p>
        </p:txBody>
      </p:sp>
    </p:spTree>
    <p:extLst>
      <p:ext uri="{BB962C8B-B14F-4D97-AF65-F5344CB8AC3E}">
        <p14:creationId xmlns:p14="http://schemas.microsoft.com/office/powerpoint/2010/main" val="3615790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4A72E21C-F4C3-7A02-C745-BF994CB5456C}"/>
            </a:ext>
          </a:extLst>
        </p:cNvPr>
        <p:cNvGrpSpPr/>
        <p:nvPr/>
      </p:nvGrpSpPr>
      <p:grpSpPr>
        <a:xfrm>
          <a:off x="0" y="0"/>
          <a:ext cx="0" cy="0"/>
          <a:chOff x="0" y="0"/>
          <a:chExt cx="0" cy="0"/>
        </a:xfrm>
      </p:grpSpPr>
      <p:sp>
        <p:nvSpPr>
          <p:cNvPr id="106" name="Google Shape;106;g9a3045a12c_1_10:notes">
            <a:extLst>
              <a:ext uri="{FF2B5EF4-FFF2-40B4-BE49-F238E27FC236}">
                <a16:creationId xmlns:a16="http://schemas.microsoft.com/office/drawing/2014/main" id="{D6509EBD-62DF-90A8-88DE-934BFEE19B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9a3045a12c_1_10:notes">
            <a:extLst>
              <a:ext uri="{FF2B5EF4-FFF2-40B4-BE49-F238E27FC236}">
                <a16:creationId xmlns:a16="http://schemas.microsoft.com/office/drawing/2014/main" id="{0DB799C9-B59C-C027-2552-DCC3984B82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8596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illustrate how we bring the strategy to life, let’s zoom into one of the selected industries – </a:t>
            </a:r>
            <a:r>
              <a:rPr lang="en-US" b="1" dirty="0"/>
              <a:t>Financial Services</a:t>
            </a:r>
            <a:r>
              <a:rPr lang="en-US" dirty="0"/>
              <a:t> – and outline a </a:t>
            </a:r>
            <a:r>
              <a:rPr lang="en-US" b="1" dirty="0"/>
              <a:t>joint go-to-market (GTM) play with a strategic GSI partner</a:t>
            </a:r>
            <a:r>
              <a:rPr lang="en-US" dirty="0"/>
              <a:t>, Deloitte. We choose Financial Services due to its priority status and Deloitte given their strong alignment (they were </a:t>
            </a:r>
            <a:r>
              <a:rPr lang="en-US" dirty="0" err="1"/>
              <a:t>Workato’s</a:t>
            </a:r>
            <a:r>
              <a:rPr lang="en-US" dirty="0"/>
              <a:t> GSI Partner of the Year and have deep FS expertise). This example will show the components of a partner campaign and how it can scale to other partners using the BoM framework.</a:t>
            </a:r>
          </a:p>
          <a:p>
            <a:endParaRPr lang="en-US" dirty="0"/>
          </a:p>
          <a:p>
            <a:endParaRPr lang="en-US" dirty="0"/>
          </a:p>
          <a:p>
            <a:r>
              <a:rPr lang="en-US" dirty="0"/>
              <a:t>Each use case ties to an industry trend: </a:t>
            </a:r>
            <a:r>
              <a:rPr lang="en-US" b="1" dirty="0"/>
              <a:t>digital customer experience, fintech competition (use case 1), instant services (use case 2), and regulatory burden (use case 3)</a:t>
            </a:r>
            <a:r>
              <a:rPr lang="en-US" dirty="0"/>
              <a:t>. By aligning solutions to these trends, our joint GTM messaging is very relevant. We would develop </a:t>
            </a:r>
            <a:r>
              <a:rPr lang="en-US" b="1" dirty="0"/>
              <a:t>detailed solution outlines</a:t>
            </a:r>
            <a:r>
              <a:rPr lang="en-US" dirty="0"/>
              <a:t> for each (possibly as part of the industry use case library in the BoM) to use in campaigns and sales talks.</a:t>
            </a:r>
          </a:p>
        </p:txBody>
      </p:sp>
    </p:spTree>
    <p:extLst>
      <p:ext uri="{BB962C8B-B14F-4D97-AF65-F5344CB8AC3E}">
        <p14:creationId xmlns:p14="http://schemas.microsoft.com/office/powerpoint/2010/main" val="1305818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Automated Customer Onboarding &amp; KYC Compliance</a:t>
            </a:r>
            <a:r>
              <a:rPr lang="en-US" dirty="0"/>
              <a:t> – </a:t>
            </a:r>
            <a:r>
              <a:rPr lang="en-US" i="1" dirty="0"/>
              <a:t>Trend:</a:t>
            </a:r>
            <a:r>
              <a:rPr lang="en-US" dirty="0"/>
              <a:t> Banks are under pressure to deliver fast digital onboarding (as </a:t>
            </a:r>
            <a:r>
              <a:rPr lang="en-US" dirty="0" err="1"/>
              <a:t>fintechs</a:t>
            </a:r>
            <a:r>
              <a:rPr lang="en-US" dirty="0"/>
              <a:t> do) while adhering to strict Know-Your-Customer and AML regulations. </a:t>
            </a:r>
            <a:r>
              <a:rPr lang="en-US" i="1" dirty="0"/>
              <a:t>Use Case:</a:t>
            </a:r>
            <a:r>
              <a:rPr lang="en-US" dirty="0"/>
              <a:t> </a:t>
            </a:r>
            <a:r>
              <a:rPr lang="en-US" dirty="0" err="1"/>
              <a:t>Workato</a:t>
            </a:r>
            <a:r>
              <a:rPr lang="en-US" dirty="0"/>
              <a:t> + Deloitte automate the customer onboarding journey: when a new customer applies (via web or mobile), </a:t>
            </a:r>
            <a:r>
              <a:rPr lang="en-US" dirty="0" err="1"/>
              <a:t>Workato</a:t>
            </a:r>
            <a:r>
              <a:rPr lang="en-US" dirty="0"/>
              <a:t> orchestrates data flow between the onboarding portal, identity verification services, and core banking CRM. It automatically triggers KYC checks (integrating with compliance databases), opens necessary accounts, and notifies relevant teams. Deloitte brings in process expertise to ensure the workflow meets regulatory requirements. </a:t>
            </a:r>
            <a:r>
              <a:rPr lang="en-US" b="1" dirty="0"/>
              <a:t>Benefit:</a:t>
            </a:r>
            <a:r>
              <a:rPr lang="en-US" dirty="0"/>
              <a:t> New accounts can be opened in minutes instead of days, with compliance steps built-in. This improves customer conversion and experience. (As a reference, banks using automation for KYC have seen onboarding time cut by ~70%</a:t>
            </a:r>
            <a:r>
              <a:rPr lang="en-US" dirty="0">
                <a:hlinkClick r:id="rId3"/>
              </a:rPr>
              <a:t>mordorintelligence.com</a:t>
            </a:r>
            <a:r>
              <a:rPr lang="en-US" dirty="0"/>
              <a:t> – we can showcase similar potential).</a:t>
            </a:r>
          </a:p>
          <a:p>
            <a:endParaRPr lang="en-US" dirty="0"/>
          </a:p>
          <a:p>
            <a:r>
              <a:rPr lang="en-US" b="1" dirty="0"/>
              <a:t>Loan Processing and Credit Decisioning Automation</a:t>
            </a:r>
            <a:r>
              <a:rPr lang="en-US" dirty="0"/>
              <a:t> – </a:t>
            </a:r>
            <a:r>
              <a:rPr lang="en-US" i="1" dirty="0"/>
              <a:t>Trend:</a:t>
            </a:r>
            <a:r>
              <a:rPr lang="en-US" dirty="0"/>
              <a:t> Demand for quick credit (e.g. instant loan approvals, buy-now-pay-later) means banks must streamline loan origination. </a:t>
            </a:r>
            <a:r>
              <a:rPr lang="en-US" i="1" dirty="0"/>
              <a:t>Use Case:</a:t>
            </a:r>
            <a:r>
              <a:rPr lang="en-US" dirty="0"/>
              <a:t> Joint solution to automate loan application processing: </a:t>
            </a:r>
            <a:r>
              <a:rPr lang="en-US" dirty="0" err="1"/>
              <a:t>Workato</a:t>
            </a:r>
            <a:r>
              <a:rPr lang="en-US" dirty="0"/>
              <a:t> integrates the loan application system with credit bureaus, income verification APIs, and internal risk models. As soon as an application is submitted, </a:t>
            </a:r>
            <a:r>
              <a:rPr lang="en-US" dirty="0" err="1"/>
              <a:t>Workato</a:t>
            </a:r>
            <a:r>
              <a:rPr lang="en-US" dirty="0"/>
              <a:t> fetches credit scores, populates the underwriting system, and even uses AI (via </a:t>
            </a:r>
            <a:r>
              <a:rPr lang="en-US" dirty="0" err="1"/>
              <a:t>Workato’s</a:t>
            </a:r>
            <a:r>
              <a:rPr lang="en-US" dirty="0"/>
              <a:t> integration with AI services) to flag any anomalies. Deloitte’s team can adjust the workflow to each bank’s policy (embedding their consulting IP on risk checks). </a:t>
            </a:r>
            <a:r>
              <a:rPr lang="en-US" b="1" dirty="0"/>
              <a:t>Benefit:</a:t>
            </a:r>
            <a:r>
              <a:rPr lang="en-US" dirty="0"/>
              <a:t> What used to take days of back-and-forth is done in near real-time. For example, </a:t>
            </a:r>
            <a:r>
              <a:rPr lang="en-US" b="1" dirty="0"/>
              <a:t>Bread </a:t>
            </a:r>
            <a:r>
              <a:rPr lang="en-US" b="1" dirty="0" err="1"/>
              <a:t>Financial</a:t>
            </a:r>
            <a:r>
              <a:rPr lang="en-US" dirty="0" err="1"/>
              <a:t>’s</a:t>
            </a:r>
            <a:r>
              <a:rPr lang="en-US" dirty="0"/>
              <a:t> automation of credit applications with </a:t>
            </a:r>
            <a:r>
              <a:rPr lang="en-US" dirty="0" err="1"/>
              <a:t>Workato</a:t>
            </a:r>
            <a:r>
              <a:rPr lang="en-US" dirty="0"/>
              <a:t> resulted in approvals in minutes (vs. 30 minutes manually)</a:t>
            </a:r>
            <a:r>
              <a:rPr lang="en-US" dirty="0">
                <a:hlinkClick r:id="rId4"/>
              </a:rPr>
              <a:t>workato.com</a:t>
            </a:r>
            <a:r>
              <a:rPr lang="en-US" dirty="0"/>
              <a:t>. The bank gains more business by responding faster to customers, and employees are freed from data entry to focus on exception cases.</a:t>
            </a:r>
          </a:p>
          <a:p>
            <a:endParaRPr lang="en-US" dirty="0"/>
          </a:p>
          <a:p>
            <a:r>
              <a:rPr lang="en-US" b="1" dirty="0"/>
              <a:t>Regulatory Reporting &amp; Data Reconciliation</a:t>
            </a:r>
            <a:r>
              <a:rPr lang="en-US" dirty="0"/>
              <a:t> – </a:t>
            </a:r>
            <a:r>
              <a:rPr lang="en-US" i="1" dirty="0"/>
              <a:t>Trend:</a:t>
            </a:r>
            <a:r>
              <a:rPr lang="en-US" dirty="0"/>
              <a:t> Financial institutions face increasing reporting mandates (e.g. GDPR, Basel III, ESG reports). Manual data gathering from siloed systems is error-prone and slow. </a:t>
            </a:r>
            <a:r>
              <a:rPr lang="en-US" i="1" dirty="0"/>
              <a:t>Use Case:</a:t>
            </a:r>
            <a:r>
              <a:rPr lang="en-US" dirty="0"/>
              <a:t> Deloitte and </a:t>
            </a:r>
            <a:r>
              <a:rPr lang="en-US" dirty="0" err="1"/>
              <a:t>Workato</a:t>
            </a:r>
            <a:r>
              <a:rPr lang="en-US" dirty="0"/>
              <a:t> offer an </a:t>
            </a:r>
            <a:r>
              <a:rPr lang="en-US" b="1" dirty="0"/>
              <a:t>Automated Compliance Reporting</a:t>
            </a:r>
            <a:r>
              <a:rPr lang="en-US" dirty="0"/>
              <a:t> solution. </a:t>
            </a:r>
            <a:r>
              <a:rPr lang="en-US" dirty="0" err="1"/>
              <a:t>Workato</a:t>
            </a:r>
            <a:r>
              <a:rPr lang="en-US" dirty="0"/>
              <a:t> connects core banking, trading, and finance systems to aggregate required data (transactions, risk metrics, etc.) on a scheduled basis. It then automates the generation of reports or dashboards, and even integrates with governance systems for audit trails. Deloitte’s consultants ensure the mapped data and report format meet regulatory guidelines. We can incorporate generative AI too: e.g. </a:t>
            </a:r>
            <a:r>
              <a:rPr lang="en-US" dirty="0" err="1"/>
              <a:t>Workato</a:t>
            </a:r>
            <a:r>
              <a:rPr lang="en-US" dirty="0"/>
              <a:t> triggers an AI service to interpret new regulatory text and suggest workflow updates (a forward-looking capability, echoing how AI copilots are used in banks to map regulations to controls</a:t>
            </a:r>
            <a:r>
              <a:rPr lang="en-US" dirty="0">
                <a:hlinkClick r:id="rId5"/>
              </a:rPr>
              <a:t>mordorintelligence.com</a:t>
            </a:r>
            <a:r>
              <a:rPr lang="en-US" dirty="0"/>
              <a:t>). </a:t>
            </a:r>
            <a:r>
              <a:rPr lang="en-US" b="1" dirty="0"/>
              <a:t>Benefit:</a:t>
            </a:r>
            <a:r>
              <a:rPr lang="en-US" dirty="0"/>
              <a:t> Banks stay compliant with far less effort – reports that took weeks of manual effort can be produced in hours, with higher accuracy. This use case taps into the trend of operational resilience and transparency in banking.</a:t>
            </a:r>
          </a:p>
          <a:p>
            <a:endParaRPr lang="en-US" dirty="0"/>
          </a:p>
        </p:txBody>
      </p:sp>
    </p:spTree>
    <p:extLst>
      <p:ext uri="{BB962C8B-B14F-4D97-AF65-F5344CB8AC3E}">
        <p14:creationId xmlns:p14="http://schemas.microsoft.com/office/powerpoint/2010/main" val="569430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53781a335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53781a335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dirty="0"/>
              <a:t>Campaign Concept:</a:t>
            </a:r>
            <a:r>
              <a:rPr lang="en-US" dirty="0"/>
              <a:t> </a:t>
            </a:r>
            <a:r>
              <a:rPr lang="en-US" i="1" dirty="0"/>
              <a:t>“Intelligent Automation in Banking – Executive Roundtable Series”</a:t>
            </a:r>
            <a:endParaRPr lang="en-US" dirty="0"/>
          </a:p>
          <a:p>
            <a:pPr marL="158750" indent="0">
              <a:buNone/>
            </a:pPr>
            <a:r>
              <a:rPr lang="en-US" dirty="0"/>
              <a:t>We propose a co-hosted flagship event that can double as content for wider campaigns. For example, a virtual executive roundtable or panel webinar:</a:t>
            </a:r>
          </a:p>
          <a:p>
            <a:pPr marL="158750" indent="0">
              <a:buNone/>
            </a:pPr>
            <a:endParaRPr lang="en-US" dirty="0"/>
          </a:p>
          <a:p>
            <a:r>
              <a:rPr lang="en-US" b="1" dirty="0"/>
              <a:t>Format:</a:t>
            </a:r>
            <a:r>
              <a:rPr lang="en-US" dirty="0"/>
              <a:t> A live webinar (60-minute) featuring a panel: a Deloitte banking practice leader (discussing industry trends), a </a:t>
            </a:r>
            <a:r>
              <a:rPr lang="en-US" dirty="0" err="1"/>
              <a:t>Workato</a:t>
            </a:r>
            <a:r>
              <a:rPr lang="en-US" dirty="0"/>
              <a:t> product evangelist, and ideally a mutual customer (or a Deloitte subject matter expert playing the role of a customer case study).</a:t>
            </a:r>
          </a:p>
          <a:p>
            <a:r>
              <a:rPr lang="en-US" b="1" dirty="0"/>
              <a:t>Topic:</a:t>
            </a:r>
            <a:r>
              <a:rPr lang="en-US" dirty="0"/>
              <a:t> </a:t>
            </a:r>
            <a:r>
              <a:rPr lang="en-US" i="1" dirty="0"/>
              <a:t>“Accelerating Digital Banking with Automation: Trends, Use Cases, and Success Stories.”</a:t>
            </a:r>
            <a:r>
              <a:rPr lang="en-US" dirty="0"/>
              <a:t> This hits thought leadership (trends) and practical insights (use cases).</a:t>
            </a:r>
          </a:p>
          <a:p>
            <a:r>
              <a:rPr lang="en-US" b="1" dirty="0"/>
              <a:t>Discussion Points:</a:t>
            </a:r>
            <a:r>
              <a:rPr lang="en-US" dirty="0"/>
              <a:t> The panel would cover current challenges banks face (from Deloitte’s viewpoint), how automation is addressing these (</a:t>
            </a:r>
            <a:r>
              <a:rPr lang="en-US" dirty="0" err="1"/>
              <a:t>Workato’s</a:t>
            </a:r>
            <a:r>
              <a:rPr lang="en-US" dirty="0"/>
              <a:t> viewpoint, citing our use cases like onboarding and loan processing), and a real example – e.g. </a:t>
            </a:r>
            <a:r>
              <a:rPr lang="en-US" i="1" dirty="0"/>
              <a:t>“How Bank X reduced onboarding time by 70% using intelligent automation”</a:t>
            </a:r>
            <a:r>
              <a:rPr lang="en-US" dirty="0"/>
              <a:t> (with specifics to make it tangible).</a:t>
            </a:r>
          </a:p>
          <a:p>
            <a:r>
              <a:rPr lang="en-US" b="1" dirty="0"/>
              <a:t>Audience:</a:t>
            </a:r>
            <a:r>
              <a:rPr lang="en-US" dirty="0"/>
              <a:t> Banking IT leaders, operations executives, and innovation heads. We’d invite prospects from our pipeline, Deloitte’s client list, and promote via LinkedIn and industry groups.</a:t>
            </a:r>
          </a:p>
          <a:p>
            <a:r>
              <a:rPr lang="en-US" b="1" dirty="0"/>
              <a:t>Promotion:</a:t>
            </a:r>
            <a:r>
              <a:rPr lang="en-US" dirty="0"/>
              <a:t> Leading up to the event, we’d run a joint campaign – emails from Deloitte to their contacts and from </a:t>
            </a:r>
            <a:r>
              <a:rPr lang="en-US" dirty="0" err="1"/>
              <a:t>Workato</a:t>
            </a:r>
            <a:r>
              <a:rPr lang="en-US" dirty="0"/>
              <a:t> to ours, social media posts (with both companies amplifying), and perhaps a press release or LinkedIn article by an executive from each side about our partnership in banking.</a:t>
            </a:r>
          </a:p>
          <a:p>
            <a:r>
              <a:rPr lang="en-US" b="1" dirty="0"/>
              <a:t>Value-add:</a:t>
            </a:r>
            <a:r>
              <a:rPr lang="en-US" dirty="0"/>
              <a:t> To encourage attendance, we could offer an exclusive whitepaper (co-branded) like </a:t>
            </a:r>
            <a:r>
              <a:rPr lang="en-US" i="1" dirty="0"/>
              <a:t>“The Connected Bank: A Blueprint for End-to-End Automation”</a:t>
            </a:r>
            <a:r>
              <a:rPr lang="en-US" dirty="0"/>
              <a:t>, available to attendees. This whitepaper would contain the distilled insights and perhaps the frameworks (like the 3 use cases) we discussed, providing take-home value.</a:t>
            </a:r>
          </a:p>
          <a:p>
            <a:r>
              <a:rPr lang="en-US" b="1" dirty="0"/>
              <a:t>Event Execution:</a:t>
            </a:r>
            <a:r>
              <a:rPr lang="en-US" dirty="0"/>
              <a:t> During the webinar, we ensure strong branding for both </a:t>
            </a:r>
            <a:r>
              <a:rPr lang="en-US" dirty="0" err="1"/>
              <a:t>Workato</a:t>
            </a:r>
            <a:r>
              <a:rPr lang="en-US" dirty="0"/>
              <a:t> and Deloitte. The joint positioning statement is reiterated by the moderator. Deloitte sets context with industry stats (showcasing thought leadership), </a:t>
            </a:r>
            <a:r>
              <a:rPr lang="en-US" dirty="0" err="1"/>
              <a:t>Workato</a:t>
            </a:r>
            <a:r>
              <a:rPr lang="en-US" dirty="0"/>
              <a:t> demonstrates one of the use cases (perhaps even a quick demo of an automation if feasible, such as showing a </a:t>
            </a:r>
            <a:r>
              <a:rPr lang="en-US" dirty="0" err="1"/>
              <a:t>Workato</a:t>
            </a:r>
            <a:r>
              <a:rPr lang="en-US" dirty="0"/>
              <a:t> recipe handling a sample onboarding scenario). The session ends with a Q&amp;A and a call-to-action for viewers: e.g. </a:t>
            </a:r>
            <a:r>
              <a:rPr lang="en-US" i="1" dirty="0"/>
              <a:t>“Contact us for a Banking Automation Assessment”</a:t>
            </a:r>
            <a:r>
              <a:rPr lang="en-US" dirty="0"/>
              <a:t> – a workshop offering by </a:t>
            </a:r>
            <a:r>
              <a:rPr lang="en-US" dirty="0" err="1"/>
              <a:t>Deloitte+Workato</a:t>
            </a:r>
            <a:r>
              <a:rPr lang="en-US" dirty="0"/>
              <a:t> to analyze the attendee’s own processes.</a:t>
            </a:r>
          </a:p>
          <a:p>
            <a:pPr marL="158750" indent="0">
              <a:buNone/>
            </a:pPr>
            <a:endParaRPr lang="en-US" b="1" dirty="0"/>
          </a:p>
          <a:p>
            <a:pPr marL="158750" indent="0">
              <a:buNone/>
            </a:pPr>
            <a:r>
              <a:rPr lang="en-US" b="1" dirty="0"/>
              <a:t>Follow-up Campaign:</a:t>
            </a:r>
            <a:r>
              <a:rPr lang="en-US" dirty="0"/>
              <a:t> After the event, the content can be repurposed:</a:t>
            </a:r>
          </a:p>
          <a:p>
            <a:r>
              <a:rPr lang="en-US" dirty="0"/>
              <a:t>A blog summary of the discussion on </a:t>
            </a:r>
            <a:r>
              <a:rPr lang="en-US" dirty="0" err="1"/>
              <a:t>Workato’s</a:t>
            </a:r>
            <a:r>
              <a:rPr lang="en-US" dirty="0"/>
              <a:t> site and Deloitte’s blog.</a:t>
            </a:r>
          </a:p>
          <a:p>
            <a:r>
              <a:rPr lang="en-US" dirty="0"/>
              <a:t>The recording gated on our websites for lead capture (top-of-funnel content).</a:t>
            </a:r>
          </a:p>
          <a:p>
            <a:r>
              <a:rPr lang="en-US" dirty="0"/>
              <a:t>Sales teams follow up with their invitees with a tailored message and the whitepaper.</a:t>
            </a:r>
          </a:p>
          <a:p>
            <a:r>
              <a:rPr lang="en-US" dirty="0"/>
              <a:t>Possibly an in-person follow-up: using the momentum, plan a small dinner event at a Banking conference (with both Deloitte and </a:t>
            </a:r>
            <a:r>
              <a:rPr lang="en-US" dirty="0" err="1"/>
              <a:t>Workato</a:t>
            </a:r>
            <a:r>
              <a:rPr lang="en-US" dirty="0"/>
              <a:t> reps) to continue the conversation with select prospects.</a:t>
            </a:r>
          </a:p>
          <a:p>
            <a:pPr marL="158750" indent="0">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Campaign sales enablement</a:t>
            </a:r>
          </a:p>
        </p:txBody>
      </p:sp>
    </p:spTree>
    <p:extLst>
      <p:ext uri="{BB962C8B-B14F-4D97-AF65-F5344CB8AC3E}">
        <p14:creationId xmlns:p14="http://schemas.microsoft.com/office/powerpoint/2010/main" val="1478097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9a3045a12c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9a3045a12c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1C1B1B"/>
        </a:solidFill>
        <a:effectLst/>
      </p:bgPr>
    </p:bg>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53325" y="2864600"/>
            <a:ext cx="8520600" cy="743100"/>
          </a:xfrm>
          <a:prstGeom prst="rect">
            <a:avLst/>
          </a:prstGeom>
        </p:spPr>
        <p:txBody>
          <a:bodyPr spcFirstLastPara="1" wrap="square" lIns="0" tIns="0" rIns="91425" bIns="0" anchor="t" anchorCtr="0">
            <a:noAutofit/>
          </a:bodyPr>
          <a:lstStyle>
            <a:lvl1pPr lvl="0" algn="ctr" rtl="0">
              <a:spcBef>
                <a:spcPts val="0"/>
              </a:spcBef>
              <a:spcAft>
                <a:spcPts val="0"/>
              </a:spcAft>
              <a:buClr>
                <a:srgbClr val="FFFFFF"/>
              </a:buClr>
              <a:buSzPts val="3600"/>
              <a:buFont typeface="Poppins"/>
              <a:buNone/>
              <a:defRPr sz="3600">
                <a:solidFill>
                  <a:srgbClr val="FFFFFF"/>
                </a:solidFill>
                <a:latin typeface="Poppins"/>
                <a:ea typeface="Poppins"/>
                <a:cs typeface="Poppins"/>
                <a:sym typeface="Poppins"/>
              </a:defRPr>
            </a:lvl1pPr>
            <a:lvl2pPr lvl="1" algn="ctr" rtl="0">
              <a:spcBef>
                <a:spcPts val="0"/>
              </a:spcBef>
              <a:spcAft>
                <a:spcPts val="0"/>
              </a:spcAft>
              <a:buSzPts val="4300"/>
              <a:buFont typeface="Poppins"/>
              <a:buNone/>
              <a:defRPr sz="4300">
                <a:latin typeface="Poppins"/>
                <a:ea typeface="Poppins"/>
                <a:cs typeface="Poppins"/>
                <a:sym typeface="Poppins"/>
              </a:defRPr>
            </a:lvl2pPr>
            <a:lvl3pPr lvl="2" algn="ctr" rtl="0">
              <a:spcBef>
                <a:spcPts val="0"/>
              </a:spcBef>
              <a:spcAft>
                <a:spcPts val="0"/>
              </a:spcAft>
              <a:buSzPts val="4300"/>
              <a:buFont typeface="Poppins"/>
              <a:buNone/>
              <a:defRPr sz="4300">
                <a:latin typeface="Poppins"/>
                <a:ea typeface="Poppins"/>
                <a:cs typeface="Poppins"/>
                <a:sym typeface="Poppins"/>
              </a:defRPr>
            </a:lvl3pPr>
            <a:lvl4pPr lvl="3" algn="ctr" rtl="0">
              <a:spcBef>
                <a:spcPts val="0"/>
              </a:spcBef>
              <a:spcAft>
                <a:spcPts val="0"/>
              </a:spcAft>
              <a:buSzPts val="4300"/>
              <a:buFont typeface="Poppins"/>
              <a:buNone/>
              <a:defRPr sz="4300">
                <a:latin typeface="Poppins"/>
                <a:ea typeface="Poppins"/>
                <a:cs typeface="Poppins"/>
                <a:sym typeface="Poppins"/>
              </a:defRPr>
            </a:lvl4pPr>
            <a:lvl5pPr lvl="4" algn="ctr" rtl="0">
              <a:spcBef>
                <a:spcPts val="0"/>
              </a:spcBef>
              <a:spcAft>
                <a:spcPts val="0"/>
              </a:spcAft>
              <a:buSzPts val="4300"/>
              <a:buFont typeface="Poppins"/>
              <a:buNone/>
              <a:defRPr sz="4300">
                <a:latin typeface="Poppins"/>
                <a:ea typeface="Poppins"/>
                <a:cs typeface="Poppins"/>
                <a:sym typeface="Poppins"/>
              </a:defRPr>
            </a:lvl5pPr>
            <a:lvl6pPr lvl="5" algn="ctr" rtl="0">
              <a:spcBef>
                <a:spcPts val="0"/>
              </a:spcBef>
              <a:spcAft>
                <a:spcPts val="0"/>
              </a:spcAft>
              <a:buSzPts val="4300"/>
              <a:buFont typeface="Poppins"/>
              <a:buNone/>
              <a:defRPr sz="4300">
                <a:latin typeface="Poppins"/>
                <a:ea typeface="Poppins"/>
                <a:cs typeface="Poppins"/>
                <a:sym typeface="Poppins"/>
              </a:defRPr>
            </a:lvl6pPr>
            <a:lvl7pPr lvl="6" algn="ctr" rtl="0">
              <a:spcBef>
                <a:spcPts val="0"/>
              </a:spcBef>
              <a:spcAft>
                <a:spcPts val="0"/>
              </a:spcAft>
              <a:buSzPts val="4300"/>
              <a:buFont typeface="Poppins"/>
              <a:buNone/>
              <a:defRPr sz="4300">
                <a:latin typeface="Poppins"/>
                <a:ea typeface="Poppins"/>
                <a:cs typeface="Poppins"/>
                <a:sym typeface="Poppins"/>
              </a:defRPr>
            </a:lvl7pPr>
            <a:lvl8pPr lvl="7" algn="ctr" rtl="0">
              <a:spcBef>
                <a:spcPts val="0"/>
              </a:spcBef>
              <a:spcAft>
                <a:spcPts val="0"/>
              </a:spcAft>
              <a:buSzPts val="4300"/>
              <a:buFont typeface="Poppins"/>
              <a:buNone/>
              <a:defRPr sz="4300">
                <a:latin typeface="Poppins"/>
                <a:ea typeface="Poppins"/>
                <a:cs typeface="Poppins"/>
                <a:sym typeface="Poppins"/>
              </a:defRPr>
            </a:lvl8pPr>
            <a:lvl9pPr lvl="8" algn="ctr" rtl="0">
              <a:spcBef>
                <a:spcPts val="0"/>
              </a:spcBef>
              <a:spcAft>
                <a:spcPts val="0"/>
              </a:spcAft>
              <a:buSzPts val="4300"/>
              <a:buFont typeface="Poppins"/>
              <a:buNone/>
              <a:defRPr sz="4300">
                <a:latin typeface="Poppins"/>
                <a:ea typeface="Poppins"/>
                <a:cs typeface="Poppins"/>
                <a:sym typeface="Poppins"/>
              </a:defRPr>
            </a:lvl9pPr>
          </a:lstStyle>
          <a:p>
            <a:endParaRPr/>
          </a:p>
        </p:txBody>
      </p:sp>
      <p:sp>
        <p:nvSpPr>
          <p:cNvPr id="14" name="Google Shape;14;p2"/>
          <p:cNvSpPr txBox="1">
            <a:spLocks noGrp="1"/>
          </p:cNvSpPr>
          <p:nvPr>
            <p:ph type="subTitle" idx="1"/>
          </p:nvPr>
        </p:nvSpPr>
        <p:spPr>
          <a:xfrm>
            <a:off x="311700" y="3527900"/>
            <a:ext cx="8520600" cy="792600"/>
          </a:xfrm>
          <a:prstGeom prst="rect">
            <a:avLst/>
          </a:prstGeom>
        </p:spPr>
        <p:txBody>
          <a:bodyPr spcFirstLastPara="1" wrap="square" lIns="0" tIns="0" rIns="91425" bIns="0" anchor="t" anchorCtr="0">
            <a:noAutofit/>
          </a:bodyPr>
          <a:lstStyle>
            <a:lvl1pPr lvl="0" algn="ctr">
              <a:lnSpc>
                <a:spcPct val="100000"/>
              </a:lnSpc>
              <a:spcBef>
                <a:spcPts val="0"/>
              </a:spcBef>
              <a:spcAft>
                <a:spcPts val="0"/>
              </a:spcAft>
              <a:buSzPts val="2000"/>
              <a:buFont typeface="Poppins"/>
              <a:buNone/>
              <a:defRPr sz="2000">
                <a:latin typeface="Poppins"/>
                <a:ea typeface="Poppins"/>
                <a:cs typeface="Poppins"/>
                <a:sym typeface="Poppins"/>
              </a:defRPr>
            </a:lvl1pPr>
            <a:lvl2pPr lvl="1" algn="ctr">
              <a:lnSpc>
                <a:spcPct val="100000"/>
              </a:lnSpc>
              <a:spcBef>
                <a:spcPts val="0"/>
              </a:spcBef>
              <a:spcAft>
                <a:spcPts val="0"/>
              </a:spcAft>
              <a:buSzPts val="2800"/>
              <a:buFont typeface="Poppins"/>
              <a:buNone/>
              <a:defRPr sz="2800">
                <a:latin typeface="Poppins"/>
                <a:ea typeface="Poppins"/>
                <a:cs typeface="Poppins"/>
                <a:sym typeface="Poppins"/>
              </a:defRPr>
            </a:lvl2pPr>
            <a:lvl3pPr lvl="2" algn="ctr">
              <a:lnSpc>
                <a:spcPct val="100000"/>
              </a:lnSpc>
              <a:spcBef>
                <a:spcPts val="0"/>
              </a:spcBef>
              <a:spcAft>
                <a:spcPts val="0"/>
              </a:spcAft>
              <a:buSzPts val="2800"/>
              <a:buFont typeface="Poppins"/>
              <a:buNone/>
              <a:defRPr sz="2800">
                <a:latin typeface="Poppins"/>
                <a:ea typeface="Poppins"/>
                <a:cs typeface="Poppins"/>
                <a:sym typeface="Poppins"/>
              </a:defRPr>
            </a:lvl3pPr>
            <a:lvl4pPr lvl="3" algn="ctr">
              <a:lnSpc>
                <a:spcPct val="100000"/>
              </a:lnSpc>
              <a:spcBef>
                <a:spcPts val="0"/>
              </a:spcBef>
              <a:spcAft>
                <a:spcPts val="0"/>
              </a:spcAft>
              <a:buSzPts val="2800"/>
              <a:buFont typeface="Poppins"/>
              <a:buNone/>
              <a:defRPr sz="2800">
                <a:latin typeface="Poppins"/>
                <a:ea typeface="Poppins"/>
                <a:cs typeface="Poppins"/>
                <a:sym typeface="Poppins"/>
              </a:defRPr>
            </a:lvl4pPr>
            <a:lvl5pPr lvl="4" algn="ctr">
              <a:lnSpc>
                <a:spcPct val="100000"/>
              </a:lnSpc>
              <a:spcBef>
                <a:spcPts val="0"/>
              </a:spcBef>
              <a:spcAft>
                <a:spcPts val="0"/>
              </a:spcAft>
              <a:buSzPts val="2800"/>
              <a:buFont typeface="Poppins"/>
              <a:buNone/>
              <a:defRPr sz="2800">
                <a:latin typeface="Poppins"/>
                <a:ea typeface="Poppins"/>
                <a:cs typeface="Poppins"/>
                <a:sym typeface="Poppins"/>
              </a:defRPr>
            </a:lvl5pPr>
            <a:lvl6pPr lvl="5" algn="ctr">
              <a:lnSpc>
                <a:spcPct val="100000"/>
              </a:lnSpc>
              <a:spcBef>
                <a:spcPts val="0"/>
              </a:spcBef>
              <a:spcAft>
                <a:spcPts val="0"/>
              </a:spcAft>
              <a:buSzPts val="2800"/>
              <a:buFont typeface="Poppins"/>
              <a:buNone/>
              <a:defRPr sz="2800">
                <a:latin typeface="Poppins"/>
                <a:ea typeface="Poppins"/>
                <a:cs typeface="Poppins"/>
                <a:sym typeface="Poppins"/>
              </a:defRPr>
            </a:lvl6pPr>
            <a:lvl7pPr lvl="6" algn="ctr">
              <a:lnSpc>
                <a:spcPct val="100000"/>
              </a:lnSpc>
              <a:spcBef>
                <a:spcPts val="0"/>
              </a:spcBef>
              <a:spcAft>
                <a:spcPts val="0"/>
              </a:spcAft>
              <a:buSzPts val="2800"/>
              <a:buFont typeface="Poppins"/>
              <a:buNone/>
              <a:defRPr sz="2800">
                <a:latin typeface="Poppins"/>
                <a:ea typeface="Poppins"/>
                <a:cs typeface="Poppins"/>
                <a:sym typeface="Poppins"/>
              </a:defRPr>
            </a:lvl7pPr>
            <a:lvl8pPr lvl="7" algn="ctr">
              <a:lnSpc>
                <a:spcPct val="100000"/>
              </a:lnSpc>
              <a:spcBef>
                <a:spcPts val="0"/>
              </a:spcBef>
              <a:spcAft>
                <a:spcPts val="0"/>
              </a:spcAft>
              <a:buSzPts val="2800"/>
              <a:buFont typeface="Poppins"/>
              <a:buNone/>
              <a:defRPr sz="2800">
                <a:latin typeface="Poppins"/>
                <a:ea typeface="Poppins"/>
                <a:cs typeface="Poppins"/>
                <a:sym typeface="Poppins"/>
              </a:defRPr>
            </a:lvl8pPr>
            <a:lvl9pPr lvl="8" algn="ctr">
              <a:lnSpc>
                <a:spcPct val="100000"/>
              </a:lnSpc>
              <a:spcBef>
                <a:spcPts val="0"/>
              </a:spcBef>
              <a:spcAft>
                <a:spcPts val="0"/>
              </a:spcAft>
              <a:buSzPts val="2800"/>
              <a:buFont typeface="Poppins"/>
              <a:buNone/>
              <a:defRPr sz="2800">
                <a:latin typeface="Poppins"/>
                <a:ea typeface="Poppins"/>
                <a:cs typeface="Poppins"/>
                <a:sym typeface="Poppins"/>
              </a:defRPr>
            </a:lvl9pPr>
          </a:lstStyle>
          <a:p>
            <a:endParaRPr/>
          </a:p>
        </p:txBody>
      </p:sp>
      <p:sp>
        <p:nvSpPr>
          <p:cNvPr id="15" name="Google Shape;15;p2"/>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
          <p:cNvPicPr preferRelativeResize="0"/>
          <p:nvPr/>
        </p:nvPicPr>
        <p:blipFill>
          <a:blip r:embed="rId2">
            <a:alphaModFix/>
          </a:blip>
          <a:stretch>
            <a:fillRect/>
          </a:stretch>
        </p:blipFill>
        <p:spPr>
          <a:xfrm>
            <a:off x="1956450" y="1470075"/>
            <a:ext cx="5106198" cy="829650"/>
          </a:xfrm>
          <a:prstGeom prst="rect">
            <a:avLst/>
          </a:prstGeom>
          <a:noFill/>
          <a:ln>
            <a:noFill/>
          </a:ln>
        </p:spPr>
      </p:pic>
      <p:sp>
        <p:nvSpPr>
          <p:cNvPr id="17" name="Google Shape;17;p2"/>
          <p:cNvSpPr/>
          <p:nvPr/>
        </p:nvSpPr>
        <p:spPr>
          <a:xfrm>
            <a:off x="187325" y="4544250"/>
            <a:ext cx="8817900" cy="4371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1B1B"/>
              </a:solidFill>
            </a:endParaRPr>
          </a:p>
        </p:txBody>
      </p:sp>
      <p:sp>
        <p:nvSpPr>
          <p:cNvPr id="18" name="Google Shape;18;p2"/>
          <p:cNvSpPr/>
          <p:nvPr/>
        </p:nvSpPr>
        <p:spPr>
          <a:xfrm>
            <a:off x="0" y="0"/>
            <a:ext cx="9144000" cy="1317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1B1B"/>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311700" y="2025850"/>
            <a:ext cx="8520600" cy="841800"/>
          </a:xfrm>
          <a:prstGeom prst="rect">
            <a:avLst/>
          </a:prstGeom>
        </p:spPr>
        <p:txBody>
          <a:bodyPr spcFirstLastPara="1" wrap="square" lIns="0" tIns="0" rIns="91425" bIns="0" anchor="ctr" anchorCtr="0">
            <a:noAutofit/>
          </a:bodyPr>
          <a:lstStyle>
            <a:lvl1pPr lvl="0" algn="ctr">
              <a:spcBef>
                <a:spcPts val="0"/>
              </a:spcBef>
              <a:spcAft>
                <a:spcPts val="0"/>
              </a:spcAft>
              <a:buClr>
                <a:srgbClr val="1C1B1B"/>
              </a:buClr>
              <a:buSzPts val="3600"/>
              <a:buFont typeface="Poppins"/>
              <a:buNone/>
              <a:defRPr sz="3600">
                <a:solidFill>
                  <a:srgbClr val="1C1B1B"/>
                </a:solidFill>
                <a:latin typeface="Poppins"/>
                <a:ea typeface="Poppins"/>
                <a:cs typeface="Poppins"/>
                <a:sym typeface="Poppins"/>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Highlight">
  <p:cSld name="SECTION_HEADER_1">
    <p:spTree>
      <p:nvGrpSpPr>
        <p:cNvPr id="1" name="Shape 22"/>
        <p:cNvGrpSpPr/>
        <p:nvPr/>
      </p:nvGrpSpPr>
      <p:grpSpPr>
        <a:xfrm>
          <a:off x="0" y="0"/>
          <a:ext cx="0" cy="0"/>
          <a:chOff x="0" y="0"/>
          <a:chExt cx="0" cy="0"/>
        </a:xfrm>
      </p:grpSpPr>
      <p:sp>
        <p:nvSpPr>
          <p:cNvPr id="23" name="Google Shape;23;p4"/>
          <p:cNvSpPr/>
          <p:nvPr/>
        </p:nvSpPr>
        <p:spPr>
          <a:xfrm>
            <a:off x="0" y="0"/>
            <a:ext cx="9171000" cy="51525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subTitle" idx="1"/>
          </p:nvPr>
        </p:nvSpPr>
        <p:spPr>
          <a:xfrm>
            <a:off x="450600" y="759225"/>
            <a:ext cx="6899400" cy="1517400"/>
          </a:xfrm>
          <a:prstGeom prst="rect">
            <a:avLst/>
          </a:prstGeom>
          <a:noFill/>
        </p:spPr>
        <p:txBody>
          <a:bodyPr spcFirstLastPara="1" wrap="square" lIns="0" tIns="0" rIns="91425" bIns="0" anchor="t" anchorCtr="0">
            <a:noAutofit/>
          </a:bodyPr>
          <a:lstStyle>
            <a:lvl1pPr lvl="0">
              <a:spcBef>
                <a:spcPts val="0"/>
              </a:spcBef>
              <a:spcAft>
                <a:spcPts val="0"/>
              </a:spcAft>
              <a:buClr>
                <a:srgbClr val="FFFFFF"/>
              </a:buClr>
              <a:buSzPts val="3000"/>
              <a:buNone/>
              <a:defRPr sz="3000">
                <a:solidFill>
                  <a:srgbClr val="FFFFFF"/>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26" name="Google Shape;26;p4"/>
          <p:cNvSpPr txBox="1">
            <a:spLocks noGrp="1"/>
          </p:cNvSpPr>
          <p:nvPr>
            <p:ph type="subTitle" idx="2"/>
          </p:nvPr>
        </p:nvSpPr>
        <p:spPr>
          <a:xfrm>
            <a:off x="1794150" y="3464225"/>
            <a:ext cx="5358300" cy="393600"/>
          </a:xfrm>
          <a:prstGeom prst="rect">
            <a:avLst/>
          </a:prstGeom>
        </p:spPr>
        <p:txBody>
          <a:bodyPr spcFirstLastPara="1" wrap="square" lIns="0" tIns="0" rIns="91425" bIns="0" anchor="t" anchorCtr="0">
            <a:noAutofit/>
          </a:bodyPr>
          <a:lstStyle>
            <a:lvl1pPr lvl="0">
              <a:spcBef>
                <a:spcPts val="0"/>
              </a:spcBef>
              <a:spcAft>
                <a:spcPts val="0"/>
              </a:spcAft>
              <a:buClr>
                <a:schemeClr val="lt1"/>
              </a:buClr>
              <a:buSzPts val="2400"/>
              <a:buNone/>
              <a:defRPr sz="2400">
                <a:solidFill>
                  <a:schemeClr val="lt1"/>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5"/>
          <p:cNvSpPr/>
          <p:nvPr/>
        </p:nvSpPr>
        <p:spPr>
          <a:xfrm>
            <a:off x="0" y="0"/>
            <a:ext cx="9144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sp>
        <p:nvSpPr>
          <p:cNvPr id="29" name="Google Shape;29;p5"/>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5"/>
          <p:cNvSpPr/>
          <p:nvPr/>
        </p:nvSpPr>
        <p:spPr>
          <a:xfrm>
            <a:off x="0" y="0"/>
            <a:ext cx="28773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txBox="1"/>
          <p:nvPr/>
        </p:nvSpPr>
        <p:spPr>
          <a:xfrm>
            <a:off x="464100" y="749825"/>
            <a:ext cx="13695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t>Agenda</a:t>
            </a:r>
            <a:endParaRPr sz="2400"/>
          </a:p>
        </p:txBody>
      </p:sp>
      <p:sp>
        <p:nvSpPr>
          <p:cNvPr id="32" name="Google Shape;32;p5"/>
          <p:cNvSpPr txBox="1">
            <a:spLocks noGrp="1"/>
          </p:cNvSpPr>
          <p:nvPr>
            <p:ph type="title"/>
          </p:nvPr>
        </p:nvSpPr>
        <p:spPr>
          <a:xfrm>
            <a:off x="3366875" y="769300"/>
            <a:ext cx="5358300" cy="38094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extLst>
    <p:ext uri="{DCECCB84-F9BA-43D5-87BE-67443E8EF086}">
      <p15:sldGuideLst xmlns:p15="http://schemas.microsoft.com/office/powerpoint/2012/main">
        <p15:guide id="1" orient="horz" pos="720">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11700" y="445025"/>
            <a:ext cx="8520600" cy="5727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 name="Google Shape;35;p6"/>
          <p:cNvSpPr txBox="1">
            <a:spLocks noGrp="1"/>
          </p:cNvSpPr>
          <p:nvPr>
            <p:ph type="body" idx="1"/>
          </p:nvPr>
        </p:nvSpPr>
        <p:spPr>
          <a:xfrm>
            <a:off x="311700" y="1152475"/>
            <a:ext cx="3999900" cy="3121200"/>
          </a:xfrm>
          <a:prstGeom prst="rect">
            <a:avLst/>
          </a:prstGeom>
        </p:spPr>
        <p:txBody>
          <a:bodyPr spcFirstLastPara="1" wrap="square" lIns="0" tIns="0" rIns="91425" bIns="0"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6"/>
          <p:cNvSpPr txBox="1">
            <a:spLocks noGrp="1"/>
          </p:cNvSpPr>
          <p:nvPr>
            <p:ph type="body" idx="2"/>
          </p:nvPr>
        </p:nvSpPr>
        <p:spPr>
          <a:xfrm>
            <a:off x="4832400" y="1152475"/>
            <a:ext cx="3999900" cy="3121200"/>
          </a:xfrm>
          <a:prstGeom prst="rect">
            <a:avLst/>
          </a:prstGeom>
        </p:spPr>
        <p:txBody>
          <a:bodyPr spcFirstLastPara="1" wrap="square" lIns="0" tIns="0" rIns="91425" bIns="0"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7" name="Google Shape;37;p6"/>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ray" type="titleOnly">
  <p:cSld name="TITLE_ONLY">
    <p:spTree>
      <p:nvGrpSpPr>
        <p:cNvPr id="1" name="Shape 38"/>
        <p:cNvGrpSpPr/>
        <p:nvPr/>
      </p:nvGrpSpPr>
      <p:grpSpPr>
        <a:xfrm>
          <a:off x="0" y="0"/>
          <a:ext cx="0" cy="0"/>
          <a:chOff x="0" y="0"/>
          <a:chExt cx="0" cy="0"/>
        </a:xfrm>
      </p:grpSpPr>
      <p:sp>
        <p:nvSpPr>
          <p:cNvPr id="39" name="Google Shape;39;p7"/>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7"/>
          <p:cNvSpPr/>
          <p:nvPr/>
        </p:nvSpPr>
        <p:spPr>
          <a:xfrm>
            <a:off x="0" y="0"/>
            <a:ext cx="9144000" cy="5143500"/>
          </a:xfrm>
          <a:prstGeom prst="rect">
            <a:avLst/>
          </a:prstGeom>
          <a:solidFill>
            <a:srgbClr val="F5F6F8"/>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Gray + UI">
  <p:cSld name="TITLE_ONLY_1">
    <p:spTree>
      <p:nvGrpSpPr>
        <p:cNvPr id="1" name="Shape 41"/>
        <p:cNvGrpSpPr/>
        <p:nvPr/>
      </p:nvGrpSpPr>
      <p:grpSpPr>
        <a:xfrm>
          <a:off x="0" y="0"/>
          <a:ext cx="0" cy="0"/>
          <a:chOff x="0" y="0"/>
          <a:chExt cx="0" cy="0"/>
        </a:xfrm>
      </p:grpSpPr>
      <p:sp>
        <p:nvSpPr>
          <p:cNvPr id="42" name="Google Shape;42;p8"/>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3" name="Google Shape;43;p8"/>
          <p:cNvSpPr/>
          <p:nvPr/>
        </p:nvSpPr>
        <p:spPr>
          <a:xfrm>
            <a:off x="0" y="0"/>
            <a:ext cx="9144000" cy="5143500"/>
          </a:xfrm>
          <a:prstGeom prst="rect">
            <a:avLst/>
          </a:prstGeom>
          <a:solidFill>
            <a:srgbClr val="F5F6F8"/>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pic>
        <p:nvPicPr>
          <p:cNvPr id="44" name="Google Shape;44;p8"/>
          <p:cNvPicPr preferRelativeResize="0"/>
          <p:nvPr/>
        </p:nvPicPr>
        <p:blipFill>
          <a:blip r:embed="rId2">
            <a:alphaModFix/>
          </a:blip>
          <a:stretch>
            <a:fillRect/>
          </a:stretch>
        </p:blipFill>
        <p:spPr>
          <a:xfrm>
            <a:off x="4371250" y="930012"/>
            <a:ext cx="4506826" cy="3198375"/>
          </a:xfrm>
          <a:prstGeom prst="rect">
            <a:avLst/>
          </a:prstGeom>
          <a:noFill/>
          <a:ln>
            <a:noFill/>
          </a:ln>
        </p:spPr>
      </p:pic>
      <p:sp>
        <p:nvSpPr>
          <p:cNvPr id="45" name="Google Shape;45;p8"/>
          <p:cNvSpPr txBox="1">
            <a:spLocks noGrp="1"/>
          </p:cNvSpPr>
          <p:nvPr>
            <p:ph type="title"/>
          </p:nvPr>
        </p:nvSpPr>
        <p:spPr>
          <a:xfrm>
            <a:off x="403175" y="683025"/>
            <a:ext cx="4054500" cy="7035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reserve="1" userDrawn="1">
  <p:cSld name="1_Section title and description">
    <p:spTree>
      <p:nvGrpSpPr>
        <p:cNvPr id="1" name="Shape 49"/>
        <p:cNvGrpSpPr/>
        <p:nvPr/>
      </p:nvGrpSpPr>
      <p:grpSpPr>
        <a:xfrm>
          <a:off x="0" y="0"/>
          <a:ext cx="0" cy="0"/>
          <a:chOff x="0" y="0"/>
          <a:chExt cx="0" cy="0"/>
        </a:xfrm>
      </p:grpSpPr>
      <p:sp>
        <p:nvSpPr>
          <p:cNvPr id="54" name="Google Shape;54;p10"/>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27829520"/>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7" name="Google Shape;57;p11"/>
          <p:cNvSpPr/>
          <p:nvPr/>
        </p:nvSpPr>
        <p:spPr>
          <a:xfrm>
            <a:off x="-8375" y="-7925"/>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1"/>
          <p:cNvSpPr/>
          <p:nvPr/>
        </p:nvSpPr>
        <p:spPr>
          <a:xfrm>
            <a:off x="-7225" y="-7925"/>
            <a:ext cx="5569800" cy="51435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9" name="Google Shape;59;p11"/>
          <p:cNvPicPr preferRelativeResize="0"/>
          <p:nvPr/>
        </p:nvPicPr>
        <p:blipFill>
          <a:blip r:embed="rId2">
            <a:alphaModFix/>
          </a:blip>
          <a:stretch>
            <a:fillRect/>
          </a:stretch>
        </p:blipFill>
        <p:spPr>
          <a:xfrm>
            <a:off x="3443975" y="-50925"/>
            <a:ext cx="2118600" cy="2071525"/>
          </a:xfrm>
          <a:prstGeom prst="rect">
            <a:avLst/>
          </a:prstGeom>
          <a:noFill/>
          <a:ln>
            <a:noFill/>
          </a:ln>
        </p:spPr>
      </p:pic>
      <p:pic>
        <p:nvPicPr>
          <p:cNvPr id="60" name="Google Shape;60;p11"/>
          <p:cNvPicPr preferRelativeResize="0"/>
          <p:nvPr/>
        </p:nvPicPr>
        <p:blipFill>
          <a:blip r:embed="rId3">
            <a:alphaModFix/>
          </a:blip>
          <a:stretch>
            <a:fillRect/>
          </a:stretch>
        </p:blipFill>
        <p:spPr>
          <a:xfrm>
            <a:off x="-7223" y="579688"/>
            <a:ext cx="1479225" cy="4112650"/>
          </a:xfrm>
          <a:prstGeom prst="rect">
            <a:avLst/>
          </a:prstGeom>
          <a:noFill/>
          <a:ln>
            <a:noFill/>
          </a:ln>
        </p:spPr>
      </p:pic>
      <p:pic>
        <p:nvPicPr>
          <p:cNvPr id="61" name="Google Shape;61;p11"/>
          <p:cNvPicPr preferRelativeResize="0"/>
          <p:nvPr/>
        </p:nvPicPr>
        <p:blipFill>
          <a:blip r:embed="rId4">
            <a:alphaModFix/>
          </a:blip>
          <a:stretch>
            <a:fillRect/>
          </a:stretch>
        </p:blipFill>
        <p:spPr>
          <a:xfrm>
            <a:off x="619675" y="1350125"/>
            <a:ext cx="4330424" cy="2571775"/>
          </a:xfrm>
          <a:prstGeom prst="rect">
            <a:avLst/>
          </a:prstGeom>
          <a:noFill/>
          <a:ln>
            <a:noFill/>
          </a:ln>
        </p:spPr>
      </p:pic>
      <p:sp>
        <p:nvSpPr>
          <p:cNvPr id="62" name="Google Shape;62;p11"/>
          <p:cNvSpPr txBox="1">
            <a:spLocks noGrp="1"/>
          </p:cNvSpPr>
          <p:nvPr>
            <p:ph type="title"/>
          </p:nvPr>
        </p:nvSpPr>
        <p:spPr>
          <a:xfrm>
            <a:off x="6068100" y="1440150"/>
            <a:ext cx="2687100" cy="28530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ullet Points" type="blank">
  <p:cSld name="BLANK">
    <p:spTree>
      <p:nvGrpSpPr>
        <p:cNvPr id="1" name="Shape 63"/>
        <p:cNvGrpSpPr/>
        <p:nvPr/>
      </p:nvGrpSpPr>
      <p:grpSpPr>
        <a:xfrm>
          <a:off x="0" y="0"/>
          <a:ext cx="0" cy="0"/>
          <a:chOff x="0" y="0"/>
          <a:chExt cx="0" cy="0"/>
        </a:xfrm>
      </p:grpSpPr>
      <p:sp>
        <p:nvSpPr>
          <p:cNvPr id="64" name="Google Shape;64;p12"/>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2"/>
          <p:cNvSpPr/>
          <p:nvPr/>
        </p:nvSpPr>
        <p:spPr>
          <a:xfrm>
            <a:off x="-8375" y="-7925"/>
            <a:ext cx="9144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2"/>
          <p:cNvSpPr/>
          <p:nvPr/>
        </p:nvSpPr>
        <p:spPr>
          <a:xfrm>
            <a:off x="3878975" y="-7925"/>
            <a:ext cx="5265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Google Shape;67;p12"/>
          <p:cNvPicPr preferRelativeResize="0"/>
          <p:nvPr/>
        </p:nvPicPr>
        <p:blipFill>
          <a:blip r:embed="rId2">
            <a:alphaModFix/>
          </a:blip>
          <a:stretch>
            <a:fillRect/>
          </a:stretch>
        </p:blipFill>
        <p:spPr>
          <a:xfrm>
            <a:off x="5687200" y="703350"/>
            <a:ext cx="3651626" cy="4440150"/>
          </a:xfrm>
          <a:prstGeom prst="rect">
            <a:avLst/>
          </a:prstGeom>
          <a:noFill/>
          <a:ln>
            <a:noFill/>
          </a:ln>
        </p:spPr>
      </p:pic>
      <p:pic>
        <p:nvPicPr>
          <p:cNvPr id="68" name="Google Shape;68;p12"/>
          <p:cNvPicPr preferRelativeResize="0"/>
          <p:nvPr/>
        </p:nvPicPr>
        <p:blipFill>
          <a:blip r:embed="rId3">
            <a:alphaModFix/>
          </a:blip>
          <a:stretch>
            <a:fillRect/>
          </a:stretch>
        </p:blipFill>
        <p:spPr>
          <a:xfrm>
            <a:off x="4294075" y="1350125"/>
            <a:ext cx="4330424" cy="2571775"/>
          </a:xfrm>
          <a:prstGeom prst="rect">
            <a:avLst/>
          </a:prstGeom>
          <a:noFill/>
          <a:ln>
            <a:noFill/>
          </a:ln>
        </p:spPr>
      </p:pic>
      <p:sp>
        <p:nvSpPr>
          <p:cNvPr id="69" name="Google Shape;69;p12"/>
          <p:cNvSpPr txBox="1">
            <a:spLocks noGrp="1"/>
          </p:cNvSpPr>
          <p:nvPr>
            <p:ph type="body" idx="1"/>
          </p:nvPr>
        </p:nvSpPr>
        <p:spPr>
          <a:xfrm>
            <a:off x="311700" y="654250"/>
            <a:ext cx="3267900" cy="4029000"/>
          </a:xfrm>
          <a:prstGeom prst="rect">
            <a:avLst/>
          </a:prstGeom>
        </p:spPr>
        <p:txBody>
          <a:bodyPr spcFirstLastPara="1" wrap="square" lIns="0" tIns="0" rIns="91425" bIns="0" anchor="ctr" anchorCtr="0">
            <a:noAutofit/>
          </a:bodyPr>
          <a:lstStyle>
            <a:lvl1pPr marL="457200" lvl="0" indent="-317500" rtl="0">
              <a:lnSpc>
                <a:spcPct val="100000"/>
              </a:lnSpc>
              <a:spcBef>
                <a:spcPts val="0"/>
              </a:spcBef>
              <a:spcAft>
                <a:spcPts val="0"/>
              </a:spcAft>
              <a:buClr>
                <a:schemeClr val="dk1"/>
              </a:buClr>
              <a:buSzPts val="1400"/>
              <a:buChar char="●"/>
              <a:defRPr sz="1400">
                <a:solidFill>
                  <a:schemeClr val="dk1"/>
                </a:solidFill>
              </a:defRPr>
            </a:lvl1pPr>
            <a:lvl2pPr marL="914400" lvl="1" indent="-317500" rtl="0">
              <a:lnSpc>
                <a:spcPct val="100000"/>
              </a:lnSpc>
              <a:spcBef>
                <a:spcPts val="0"/>
              </a:spcBef>
              <a:spcAft>
                <a:spcPts val="0"/>
              </a:spcAft>
              <a:buClr>
                <a:schemeClr val="dk1"/>
              </a:buClr>
              <a:buSzPts val="1400"/>
              <a:buChar char="○"/>
              <a:defRPr>
                <a:solidFill>
                  <a:schemeClr val="dk1"/>
                </a:solidFill>
              </a:defRPr>
            </a:lvl2pPr>
            <a:lvl3pPr marL="1371600" lvl="2" indent="-317500" rtl="0">
              <a:lnSpc>
                <a:spcPct val="100000"/>
              </a:lnSpc>
              <a:spcBef>
                <a:spcPts val="0"/>
              </a:spcBef>
              <a:spcAft>
                <a:spcPts val="0"/>
              </a:spcAft>
              <a:buClr>
                <a:schemeClr val="dk1"/>
              </a:buClr>
              <a:buSzPts val="1400"/>
              <a:buChar char="■"/>
              <a:defRPr>
                <a:solidFill>
                  <a:schemeClr val="dk1"/>
                </a:solidFill>
              </a:defRPr>
            </a:lvl3pPr>
            <a:lvl4pPr marL="1828800" lvl="3" indent="-317500" rtl="0">
              <a:lnSpc>
                <a:spcPct val="100000"/>
              </a:lnSpc>
              <a:spcBef>
                <a:spcPts val="0"/>
              </a:spcBef>
              <a:spcAft>
                <a:spcPts val="0"/>
              </a:spcAft>
              <a:buClr>
                <a:schemeClr val="dk1"/>
              </a:buClr>
              <a:buSzPts val="1400"/>
              <a:buChar char="●"/>
              <a:defRPr>
                <a:solidFill>
                  <a:schemeClr val="dk1"/>
                </a:solidFill>
              </a:defRPr>
            </a:lvl4pPr>
            <a:lvl5pPr marL="2286000" lvl="4" indent="-317500" rtl="0">
              <a:lnSpc>
                <a:spcPct val="100000"/>
              </a:lnSpc>
              <a:spcBef>
                <a:spcPts val="0"/>
              </a:spcBef>
              <a:spcAft>
                <a:spcPts val="0"/>
              </a:spcAft>
              <a:buClr>
                <a:schemeClr val="dk1"/>
              </a:buClr>
              <a:buSzPts val="1400"/>
              <a:buChar char="○"/>
              <a:defRPr>
                <a:solidFill>
                  <a:schemeClr val="dk1"/>
                </a:solidFill>
              </a:defRPr>
            </a:lvl5pPr>
            <a:lvl6pPr marL="2743200" lvl="5" indent="-317500" rtl="0">
              <a:lnSpc>
                <a:spcPct val="100000"/>
              </a:lnSpc>
              <a:spcBef>
                <a:spcPts val="0"/>
              </a:spcBef>
              <a:spcAft>
                <a:spcPts val="0"/>
              </a:spcAft>
              <a:buClr>
                <a:schemeClr val="dk1"/>
              </a:buClr>
              <a:buSzPts val="1400"/>
              <a:buChar char="■"/>
              <a:defRPr>
                <a:solidFill>
                  <a:schemeClr val="dk1"/>
                </a:solidFill>
              </a:defRPr>
            </a:lvl6pPr>
            <a:lvl7pPr marL="3200400" lvl="6" indent="-317500" rtl="0">
              <a:lnSpc>
                <a:spcPct val="100000"/>
              </a:lnSpc>
              <a:spcBef>
                <a:spcPts val="0"/>
              </a:spcBef>
              <a:spcAft>
                <a:spcPts val="0"/>
              </a:spcAft>
              <a:buClr>
                <a:schemeClr val="dk1"/>
              </a:buClr>
              <a:buSzPts val="1400"/>
              <a:buChar char="●"/>
              <a:defRPr>
                <a:solidFill>
                  <a:schemeClr val="dk1"/>
                </a:solidFill>
              </a:defRPr>
            </a:lvl7pPr>
            <a:lvl8pPr marL="3657600" lvl="7" indent="-317500" rtl="0">
              <a:lnSpc>
                <a:spcPct val="100000"/>
              </a:lnSpc>
              <a:spcBef>
                <a:spcPts val="0"/>
              </a:spcBef>
              <a:spcAft>
                <a:spcPts val="0"/>
              </a:spcAft>
              <a:buClr>
                <a:schemeClr val="dk1"/>
              </a:buClr>
              <a:buSzPts val="1400"/>
              <a:buChar char="○"/>
              <a:defRPr>
                <a:solidFill>
                  <a:schemeClr val="dk1"/>
                </a:solidFill>
              </a:defRPr>
            </a:lvl8pPr>
            <a:lvl9pPr marL="4114800" lvl="8" indent="-317500" rtl="0">
              <a:lnSpc>
                <a:spcPct val="100000"/>
              </a:lnSpc>
              <a:spcBef>
                <a:spcPts val="0"/>
              </a:spcBef>
              <a:spcAft>
                <a:spcPts val="0"/>
              </a:spcAft>
              <a:buClr>
                <a:schemeClr val="dk1"/>
              </a:buClr>
              <a:buSzPts val="1400"/>
              <a:buChar char="■"/>
              <a:defRPr>
                <a:solidFill>
                  <a:schemeClr val="dk1"/>
                </a:solidFill>
              </a:defRPr>
            </a:lvl9pPr>
          </a:lstStyle>
          <a:p>
            <a:endParaRPr/>
          </a:p>
        </p:txBody>
      </p:sp>
      <p:pic>
        <p:nvPicPr>
          <p:cNvPr id="70" name="Google Shape;70;p12"/>
          <p:cNvPicPr preferRelativeResize="0"/>
          <p:nvPr/>
        </p:nvPicPr>
        <p:blipFill>
          <a:blip r:embed="rId4">
            <a:alphaModFix/>
          </a:blip>
          <a:stretch>
            <a:fillRect/>
          </a:stretch>
        </p:blipFill>
        <p:spPr>
          <a:xfrm>
            <a:off x="381575" y="4710130"/>
            <a:ext cx="804775" cy="1307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311700" y="445025"/>
            <a:ext cx="8520600" cy="5727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p13"/>
          <p:cNvSpPr/>
          <p:nvPr/>
        </p:nvSpPr>
        <p:spPr>
          <a:xfrm>
            <a:off x="-100" y="0"/>
            <a:ext cx="9144000" cy="19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1217200" y="4686575"/>
            <a:ext cx="1596300" cy="19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CUSTOM_1">
    <p:spTree>
      <p:nvGrpSpPr>
        <p:cNvPr id="1" name="Shape 75"/>
        <p:cNvGrpSpPr/>
        <p:nvPr/>
      </p:nvGrpSpPr>
      <p:grpSpPr>
        <a:xfrm>
          <a:off x="0" y="0"/>
          <a:ext cx="0" cy="0"/>
          <a:chOff x="0" y="0"/>
          <a:chExt cx="0" cy="0"/>
        </a:xfrm>
      </p:grpSpPr>
      <p:sp>
        <p:nvSpPr>
          <p:cNvPr id="76" name="Google Shape;76;p14"/>
          <p:cNvSpPr/>
          <p:nvPr/>
        </p:nvSpPr>
        <p:spPr>
          <a:xfrm>
            <a:off x="0" y="0"/>
            <a:ext cx="9144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txBox="1">
            <a:spLocks noGrp="1"/>
          </p:cNvSpPr>
          <p:nvPr>
            <p:ph type="title"/>
          </p:nvPr>
        </p:nvSpPr>
        <p:spPr>
          <a:xfrm>
            <a:off x="316250" y="3082775"/>
            <a:ext cx="5603400" cy="1730700"/>
          </a:xfrm>
          <a:prstGeom prst="rect">
            <a:avLst/>
          </a:prstGeom>
        </p:spPr>
        <p:txBody>
          <a:bodyPr spcFirstLastPara="1" wrap="square" lIns="0" tIns="0" rIns="91425" bIns="0" anchor="t"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
        <p:nvSpPr>
          <p:cNvPr id="78" name="Google Shape;78;p14"/>
          <p:cNvSpPr txBox="1">
            <a:spLocks noGrp="1"/>
          </p:cNvSpPr>
          <p:nvPr>
            <p:ph type="subTitle" idx="1"/>
          </p:nvPr>
        </p:nvSpPr>
        <p:spPr>
          <a:xfrm>
            <a:off x="316250" y="616975"/>
            <a:ext cx="8377500" cy="908700"/>
          </a:xfrm>
          <a:prstGeom prst="rect">
            <a:avLst/>
          </a:prstGeom>
        </p:spPr>
        <p:txBody>
          <a:bodyPr spcFirstLastPara="1" wrap="square" lIns="0" tIns="0" rIns="91425" bIns="0" anchor="t" anchorCtr="0">
            <a:noAutofit/>
          </a:bodyPr>
          <a:lstStyle>
            <a:lvl1pPr lvl="0">
              <a:spcBef>
                <a:spcPts val="0"/>
              </a:spcBef>
              <a:spcAft>
                <a:spcPts val="0"/>
              </a:spcAft>
              <a:buClr>
                <a:srgbClr val="FFFFFF"/>
              </a:buClr>
              <a:buSzPts val="7000"/>
              <a:buNone/>
              <a:defRPr sz="7000">
                <a:solidFill>
                  <a:srgbClr val="FFFFFF"/>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89">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CUSTOM_1_1">
    <p:spTree>
      <p:nvGrpSpPr>
        <p:cNvPr id="1" name="Shape 79"/>
        <p:cNvGrpSpPr/>
        <p:nvPr/>
      </p:nvGrpSpPr>
      <p:grpSpPr>
        <a:xfrm>
          <a:off x="0" y="0"/>
          <a:ext cx="0" cy="0"/>
          <a:chOff x="0" y="0"/>
          <a:chExt cx="0" cy="0"/>
        </a:xfrm>
      </p:grpSpPr>
      <p:sp>
        <p:nvSpPr>
          <p:cNvPr id="80" name="Google Shape;80;p15"/>
          <p:cNvSpPr/>
          <p:nvPr/>
        </p:nvSpPr>
        <p:spPr>
          <a:xfrm>
            <a:off x="0" y="0"/>
            <a:ext cx="9144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316250" y="4073375"/>
            <a:ext cx="5603400" cy="689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000">
                <a:latin typeface="Poppins"/>
                <a:ea typeface="Poppins"/>
                <a:cs typeface="Poppins"/>
                <a:sym typeface="Poppins"/>
              </a:rPr>
              <a:t>Thank you</a:t>
            </a:r>
            <a:endParaRPr sz="5000">
              <a:latin typeface="Poppins"/>
              <a:ea typeface="Poppins"/>
              <a:cs typeface="Poppins"/>
              <a:sym typeface="Poppins"/>
            </a:endParaRPr>
          </a:p>
        </p:txBody>
      </p:sp>
    </p:spTree>
  </p:cSld>
  <p:clrMapOvr>
    <a:masterClrMapping/>
  </p:clrMapOvr>
  <p:extLst>
    <p:ext uri="{DCECCB84-F9BA-43D5-87BE-67443E8EF086}">
      <p15:sldGuideLst xmlns:p15="http://schemas.microsoft.com/office/powerpoint/2012/main">
        <p15:guide id="1" orient="horz" pos="389">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311700" y="2025850"/>
            <a:ext cx="8520600" cy="841800"/>
          </a:xfrm>
          <a:prstGeom prst="rect">
            <a:avLst/>
          </a:prstGeom>
        </p:spPr>
        <p:txBody>
          <a:bodyPr spcFirstLastPara="1" wrap="square" lIns="0" tIns="0" rIns="91425" bIns="0" anchor="ctr" anchorCtr="0">
            <a:noAutofit/>
          </a:bodyPr>
          <a:lstStyle>
            <a:lvl1pPr lvl="0" algn="ctr">
              <a:spcBef>
                <a:spcPts val="0"/>
              </a:spcBef>
              <a:spcAft>
                <a:spcPts val="0"/>
              </a:spcAft>
              <a:buClr>
                <a:srgbClr val="1C1B1B"/>
              </a:buClr>
              <a:buSzPts val="3600"/>
              <a:buFont typeface="Poppins"/>
              <a:buNone/>
              <a:defRPr sz="3600">
                <a:solidFill>
                  <a:srgbClr val="1C1B1B"/>
                </a:solidFill>
                <a:latin typeface="Poppins"/>
                <a:ea typeface="Poppins"/>
                <a:cs typeface="Poppins"/>
                <a:sym typeface="Poppins"/>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316196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Highlight">
  <p:cSld name="Quote Highlight">
    <p:spTree>
      <p:nvGrpSpPr>
        <p:cNvPr id="1" name="Shape 22"/>
        <p:cNvGrpSpPr/>
        <p:nvPr/>
      </p:nvGrpSpPr>
      <p:grpSpPr>
        <a:xfrm>
          <a:off x="0" y="0"/>
          <a:ext cx="0" cy="0"/>
          <a:chOff x="0" y="0"/>
          <a:chExt cx="0" cy="0"/>
        </a:xfrm>
      </p:grpSpPr>
      <p:sp>
        <p:nvSpPr>
          <p:cNvPr id="23" name="Google Shape;23;p4"/>
          <p:cNvSpPr/>
          <p:nvPr/>
        </p:nvSpPr>
        <p:spPr>
          <a:xfrm>
            <a:off x="0" y="0"/>
            <a:ext cx="9171000" cy="51525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subTitle" idx="1"/>
          </p:nvPr>
        </p:nvSpPr>
        <p:spPr>
          <a:xfrm>
            <a:off x="450600" y="759225"/>
            <a:ext cx="6899400" cy="1517400"/>
          </a:xfrm>
          <a:prstGeom prst="rect">
            <a:avLst/>
          </a:prstGeom>
          <a:noFill/>
        </p:spPr>
        <p:txBody>
          <a:bodyPr spcFirstLastPara="1" wrap="square" lIns="0" tIns="0" rIns="91425" bIns="0" anchor="t" anchorCtr="0">
            <a:noAutofit/>
          </a:bodyPr>
          <a:lstStyle>
            <a:lvl1pPr lvl="0">
              <a:spcBef>
                <a:spcPts val="0"/>
              </a:spcBef>
              <a:spcAft>
                <a:spcPts val="0"/>
              </a:spcAft>
              <a:buClr>
                <a:srgbClr val="FFFFFF"/>
              </a:buClr>
              <a:buSzPts val="3000"/>
              <a:buNone/>
              <a:defRPr sz="3000">
                <a:solidFill>
                  <a:srgbClr val="FFFFFF"/>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26" name="Google Shape;26;p4"/>
          <p:cNvSpPr txBox="1">
            <a:spLocks noGrp="1"/>
          </p:cNvSpPr>
          <p:nvPr>
            <p:ph type="subTitle" idx="2"/>
          </p:nvPr>
        </p:nvSpPr>
        <p:spPr>
          <a:xfrm>
            <a:off x="1794150" y="3464225"/>
            <a:ext cx="5358300" cy="393600"/>
          </a:xfrm>
          <a:prstGeom prst="rect">
            <a:avLst/>
          </a:prstGeom>
        </p:spPr>
        <p:txBody>
          <a:bodyPr spcFirstLastPara="1" wrap="square" lIns="0" tIns="0" rIns="91425" bIns="0" anchor="t" anchorCtr="0">
            <a:noAutofit/>
          </a:bodyPr>
          <a:lstStyle>
            <a:lvl1pPr lvl="0">
              <a:spcBef>
                <a:spcPts val="0"/>
              </a:spcBef>
              <a:spcAft>
                <a:spcPts val="0"/>
              </a:spcAft>
              <a:buClr>
                <a:schemeClr val="lt1"/>
              </a:buClr>
              <a:buSzPts val="2400"/>
              <a:buNone/>
              <a:defRPr sz="2400">
                <a:solidFill>
                  <a:schemeClr val="lt1"/>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extLst>
      <p:ext uri="{BB962C8B-B14F-4D97-AF65-F5344CB8AC3E}">
        <p14:creationId xmlns:p14="http://schemas.microsoft.com/office/powerpoint/2010/main" val="17325772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5"/>
          <p:cNvSpPr/>
          <p:nvPr/>
        </p:nvSpPr>
        <p:spPr>
          <a:xfrm>
            <a:off x="0" y="0"/>
            <a:ext cx="9144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sp>
        <p:nvSpPr>
          <p:cNvPr id="29" name="Google Shape;29;p5"/>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5"/>
          <p:cNvSpPr/>
          <p:nvPr/>
        </p:nvSpPr>
        <p:spPr>
          <a:xfrm>
            <a:off x="0" y="0"/>
            <a:ext cx="28773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txBox="1"/>
          <p:nvPr/>
        </p:nvSpPr>
        <p:spPr>
          <a:xfrm>
            <a:off x="464100" y="749825"/>
            <a:ext cx="13695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t>Agenda</a:t>
            </a:r>
            <a:endParaRPr sz="2400"/>
          </a:p>
        </p:txBody>
      </p:sp>
      <p:sp>
        <p:nvSpPr>
          <p:cNvPr id="32" name="Google Shape;32;p5"/>
          <p:cNvSpPr txBox="1">
            <a:spLocks noGrp="1"/>
          </p:cNvSpPr>
          <p:nvPr>
            <p:ph type="title"/>
          </p:nvPr>
        </p:nvSpPr>
        <p:spPr>
          <a:xfrm>
            <a:off x="3366875" y="769300"/>
            <a:ext cx="5358300" cy="38094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2067917258"/>
      </p:ext>
    </p:extLst>
  </p:cSld>
  <p:clrMapOvr>
    <a:masterClrMapping/>
  </p:clrMapOvr>
  <p:extLst>
    <p:ext uri="{DCECCB84-F9BA-43D5-87BE-67443E8EF086}">
      <p15:sldGuideLst xmlns:p15="http://schemas.microsoft.com/office/powerpoint/2012/main">
        <p15:guide id="1" orient="horz" pos="720">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11700" y="445025"/>
            <a:ext cx="8520600" cy="5727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 name="Google Shape;35;p6"/>
          <p:cNvSpPr txBox="1">
            <a:spLocks noGrp="1"/>
          </p:cNvSpPr>
          <p:nvPr>
            <p:ph type="body" idx="1"/>
          </p:nvPr>
        </p:nvSpPr>
        <p:spPr>
          <a:xfrm>
            <a:off x="311700" y="1152475"/>
            <a:ext cx="3999900" cy="3121200"/>
          </a:xfrm>
          <a:prstGeom prst="rect">
            <a:avLst/>
          </a:prstGeom>
        </p:spPr>
        <p:txBody>
          <a:bodyPr spcFirstLastPara="1" wrap="square" lIns="0" tIns="0" rIns="91425" bIns="0"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6"/>
          <p:cNvSpPr txBox="1">
            <a:spLocks noGrp="1"/>
          </p:cNvSpPr>
          <p:nvPr>
            <p:ph type="body" idx="2"/>
          </p:nvPr>
        </p:nvSpPr>
        <p:spPr>
          <a:xfrm>
            <a:off x="4832400" y="1152475"/>
            <a:ext cx="3999900" cy="3121200"/>
          </a:xfrm>
          <a:prstGeom prst="rect">
            <a:avLst/>
          </a:prstGeom>
        </p:spPr>
        <p:txBody>
          <a:bodyPr spcFirstLastPara="1" wrap="square" lIns="0" tIns="0" rIns="91425" bIns="0"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7" name="Google Shape;37;p6"/>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642263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y" type="titleOnly">
  <p:cSld name="Gray">
    <p:spTree>
      <p:nvGrpSpPr>
        <p:cNvPr id="1" name="Shape 38"/>
        <p:cNvGrpSpPr/>
        <p:nvPr/>
      </p:nvGrpSpPr>
      <p:grpSpPr>
        <a:xfrm>
          <a:off x="0" y="0"/>
          <a:ext cx="0" cy="0"/>
          <a:chOff x="0" y="0"/>
          <a:chExt cx="0" cy="0"/>
        </a:xfrm>
      </p:grpSpPr>
      <p:sp>
        <p:nvSpPr>
          <p:cNvPr id="39" name="Google Shape;39;p7"/>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7"/>
          <p:cNvSpPr/>
          <p:nvPr/>
        </p:nvSpPr>
        <p:spPr>
          <a:xfrm>
            <a:off x="0" y="0"/>
            <a:ext cx="9144000" cy="5143500"/>
          </a:xfrm>
          <a:prstGeom prst="rect">
            <a:avLst/>
          </a:prstGeom>
          <a:solidFill>
            <a:srgbClr val="F5F6F8"/>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spTree>
    <p:extLst>
      <p:ext uri="{BB962C8B-B14F-4D97-AF65-F5344CB8AC3E}">
        <p14:creationId xmlns:p14="http://schemas.microsoft.com/office/powerpoint/2010/main" val="22214164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Gray + UI">
  <p:cSld name="Gray + UI">
    <p:spTree>
      <p:nvGrpSpPr>
        <p:cNvPr id="1" name="Shape 41"/>
        <p:cNvGrpSpPr/>
        <p:nvPr/>
      </p:nvGrpSpPr>
      <p:grpSpPr>
        <a:xfrm>
          <a:off x="0" y="0"/>
          <a:ext cx="0" cy="0"/>
          <a:chOff x="0" y="0"/>
          <a:chExt cx="0" cy="0"/>
        </a:xfrm>
      </p:grpSpPr>
      <p:sp>
        <p:nvSpPr>
          <p:cNvPr id="42" name="Google Shape;42;p8"/>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3" name="Google Shape;43;p8"/>
          <p:cNvSpPr/>
          <p:nvPr/>
        </p:nvSpPr>
        <p:spPr>
          <a:xfrm>
            <a:off x="0" y="0"/>
            <a:ext cx="9144000" cy="5143500"/>
          </a:xfrm>
          <a:prstGeom prst="rect">
            <a:avLst/>
          </a:prstGeom>
          <a:solidFill>
            <a:srgbClr val="F5F6F8"/>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pic>
        <p:nvPicPr>
          <p:cNvPr id="44" name="Google Shape;44;p8"/>
          <p:cNvPicPr preferRelativeResize="0"/>
          <p:nvPr/>
        </p:nvPicPr>
        <p:blipFill>
          <a:blip r:embed="rId2">
            <a:alphaModFix/>
          </a:blip>
          <a:stretch>
            <a:fillRect/>
          </a:stretch>
        </p:blipFill>
        <p:spPr>
          <a:xfrm>
            <a:off x="4371250" y="930012"/>
            <a:ext cx="4506826" cy="3198375"/>
          </a:xfrm>
          <a:prstGeom prst="rect">
            <a:avLst/>
          </a:prstGeom>
          <a:noFill/>
          <a:ln>
            <a:noFill/>
          </a:ln>
        </p:spPr>
      </p:pic>
      <p:sp>
        <p:nvSpPr>
          <p:cNvPr id="45" name="Google Shape;45;p8"/>
          <p:cNvSpPr txBox="1">
            <a:spLocks noGrp="1"/>
          </p:cNvSpPr>
          <p:nvPr>
            <p:ph type="title"/>
          </p:nvPr>
        </p:nvSpPr>
        <p:spPr>
          <a:xfrm>
            <a:off x="403175" y="683025"/>
            <a:ext cx="4054500" cy="7035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21887397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400050" y="745550"/>
            <a:ext cx="6367800" cy="3520500"/>
          </a:xfrm>
          <a:prstGeom prst="rect">
            <a:avLst/>
          </a:prstGeom>
        </p:spPr>
        <p:txBody>
          <a:bodyPr spcFirstLastPara="1" wrap="square" lIns="0" tIns="0" rIns="0" bIns="0" anchor="ctr" anchorCtr="0">
            <a:noAutofit/>
          </a:bodyPr>
          <a:lstStyle>
            <a:lvl1pPr lvl="0">
              <a:spcBef>
                <a:spcPts val="0"/>
              </a:spcBef>
              <a:spcAft>
                <a:spcPts val="0"/>
              </a:spcAft>
              <a:buClr>
                <a:srgbClr val="1C1B1B"/>
              </a:buClr>
              <a:buSzPts val="4800"/>
              <a:buNone/>
              <a:defRPr sz="4800">
                <a:solidFill>
                  <a:srgbClr val="1C1B1B"/>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8" name="Google Shape;48;p9"/>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794519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reserve="1" userDrawn="1">
  <p:cSld name="1_Section title and description">
    <p:spTree>
      <p:nvGrpSpPr>
        <p:cNvPr id="1" name="Shape 49"/>
        <p:cNvGrpSpPr/>
        <p:nvPr/>
      </p:nvGrpSpPr>
      <p:grpSpPr>
        <a:xfrm>
          <a:off x="0" y="0"/>
          <a:ext cx="0" cy="0"/>
          <a:chOff x="0" y="0"/>
          <a:chExt cx="0" cy="0"/>
        </a:xfrm>
      </p:grpSpPr>
      <p:sp>
        <p:nvSpPr>
          <p:cNvPr id="54" name="Google Shape;54;p10"/>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0511385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p11"/>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7" name="Google Shape;57;p11"/>
          <p:cNvSpPr/>
          <p:nvPr/>
        </p:nvSpPr>
        <p:spPr>
          <a:xfrm>
            <a:off x="-8375" y="-7925"/>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1"/>
          <p:cNvSpPr/>
          <p:nvPr/>
        </p:nvSpPr>
        <p:spPr>
          <a:xfrm>
            <a:off x="-7225" y="-7925"/>
            <a:ext cx="5569800" cy="51435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9" name="Google Shape;59;p11"/>
          <p:cNvPicPr preferRelativeResize="0"/>
          <p:nvPr/>
        </p:nvPicPr>
        <p:blipFill>
          <a:blip r:embed="rId2">
            <a:alphaModFix/>
          </a:blip>
          <a:stretch>
            <a:fillRect/>
          </a:stretch>
        </p:blipFill>
        <p:spPr>
          <a:xfrm>
            <a:off x="3443975" y="-50925"/>
            <a:ext cx="2118600" cy="2071525"/>
          </a:xfrm>
          <a:prstGeom prst="rect">
            <a:avLst/>
          </a:prstGeom>
          <a:noFill/>
          <a:ln>
            <a:noFill/>
          </a:ln>
        </p:spPr>
      </p:pic>
      <p:pic>
        <p:nvPicPr>
          <p:cNvPr id="60" name="Google Shape;60;p11"/>
          <p:cNvPicPr preferRelativeResize="0"/>
          <p:nvPr/>
        </p:nvPicPr>
        <p:blipFill>
          <a:blip r:embed="rId3">
            <a:alphaModFix/>
          </a:blip>
          <a:stretch>
            <a:fillRect/>
          </a:stretch>
        </p:blipFill>
        <p:spPr>
          <a:xfrm>
            <a:off x="-7223" y="579688"/>
            <a:ext cx="1479225" cy="4112650"/>
          </a:xfrm>
          <a:prstGeom prst="rect">
            <a:avLst/>
          </a:prstGeom>
          <a:noFill/>
          <a:ln>
            <a:noFill/>
          </a:ln>
        </p:spPr>
      </p:pic>
      <p:pic>
        <p:nvPicPr>
          <p:cNvPr id="61" name="Google Shape;61;p11"/>
          <p:cNvPicPr preferRelativeResize="0"/>
          <p:nvPr/>
        </p:nvPicPr>
        <p:blipFill>
          <a:blip r:embed="rId4">
            <a:alphaModFix/>
          </a:blip>
          <a:stretch>
            <a:fillRect/>
          </a:stretch>
        </p:blipFill>
        <p:spPr>
          <a:xfrm>
            <a:off x="619675" y="1350125"/>
            <a:ext cx="4330424" cy="2571775"/>
          </a:xfrm>
          <a:prstGeom prst="rect">
            <a:avLst/>
          </a:prstGeom>
          <a:noFill/>
          <a:ln>
            <a:noFill/>
          </a:ln>
        </p:spPr>
      </p:pic>
      <p:sp>
        <p:nvSpPr>
          <p:cNvPr id="62" name="Google Shape;62;p11"/>
          <p:cNvSpPr txBox="1">
            <a:spLocks noGrp="1"/>
          </p:cNvSpPr>
          <p:nvPr>
            <p:ph type="title"/>
          </p:nvPr>
        </p:nvSpPr>
        <p:spPr>
          <a:xfrm>
            <a:off x="6068100" y="1440150"/>
            <a:ext cx="2687100" cy="28530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8513112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ullet Points" type="blank">
  <p:cSld name="Bullet Points">
    <p:spTree>
      <p:nvGrpSpPr>
        <p:cNvPr id="1" name="Shape 63"/>
        <p:cNvGrpSpPr/>
        <p:nvPr/>
      </p:nvGrpSpPr>
      <p:grpSpPr>
        <a:xfrm>
          <a:off x="0" y="0"/>
          <a:ext cx="0" cy="0"/>
          <a:chOff x="0" y="0"/>
          <a:chExt cx="0" cy="0"/>
        </a:xfrm>
      </p:grpSpPr>
      <p:sp>
        <p:nvSpPr>
          <p:cNvPr id="64" name="Google Shape;64;p12"/>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2"/>
          <p:cNvSpPr/>
          <p:nvPr/>
        </p:nvSpPr>
        <p:spPr>
          <a:xfrm>
            <a:off x="-8375" y="-7925"/>
            <a:ext cx="9144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2"/>
          <p:cNvSpPr/>
          <p:nvPr/>
        </p:nvSpPr>
        <p:spPr>
          <a:xfrm>
            <a:off x="3878975" y="-7925"/>
            <a:ext cx="5265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Google Shape;67;p12"/>
          <p:cNvPicPr preferRelativeResize="0"/>
          <p:nvPr/>
        </p:nvPicPr>
        <p:blipFill>
          <a:blip r:embed="rId2">
            <a:alphaModFix/>
          </a:blip>
          <a:stretch>
            <a:fillRect/>
          </a:stretch>
        </p:blipFill>
        <p:spPr>
          <a:xfrm>
            <a:off x="5687200" y="703350"/>
            <a:ext cx="3651626" cy="4440150"/>
          </a:xfrm>
          <a:prstGeom prst="rect">
            <a:avLst/>
          </a:prstGeom>
          <a:noFill/>
          <a:ln>
            <a:noFill/>
          </a:ln>
        </p:spPr>
      </p:pic>
      <p:pic>
        <p:nvPicPr>
          <p:cNvPr id="68" name="Google Shape;68;p12"/>
          <p:cNvPicPr preferRelativeResize="0"/>
          <p:nvPr/>
        </p:nvPicPr>
        <p:blipFill>
          <a:blip r:embed="rId3">
            <a:alphaModFix/>
          </a:blip>
          <a:stretch>
            <a:fillRect/>
          </a:stretch>
        </p:blipFill>
        <p:spPr>
          <a:xfrm>
            <a:off x="4294075" y="1350125"/>
            <a:ext cx="4330424" cy="2571775"/>
          </a:xfrm>
          <a:prstGeom prst="rect">
            <a:avLst/>
          </a:prstGeom>
          <a:noFill/>
          <a:ln>
            <a:noFill/>
          </a:ln>
        </p:spPr>
      </p:pic>
      <p:sp>
        <p:nvSpPr>
          <p:cNvPr id="69" name="Google Shape;69;p12"/>
          <p:cNvSpPr txBox="1">
            <a:spLocks noGrp="1"/>
          </p:cNvSpPr>
          <p:nvPr>
            <p:ph type="body" idx="1"/>
          </p:nvPr>
        </p:nvSpPr>
        <p:spPr>
          <a:xfrm>
            <a:off x="311700" y="654250"/>
            <a:ext cx="3267900" cy="4029000"/>
          </a:xfrm>
          <a:prstGeom prst="rect">
            <a:avLst/>
          </a:prstGeom>
        </p:spPr>
        <p:txBody>
          <a:bodyPr spcFirstLastPara="1" wrap="square" lIns="0" tIns="0" rIns="91425" bIns="0" anchor="ctr" anchorCtr="0">
            <a:noAutofit/>
          </a:bodyPr>
          <a:lstStyle>
            <a:lvl1pPr marL="457200" lvl="0" indent="-317500" rtl="0">
              <a:lnSpc>
                <a:spcPct val="100000"/>
              </a:lnSpc>
              <a:spcBef>
                <a:spcPts val="0"/>
              </a:spcBef>
              <a:spcAft>
                <a:spcPts val="0"/>
              </a:spcAft>
              <a:buClr>
                <a:schemeClr val="dk1"/>
              </a:buClr>
              <a:buSzPts val="1400"/>
              <a:buChar char="●"/>
              <a:defRPr sz="1400">
                <a:solidFill>
                  <a:schemeClr val="dk1"/>
                </a:solidFill>
              </a:defRPr>
            </a:lvl1pPr>
            <a:lvl2pPr marL="914400" lvl="1" indent="-317500" rtl="0">
              <a:lnSpc>
                <a:spcPct val="100000"/>
              </a:lnSpc>
              <a:spcBef>
                <a:spcPts val="0"/>
              </a:spcBef>
              <a:spcAft>
                <a:spcPts val="0"/>
              </a:spcAft>
              <a:buClr>
                <a:schemeClr val="dk1"/>
              </a:buClr>
              <a:buSzPts val="1400"/>
              <a:buChar char="○"/>
              <a:defRPr>
                <a:solidFill>
                  <a:schemeClr val="dk1"/>
                </a:solidFill>
              </a:defRPr>
            </a:lvl2pPr>
            <a:lvl3pPr marL="1371600" lvl="2" indent="-317500" rtl="0">
              <a:lnSpc>
                <a:spcPct val="100000"/>
              </a:lnSpc>
              <a:spcBef>
                <a:spcPts val="0"/>
              </a:spcBef>
              <a:spcAft>
                <a:spcPts val="0"/>
              </a:spcAft>
              <a:buClr>
                <a:schemeClr val="dk1"/>
              </a:buClr>
              <a:buSzPts val="1400"/>
              <a:buChar char="■"/>
              <a:defRPr>
                <a:solidFill>
                  <a:schemeClr val="dk1"/>
                </a:solidFill>
              </a:defRPr>
            </a:lvl3pPr>
            <a:lvl4pPr marL="1828800" lvl="3" indent="-317500" rtl="0">
              <a:lnSpc>
                <a:spcPct val="100000"/>
              </a:lnSpc>
              <a:spcBef>
                <a:spcPts val="0"/>
              </a:spcBef>
              <a:spcAft>
                <a:spcPts val="0"/>
              </a:spcAft>
              <a:buClr>
                <a:schemeClr val="dk1"/>
              </a:buClr>
              <a:buSzPts val="1400"/>
              <a:buChar char="●"/>
              <a:defRPr>
                <a:solidFill>
                  <a:schemeClr val="dk1"/>
                </a:solidFill>
              </a:defRPr>
            </a:lvl4pPr>
            <a:lvl5pPr marL="2286000" lvl="4" indent="-317500" rtl="0">
              <a:lnSpc>
                <a:spcPct val="100000"/>
              </a:lnSpc>
              <a:spcBef>
                <a:spcPts val="0"/>
              </a:spcBef>
              <a:spcAft>
                <a:spcPts val="0"/>
              </a:spcAft>
              <a:buClr>
                <a:schemeClr val="dk1"/>
              </a:buClr>
              <a:buSzPts val="1400"/>
              <a:buChar char="○"/>
              <a:defRPr>
                <a:solidFill>
                  <a:schemeClr val="dk1"/>
                </a:solidFill>
              </a:defRPr>
            </a:lvl5pPr>
            <a:lvl6pPr marL="2743200" lvl="5" indent="-317500" rtl="0">
              <a:lnSpc>
                <a:spcPct val="100000"/>
              </a:lnSpc>
              <a:spcBef>
                <a:spcPts val="0"/>
              </a:spcBef>
              <a:spcAft>
                <a:spcPts val="0"/>
              </a:spcAft>
              <a:buClr>
                <a:schemeClr val="dk1"/>
              </a:buClr>
              <a:buSzPts val="1400"/>
              <a:buChar char="■"/>
              <a:defRPr>
                <a:solidFill>
                  <a:schemeClr val="dk1"/>
                </a:solidFill>
              </a:defRPr>
            </a:lvl6pPr>
            <a:lvl7pPr marL="3200400" lvl="6" indent="-317500" rtl="0">
              <a:lnSpc>
                <a:spcPct val="100000"/>
              </a:lnSpc>
              <a:spcBef>
                <a:spcPts val="0"/>
              </a:spcBef>
              <a:spcAft>
                <a:spcPts val="0"/>
              </a:spcAft>
              <a:buClr>
                <a:schemeClr val="dk1"/>
              </a:buClr>
              <a:buSzPts val="1400"/>
              <a:buChar char="●"/>
              <a:defRPr>
                <a:solidFill>
                  <a:schemeClr val="dk1"/>
                </a:solidFill>
              </a:defRPr>
            </a:lvl7pPr>
            <a:lvl8pPr marL="3657600" lvl="7" indent="-317500" rtl="0">
              <a:lnSpc>
                <a:spcPct val="100000"/>
              </a:lnSpc>
              <a:spcBef>
                <a:spcPts val="0"/>
              </a:spcBef>
              <a:spcAft>
                <a:spcPts val="0"/>
              </a:spcAft>
              <a:buClr>
                <a:schemeClr val="dk1"/>
              </a:buClr>
              <a:buSzPts val="1400"/>
              <a:buChar char="○"/>
              <a:defRPr>
                <a:solidFill>
                  <a:schemeClr val="dk1"/>
                </a:solidFill>
              </a:defRPr>
            </a:lvl8pPr>
            <a:lvl9pPr marL="4114800" lvl="8" indent="-317500" rtl="0">
              <a:lnSpc>
                <a:spcPct val="100000"/>
              </a:lnSpc>
              <a:spcBef>
                <a:spcPts val="0"/>
              </a:spcBef>
              <a:spcAft>
                <a:spcPts val="0"/>
              </a:spcAft>
              <a:buClr>
                <a:schemeClr val="dk1"/>
              </a:buClr>
              <a:buSzPts val="1400"/>
              <a:buChar char="■"/>
              <a:defRPr>
                <a:solidFill>
                  <a:schemeClr val="dk1"/>
                </a:solidFill>
              </a:defRPr>
            </a:lvl9pPr>
          </a:lstStyle>
          <a:p>
            <a:endParaRPr/>
          </a:p>
        </p:txBody>
      </p:sp>
      <p:pic>
        <p:nvPicPr>
          <p:cNvPr id="70" name="Google Shape;70;p12"/>
          <p:cNvPicPr preferRelativeResize="0"/>
          <p:nvPr/>
        </p:nvPicPr>
        <p:blipFill>
          <a:blip r:embed="rId4">
            <a:alphaModFix/>
          </a:blip>
          <a:stretch>
            <a:fillRect/>
          </a:stretch>
        </p:blipFill>
        <p:spPr>
          <a:xfrm>
            <a:off x="381575" y="4710130"/>
            <a:ext cx="804775" cy="130750"/>
          </a:xfrm>
          <a:prstGeom prst="rect">
            <a:avLst/>
          </a:prstGeom>
          <a:noFill/>
          <a:ln>
            <a:noFill/>
          </a:ln>
        </p:spPr>
      </p:pic>
    </p:spTree>
    <p:extLst>
      <p:ext uri="{BB962C8B-B14F-4D97-AF65-F5344CB8AC3E}">
        <p14:creationId xmlns:p14="http://schemas.microsoft.com/office/powerpoint/2010/main" val="4761461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311700" y="445025"/>
            <a:ext cx="8520600" cy="5727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p13"/>
          <p:cNvSpPr/>
          <p:nvPr/>
        </p:nvSpPr>
        <p:spPr>
          <a:xfrm>
            <a:off x="-100" y="0"/>
            <a:ext cx="9144000" cy="19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1217200" y="4686575"/>
            <a:ext cx="1596300" cy="19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68657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75"/>
        <p:cNvGrpSpPr/>
        <p:nvPr/>
      </p:nvGrpSpPr>
      <p:grpSpPr>
        <a:xfrm>
          <a:off x="0" y="0"/>
          <a:ext cx="0" cy="0"/>
          <a:chOff x="0" y="0"/>
          <a:chExt cx="0" cy="0"/>
        </a:xfrm>
      </p:grpSpPr>
      <p:sp>
        <p:nvSpPr>
          <p:cNvPr id="76" name="Google Shape;76;p14"/>
          <p:cNvSpPr/>
          <p:nvPr/>
        </p:nvSpPr>
        <p:spPr>
          <a:xfrm>
            <a:off x="0" y="0"/>
            <a:ext cx="9144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txBox="1">
            <a:spLocks noGrp="1"/>
          </p:cNvSpPr>
          <p:nvPr>
            <p:ph type="title"/>
          </p:nvPr>
        </p:nvSpPr>
        <p:spPr>
          <a:xfrm>
            <a:off x="316250" y="3082775"/>
            <a:ext cx="5603400" cy="1730700"/>
          </a:xfrm>
          <a:prstGeom prst="rect">
            <a:avLst/>
          </a:prstGeom>
        </p:spPr>
        <p:txBody>
          <a:bodyPr spcFirstLastPara="1" wrap="square" lIns="0" tIns="0" rIns="91425" bIns="0" anchor="t"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
        <p:nvSpPr>
          <p:cNvPr id="78" name="Google Shape;78;p14"/>
          <p:cNvSpPr txBox="1">
            <a:spLocks noGrp="1"/>
          </p:cNvSpPr>
          <p:nvPr>
            <p:ph type="subTitle" idx="1"/>
          </p:nvPr>
        </p:nvSpPr>
        <p:spPr>
          <a:xfrm>
            <a:off x="316250" y="616975"/>
            <a:ext cx="8377500" cy="908700"/>
          </a:xfrm>
          <a:prstGeom prst="rect">
            <a:avLst/>
          </a:prstGeom>
        </p:spPr>
        <p:txBody>
          <a:bodyPr spcFirstLastPara="1" wrap="square" lIns="0" tIns="0" rIns="91425" bIns="0" anchor="t" anchorCtr="0">
            <a:noAutofit/>
          </a:bodyPr>
          <a:lstStyle>
            <a:lvl1pPr lvl="0">
              <a:spcBef>
                <a:spcPts val="0"/>
              </a:spcBef>
              <a:spcAft>
                <a:spcPts val="0"/>
              </a:spcAft>
              <a:buClr>
                <a:srgbClr val="FFFFFF"/>
              </a:buClr>
              <a:buSzPts val="7000"/>
              <a:buNone/>
              <a:defRPr sz="7000">
                <a:solidFill>
                  <a:srgbClr val="FFFFFF"/>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extLst>
      <p:ext uri="{BB962C8B-B14F-4D97-AF65-F5344CB8AC3E}">
        <p14:creationId xmlns:p14="http://schemas.microsoft.com/office/powerpoint/2010/main" val="1019176143"/>
      </p:ext>
    </p:extLst>
  </p:cSld>
  <p:clrMapOvr>
    <a:masterClrMapping/>
  </p:clrMapOvr>
  <p:extLst>
    <p:ext uri="{DCECCB84-F9BA-43D5-87BE-67443E8EF086}">
      <p15:sldGuideLst xmlns:p15="http://schemas.microsoft.com/office/powerpoint/2012/main">
        <p15:guide id="1" orient="horz" pos="389">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79"/>
        <p:cNvGrpSpPr/>
        <p:nvPr/>
      </p:nvGrpSpPr>
      <p:grpSpPr>
        <a:xfrm>
          <a:off x="0" y="0"/>
          <a:ext cx="0" cy="0"/>
          <a:chOff x="0" y="0"/>
          <a:chExt cx="0" cy="0"/>
        </a:xfrm>
      </p:grpSpPr>
      <p:sp>
        <p:nvSpPr>
          <p:cNvPr id="80" name="Google Shape;80;p15"/>
          <p:cNvSpPr/>
          <p:nvPr/>
        </p:nvSpPr>
        <p:spPr>
          <a:xfrm>
            <a:off x="0" y="0"/>
            <a:ext cx="9144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316250" y="4073375"/>
            <a:ext cx="5603400" cy="689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000">
                <a:latin typeface="Poppins"/>
                <a:ea typeface="Poppins"/>
                <a:cs typeface="Poppins"/>
                <a:sym typeface="Poppins"/>
              </a:rPr>
              <a:t>Thank you</a:t>
            </a:r>
            <a:endParaRPr sz="5000">
              <a:latin typeface="Poppins"/>
              <a:ea typeface="Poppins"/>
              <a:cs typeface="Poppins"/>
              <a:sym typeface="Poppins"/>
            </a:endParaRPr>
          </a:p>
        </p:txBody>
      </p:sp>
    </p:spTree>
    <p:extLst>
      <p:ext uri="{BB962C8B-B14F-4D97-AF65-F5344CB8AC3E}">
        <p14:creationId xmlns:p14="http://schemas.microsoft.com/office/powerpoint/2010/main" val="2906295313"/>
      </p:ext>
    </p:extLst>
  </p:cSld>
  <p:clrMapOvr>
    <a:masterClrMapping/>
  </p:clrMapOvr>
  <p:extLst>
    <p:ext uri="{DCECCB84-F9BA-43D5-87BE-67443E8EF086}">
      <p15:sldGuideLst xmlns:p15="http://schemas.microsoft.com/office/powerpoint/2012/main">
        <p15:guide id="1" orient="horz" pos="389">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1C1B1B"/>
        </a:solidFill>
        <a:effectLst/>
      </p:bgPr>
    </p:bg>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53325" y="2864600"/>
            <a:ext cx="8520600" cy="743100"/>
          </a:xfrm>
          <a:prstGeom prst="rect">
            <a:avLst/>
          </a:prstGeom>
        </p:spPr>
        <p:txBody>
          <a:bodyPr spcFirstLastPara="1" wrap="square" lIns="0" tIns="0" rIns="91425" bIns="0" anchor="t" anchorCtr="0">
            <a:noAutofit/>
          </a:bodyPr>
          <a:lstStyle>
            <a:lvl1pPr lvl="0" algn="ctr" rtl="0">
              <a:spcBef>
                <a:spcPts val="0"/>
              </a:spcBef>
              <a:spcAft>
                <a:spcPts val="0"/>
              </a:spcAft>
              <a:buClr>
                <a:srgbClr val="FFFFFF"/>
              </a:buClr>
              <a:buSzPts val="3600"/>
              <a:buFont typeface="Poppins"/>
              <a:buNone/>
              <a:defRPr sz="3600">
                <a:solidFill>
                  <a:srgbClr val="FFFFFF"/>
                </a:solidFill>
                <a:latin typeface="Poppins"/>
                <a:ea typeface="Poppins"/>
                <a:cs typeface="Poppins"/>
                <a:sym typeface="Poppins"/>
              </a:defRPr>
            </a:lvl1pPr>
            <a:lvl2pPr lvl="1" algn="ctr" rtl="0">
              <a:spcBef>
                <a:spcPts val="0"/>
              </a:spcBef>
              <a:spcAft>
                <a:spcPts val="0"/>
              </a:spcAft>
              <a:buSzPts val="4300"/>
              <a:buFont typeface="Poppins"/>
              <a:buNone/>
              <a:defRPr sz="4300">
                <a:latin typeface="Poppins"/>
                <a:ea typeface="Poppins"/>
                <a:cs typeface="Poppins"/>
                <a:sym typeface="Poppins"/>
              </a:defRPr>
            </a:lvl2pPr>
            <a:lvl3pPr lvl="2" algn="ctr" rtl="0">
              <a:spcBef>
                <a:spcPts val="0"/>
              </a:spcBef>
              <a:spcAft>
                <a:spcPts val="0"/>
              </a:spcAft>
              <a:buSzPts val="4300"/>
              <a:buFont typeface="Poppins"/>
              <a:buNone/>
              <a:defRPr sz="4300">
                <a:latin typeface="Poppins"/>
                <a:ea typeface="Poppins"/>
                <a:cs typeface="Poppins"/>
                <a:sym typeface="Poppins"/>
              </a:defRPr>
            </a:lvl3pPr>
            <a:lvl4pPr lvl="3" algn="ctr" rtl="0">
              <a:spcBef>
                <a:spcPts val="0"/>
              </a:spcBef>
              <a:spcAft>
                <a:spcPts val="0"/>
              </a:spcAft>
              <a:buSzPts val="4300"/>
              <a:buFont typeface="Poppins"/>
              <a:buNone/>
              <a:defRPr sz="4300">
                <a:latin typeface="Poppins"/>
                <a:ea typeface="Poppins"/>
                <a:cs typeface="Poppins"/>
                <a:sym typeface="Poppins"/>
              </a:defRPr>
            </a:lvl4pPr>
            <a:lvl5pPr lvl="4" algn="ctr" rtl="0">
              <a:spcBef>
                <a:spcPts val="0"/>
              </a:spcBef>
              <a:spcAft>
                <a:spcPts val="0"/>
              </a:spcAft>
              <a:buSzPts val="4300"/>
              <a:buFont typeface="Poppins"/>
              <a:buNone/>
              <a:defRPr sz="4300">
                <a:latin typeface="Poppins"/>
                <a:ea typeface="Poppins"/>
                <a:cs typeface="Poppins"/>
                <a:sym typeface="Poppins"/>
              </a:defRPr>
            </a:lvl5pPr>
            <a:lvl6pPr lvl="5" algn="ctr" rtl="0">
              <a:spcBef>
                <a:spcPts val="0"/>
              </a:spcBef>
              <a:spcAft>
                <a:spcPts val="0"/>
              </a:spcAft>
              <a:buSzPts val="4300"/>
              <a:buFont typeface="Poppins"/>
              <a:buNone/>
              <a:defRPr sz="4300">
                <a:latin typeface="Poppins"/>
                <a:ea typeface="Poppins"/>
                <a:cs typeface="Poppins"/>
                <a:sym typeface="Poppins"/>
              </a:defRPr>
            </a:lvl6pPr>
            <a:lvl7pPr lvl="6" algn="ctr" rtl="0">
              <a:spcBef>
                <a:spcPts val="0"/>
              </a:spcBef>
              <a:spcAft>
                <a:spcPts val="0"/>
              </a:spcAft>
              <a:buSzPts val="4300"/>
              <a:buFont typeface="Poppins"/>
              <a:buNone/>
              <a:defRPr sz="4300">
                <a:latin typeface="Poppins"/>
                <a:ea typeface="Poppins"/>
                <a:cs typeface="Poppins"/>
                <a:sym typeface="Poppins"/>
              </a:defRPr>
            </a:lvl7pPr>
            <a:lvl8pPr lvl="7" algn="ctr" rtl="0">
              <a:spcBef>
                <a:spcPts val="0"/>
              </a:spcBef>
              <a:spcAft>
                <a:spcPts val="0"/>
              </a:spcAft>
              <a:buSzPts val="4300"/>
              <a:buFont typeface="Poppins"/>
              <a:buNone/>
              <a:defRPr sz="4300">
                <a:latin typeface="Poppins"/>
                <a:ea typeface="Poppins"/>
                <a:cs typeface="Poppins"/>
                <a:sym typeface="Poppins"/>
              </a:defRPr>
            </a:lvl8pPr>
            <a:lvl9pPr lvl="8" algn="ctr" rtl="0">
              <a:spcBef>
                <a:spcPts val="0"/>
              </a:spcBef>
              <a:spcAft>
                <a:spcPts val="0"/>
              </a:spcAft>
              <a:buSzPts val="4300"/>
              <a:buFont typeface="Poppins"/>
              <a:buNone/>
              <a:defRPr sz="4300">
                <a:latin typeface="Poppins"/>
                <a:ea typeface="Poppins"/>
                <a:cs typeface="Poppins"/>
                <a:sym typeface="Poppins"/>
              </a:defRPr>
            </a:lvl9pPr>
          </a:lstStyle>
          <a:p>
            <a:endParaRPr/>
          </a:p>
        </p:txBody>
      </p:sp>
      <p:sp>
        <p:nvSpPr>
          <p:cNvPr id="14" name="Google Shape;14;p2"/>
          <p:cNvSpPr txBox="1">
            <a:spLocks noGrp="1"/>
          </p:cNvSpPr>
          <p:nvPr>
            <p:ph type="subTitle" idx="1"/>
          </p:nvPr>
        </p:nvSpPr>
        <p:spPr>
          <a:xfrm>
            <a:off x="311700" y="3527900"/>
            <a:ext cx="8520600" cy="792600"/>
          </a:xfrm>
          <a:prstGeom prst="rect">
            <a:avLst/>
          </a:prstGeom>
        </p:spPr>
        <p:txBody>
          <a:bodyPr spcFirstLastPara="1" wrap="square" lIns="0" tIns="0" rIns="91425" bIns="0" anchor="t" anchorCtr="0">
            <a:noAutofit/>
          </a:bodyPr>
          <a:lstStyle>
            <a:lvl1pPr lvl="0" algn="ctr">
              <a:lnSpc>
                <a:spcPct val="100000"/>
              </a:lnSpc>
              <a:spcBef>
                <a:spcPts val="0"/>
              </a:spcBef>
              <a:spcAft>
                <a:spcPts val="0"/>
              </a:spcAft>
              <a:buSzPts val="2000"/>
              <a:buFont typeface="Poppins"/>
              <a:buNone/>
              <a:defRPr sz="2000">
                <a:latin typeface="Poppins"/>
                <a:ea typeface="Poppins"/>
                <a:cs typeface="Poppins"/>
                <a:sym typeface="Poppins"/>
              </a:defRPr>
            </a:lvl1pPr>
            <a:lvl2pPr lvl="1" algn="ctr">
              <a:lnSpc>
                <a:spcPct val="100000"/>
              </a:lnSpc>
              <a:spcBef>
                <a:spcPts val="0"/>
              </a:spcBef>
              <a:spcAft>
                <a:spcPts val="0"/>
              </a:spcAft>
              <a:buSzPts val="2800"/>
              <a:buFont typeface="Poppins"/>
              <a:buNone/>
              <a:defRPr sz="2800">
                <a:latin typeface="Poppins"/>
                <a:ea typeface="Poppins"/>
                <a:cs typeface="Poppins"/>
                <a:sym typeface="Poppins"/>
              </a:defRPr>
            </a:lvl2pPr>
            <a:lvl3pPr lvl="2" algn="ctr">
              <a:lnSpc>
                <a:spcPct val="100000"/>
              </a:lnSpc>
              <a:spcBef>
                <a:spcPts val="0"/>
              </a:spcBef>
              <a:spcAft>
                <a:spcPts val="0"/>
              </a:spcAft>
              <a:buSzPts val="2800"/>
              <a:buFont typeface="Poppins"/>
              <a:buNone/>
              <a:defRPr sz="2800">
                <a:latin typeface="Poppins"/>
                <a:ea typeface="Poppins"/>
                <a:cs typeface="Poppins"/>
                <a:sym typeface="Poppins"/>
              </a:defRPr>
            </a:lvl3pPr>
            <a:lvl4pPr lvl="3" algn="ctr">
              <a:lnSpc>
                <a:spcPct val="100000"/>
              </a:lnSpc>
              <a:spcBef>
                <a:spcPts val="0"/>
              </a:spcBef>
              <a:spcAft>
                <a:spcPts val="0"/>
              </a:spcAft>
              <a:buSzPts val="2800"/>
              <a:buFont typeface="Poppins"/>
              <a:buNone/>
              <a:defRPr sz="2800">
                <a:latin typeface="Poppins"/>
                <a:ea typeface="Poppins"/>
                <a:cs typeface="Poppins"/>
                <a:sym typeface="Poppins"/>
              </a:defRPr>
            </a:lvl4pPr>
            <a:lvl5pPr lvl="4" algn="ctr">
              <a:lnSpc>
                <a:spcPct val="100000"/>
              </a:lnSpc>
              <a:spcBef>
                <a:spcPts val="0"/>
              </a:spcBef>
              <a:spcAft>
                <a:spcPts val="0"/>
              </a:spcAft>
              <a:buSzPts val="2800"/>
              <a:buFont typeface="Poppins"/>
              <a:buNone/>
              <a:defRPr sz="2800">
                <a:latin typeface="Poppins"/>
                <a:ea typeface="Poppins"/>
                <a:cs typeface="Poppins"/>
                <a:sym typeface="Poppins"/>
              </a:defRPr>
            </a:lvl5pPr>
            <a:lvl6pPr lvl="5" algn="ctr">
              <a:lnSpc>
                <a:spcPct val="100000"/>
              </a:lnSpc>
              <a:spcBef>
                <a:spcPts val="0"/>
              </a:spcBef>
              <a:spcAft>
                <a:spcPts val="0"/>
              </a:spcAft>
              <a:buSzPts val="2800"/>
              <a:buFont typeface="Poppins"/>
              <a:buNone/>
              <a:defRPr sz="2800">
                <a:latin typeface="Poppins"/>
                <a:ea typeface="Poppins"/>
                <a:cs typeface="Poppins"/>
                <a:sym typeface="Poppins"/>
              </a:defRPr>
            </a:lvl6pPr>
            <a:lvl7pPr lvl="6" algn="ctr">
              <a:lnSpc>
                <a:spcPct val="100000"/>
              </a:lnSpc>
              <a:spcBef>
                <a:spcPts val="0"/>
              </a:spcBef>
              <a:spcAft>
                <a:spcPts val="0"/>
              </a:spcAft>
              <a:buSzPts val="2800"/>
              <a:buFont typeface="Poppins"/>
              <a:buNone/>
              <a:defRPr sz="2800">
                <a:latin typeface="Poppins"/>
                <a:ea typeface="Poppins"/>
                <a:cs typeface="Poppins"/>
                <a:sym typeface="Poppins"/>
              </a:defRPr>
            </a:lvl7pPr>
            <a:lvl8pPr lvl="7" algn="ctr">
              <a:lnSpc>
                <a:spcPct val="100000"/>
              </a:lnSpc>
              <a:spcBef>
                <a:spcPts val="0"/>
              </a:spcBef>
              <a:spcAft>
                <a:spcPts val="0"/>
              </a:spcAft>
              <a:buSzPts val="2800"/>
              <a:buFont typeface="Poppins"/>
              <a:buNone/>
              <a:defRPr sz="2800">
                <a:latin typeface="Poppins"/>
                <a:ea typeface="Poppins"/>
                <a:cs typeface="Poppins"/>
                <a:sym typeface="Poppins"/>
              </a:defRPr>
            </a:lvl8pPr>
            <a:lvl9pPr lvl="8" algn="ctr">
              <a:lnSpc>
                <a:spcPct val="100000"/>
              </a:lnSpc>
              <a:spcBef>
                <a:spcPts val="0"/>
              </a:spcBef>
              <a:spcAft>
                <a:spcPts val="0"/>
              </a:spcAft>
              <a:buSzPts val="2800"/>
              <a:buFont typeface="Poppins"/>
              <a:buNone/>
              <a:defRPr sz="2800">
                <a:latin typeface="Poppins"/>
                <a:ea typeface="Poppins"/>
                <a:cs typeface="Poppins"/>
                <a:sym typeface="Poppins"/>
              </a:defRPr>
            </a:lvl9pPr>
          </a:lstStyle>
          <a:p>
            <a:endParaRPr/>
          </a:p>
        </p:txBody>
      </p:sp>
      <p:sp>
        <p:nvSpPr>
          <p:cNvPr id="15" name="Google Shape;15;p2"/>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
          <p:cNvPicPr preferRelativeResize="0"/>
          <p:nvPr/>
        </p:nvPicPr>
        <p:blipFill>
          <a:blip r:embed="rId2">
            <a:alphaModFix/>
          </a:blip>
          <a:stretch>
            <a:fillRect/>
          </a:stretch>
        </p:blipFill>
        <p:spPr>
          <a:xfrm>
            <a:off x="1956450" y="1470075"/>
            <a:ext cx="5106198" cy="829650"/>
          </a:xfrm>
          <a:prstGeom prst="rect">
            <a:avLst/>
          </a:prstGeom>
          <a:noFill/>
          <a:ln>
            <a:noFill/>
          </a:ln>
        </p:spPr>
      </p:pic>
      <p:sp>
        <p:nvSpPr>
          <p:cNvPr id="17" name="Google Shape;17;p2"/>
          <p:cNvSpPr/>
          <p:nvPr/>
        </p:nvSpPr>
        <p:spPr>
          <a:xfrm>
            <a:off x="187325" y="4544250"/>
            <a:ext cx="8817900" cy="4371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1B1B"/>
              </a:solidFill>
            </a:endParaRPr>
          </a:p>
        </p:txBody>
      </p:sp>
      <p:sp>
        <p:nvSpPr>
          <p:cNvPr id="18" name="Google Shape;18;p2"/>
          <p:cNvSpPr/>
          <p:nvPr/>
        </p:nvSpPr>
        <p:spPr>
          <a:xfrm>
            <a:off x="0" y="0"/>
            <a:ext cx="9144000" cy="1317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1B1B"/>
              </a:solidFill>
            </a:endParaRPr>
          </a:p>
        </p:txBody>
      </p:sp>
    </p:spTree>
    <p:extLst>
      <p:ext uri="{BB962C8B-B14F-4D97-AF65-F5344CB8AC3E}">
        <p14:creationId xmlns:p14="http://schemas.microsoft.com/office/powerpoint/2010/main" val="5459293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311700" y="2025850"/>
            <a:ext cx="8520600" cy="841800"/>
          </a:xfrm>
          <a:prstGeom prst="rect">
            <a:avLst/>
          </a:prstGeom>
        </p:spPr>
        <p:txBody>
          <a:bodyPr spcFirstLastPara="1" wrap="square" lIns="0" tIns="0" rIns="91425" bIns="0" anchor="ctr" anchorCtr="0">
            <a:noAutofit/>
          </a:bodyPr>
          <a:lstStyle>
            <a:lvl1pPr lvl="0" algn="ctr">
              <a:spcBef>
                <a:spcPts val="0"/>
              </a:spcBef>
              <a:spcAft>
                <a:spcPts val="0"/>
              </a:spcAft>
              <a:buClr>
                <a:srgbClr val="1C1B1B"/>
              </a:buClr>
              <a:buSzPts val="3600"/>
              <a:buFont typeface="Poppins"/>
              <a:buNone/>
              <a:defRPr sz="3600">
                <a:solidFill>
                  <a:srgbClr val="1C1B1B"/>
                </a:solidFill>
                <a:latin typeface="Poppins"/>
                <a:ea typeface="Poppins"/>
                <a:cs typeface="Poppins"/>
                <a:sym typeface="Poppins"/>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4803881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Quote Highlight">
  <p:cSld name="Quote Highlight">
    <p:spTree>
      <p:nvGrpSpPr>
        <p:cNvPr id="1" name="Shape 22"/>
        <p:cNvGrpSpPr/>
        <p:nvPr/>
      </p:nvGrpSpPr>
      <p:grpSpPr>
        <a:xfrm>
          <a:off x="0" y="0"/>
          <a:ext cx="0" cy="0"/>
          <a:chOff x="0" y="0"/>
          <a:chExt cx="0" cy="0"/>
        </a:xfrm>
      </p:grpSpPr>
      <p:sp>
        <p:nvSpPr>
          <p:cNvPr id="23" name="Google Shape;23;p4"/>
          <p:cNvSpPr/>
          <p:nvPr/>
        </p:nvSpPr>
        <p:spPr>
          <a:xfrm>
            <a:off x="0" y="0"/>
            <a:ext cx="9171000" cy="51525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subTitle" idx="1"/>
          </p:nvPr>
        </p:nvSpPr>
        <p:spPr>
          <a:xfrm>
            <a:off x="450600" y="759225"/>
            <a:ext cx="6899400" cy="1517400"/>
          </a:xfrm>
          <a:prstGeom prst="rect">
            <a:avLst/>
          </a:prstGeom>
          <a:noFill/>
        </p:spPr>
        <p:txBody>
          <a:bodyPr spcFirstLastPara="1" wrap="square" lIns="0" tIns="0" rIns="91425" bIns="0" anchor="t" anchorCtr="0">
            <a:noAutofit/>
          </a:bodyPr>
          <a:lstStyle>
            <a:lvl1pPr lvl="0">
              <a:spcBef>
                <a:spcPts val="0"/>
              </a:spcBef>
              <a:spcAft>
                <a:spcPts val="0"/>
              </a:spcAft>
              <a:buClr>
                <a:srgbClr val="FFFFFF"/>
              </a:buClr>
              <a:buSzPts val="3000"/>
              <a:buNone/>
              <a:defRPr sz="3000">
                <a:solidFill>
                  <a:srgbClr val="FFFFFF"/>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26" name="Google Shape;26;p4"/>
          <p:cNvSpPr txBox="1">
            <a:spLocks noGrp="1"/>
          </p:cNvSpPr>
          <p:nvPr>
            <p:ph type="subTitle" idx="2"/>
          </p:nvPr>
        </p:nvSpPr>
        <p:spPr>
          <a:xfrm>
            <a:off x="1794150" y="3464225"/>
            <a:ext cx="5358300" cy="393600"/>
          </a:xfrm>
          <a:prstGeom prst="rect">
            <a:avLst/>
          </a:prstGeom>
        </p:spPr>
        <p:txBody>
          <a:bodyPr spcFirstLastPara="1" wrap="square" lIns="0" tIns="0" rIns="91425" bIns="0" anchor="t" anchorCtr="0">
            <a:noAutofit/>
          </a:bodyPr>
          <a:lstStyle>
            <a:lvl1pPr lvl="0">
              <a:spcBef>
                <a:spcPts val="0"/>
              </a:spcBef>
              <a:spcAft>
                <a:spcPts val="0"/>
              </a:spcAft>
              <a:buClr>
                <a:schemeClr val="lt1"/>
              </a:buClr>
              <a:buSzPts val="2400"/>
              <a:buNone/>
              <a:defRPr sz="2400">
                <a:solidFill>
                  <a:schemeClr val="lt1"/>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extLst>
      <p:ext uri="{BB962C8B-B14F-4D97-AF65-F5344CB8AC3E}">
        <p14:creationId xmlns:p14="http://schemas.microsoft.com/office/powerpoint/2010/main" val="33819101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5"/>
          <p:cNvSpPr/>
          <p:nvPr/>
        </p:nvSpPr>
        <p:spPr>
          <a:xfrm>
            <a:off x="0" y="0"/>
            <a:ext cx="9144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sp>
        <p:nvSpPr>
          <p:cNvPr id="29" name="Google Shape;29;p5"/>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5"/>
          <p:cNvSpPr/>
          <p:nvPr/>
        </p:nvSpPr>
        <p:spPr>
          <a:xfrm>
            <a:off x="0" y="0"/>
            <a:ext cx="28773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txBox="1"/>
          <p:nvPr/>
        </p:nvSpPr>
        <p:spPr>
          <a:xfrm>
            <a:off x="464100" y="749825"/>
            <a:ext cx="13695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t>Agenda</a:t>
            </a:r>
            <a:endParaRPr sz="2400"/>
          </a:p>
        </p:txBody>
      </p:sp>
      <p:sp>
        <p:nvSpPr>
          <p:cNvPr id="32" name="Google Shape;32;p5"/>
          <p:cNvSpPr txBox="1">
            <a:spLocks noGrp="1"/>
          </p:cNvSpPr>
          <p:nvPr>
            <p:ph type="title"/>
          </p:nvPr>
        </p:nvSpPr>
        <p:spPr>
          <a:xfrm>
            <a:off x="3366875" y="769300"/>
            <a:ext cx="5358300" cy="38094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2745264788"/>
      </p:ext>
    </p:extLst>
  </p:cSld>
  <p:clrMapOvr>
    <a:masterClrMapping/>
  </p:clrMapOvr>
  <p:extLst>
    <p:ext uri="{DCECCB84-F9BA-43D5-87BE-67443E8EF086}">
      <p15:sldGuideLst xmlns:p15="http://schemas.microsoft.com/office/powerpoint/2012/main">
        <p15:guide id="1" orient="horz" pos="720">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11700" y="445025"/>
            <a:ext cx="8520600" cy="5727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 name="Google Shape;35;p6"/>
          <p:cNvSpPr txBox="1">
            <a:spLocks noGrp="1"/>
          </p:cNvSpPr>
          <p:nvPr>
            <p:ph type="body" idx="1"/>
          </p:nvPr>
        </p:nvSpPr>
        <p:spPr>
          <a:xfrm>
            <a:off x="311700" y="1152475"/>
            <a:ext cx="3999900" cy="3121200"/>
          </a:xfrm>
          <a:prstGeom prst="rect">
            <a:avLst/>
          </a:prstGeom>
        </p:spPr>
        <p:txBody>
          <a:bodyPr spcFirstLastPara="1" wrap="square" lIns="0" tIns="0" rIns="91425" bIns="0"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6"/>
          <p:cNvSpPr txBox="1">
            <a:spLocks noGrp="1"/>
          </p:cNvSpPr>
          <p:nvPr>
            <p:ph type="body" idx="2"/>
          </p:nvPr>
        </p:nvSpPr>
        <p:spPr>
          <a:xfrm>
            <a:off x="4832400" y="1152475"/>
            <a:ext cx="3999900" cy="3121200"/>
          </a:xfrm>
          <a:prstGeom prst="rect">
            <a:avLst/>
          </a:prstGeom>
        </p:spPr>
        <p:txBody>
          <a:bodyPr spcFirstLastPara="1" wrap="square" lIns="0" tIns="0" rIns="91425" bIns="0"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7" name="Google Shape;37;p6"/>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75404788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Gray" type="titleOnly">
  <p:cSld name="Gray">
    <p:spTree>
      <p:nvGrpSpPr>
        <p:cNvPr id="1" name="Shape 38"/>
        <p:cNvGrpSpPr/>
        <p:nvPr/>
      </p:nvGrpSpPr>
      <p:grpSpPr>
        <a:xfrm>
          <a:off x="0" y="0"/>
          <a:ext cx="0" cy="0"/>
          <a:chOff x="0" y="0"/>
          <a:chExt cx="0" cy="0"/>
        </a:xfrm>
      </p:grpSpPr>
      <p:sp>
        <p:nvSpPr>
          <p:cNvPr id="39" name="Google Shape;39;p7"/>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7"/>
          <p:cNvSpPr/>
          <p:nvPr/>
        </p:nvSpPr>
        <p:spPr>
          <a:xfrm>
            <a:off x="0" y="0"/>
            <a:ext cx="9144000" cy="5143500"/>
          </a:xfrm>
          <a:prstGeom prst="rect">
            <a:avLst/>
          </a:prstGeom>
          <a:solidFill>
            <a:srgbClr val="F5F6F8"/>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spTree>
    <p:extLst>
      <p:ext uri="{BB962C8B-B14F-4D97-AF65-F5344CB8AC3E}">
        <p14:creationId xmlns:p14="http://schemas.microsoft.com/office/powerpoint/2010/main" val="26340536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ay + UI">
  <p:cSld name="Gray + UI">
    <p:spTree>
      <p:nvGrpSpPr>
        <p:cNvPr id="1" name="Shape 41"/>
        <p:cNvGrpSpPr/>
        <p:nvPr/>
      </p:nvGrpSpPr>
      <p:grpSpPr>
        <a:xfrm>
          <a:off x="0" y="0"/>
          <a:ext cx="0" cy="0"/>
          <a:chOff x="0" y="0"/>
          <a:chExt cx="0" cy="0"/>
        </a:xfrm>
      </p:grpSpPr>
      <p:sp>
        <p:nvSpPr>
          <p:cNvPr id="42" name="Google Shape;42;p8"/>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3" name="Google Shape;43;p8"/>
          <p:cNvSpPr/>
          <p:nvPr/>
        </p:nvSpPr>
        <p:spPr>
          <a:xfrm>
            <a:off x="0" y="0"/>
            <a:ext cx="9144000" cy="5143500"/>
          </a:xfrm>
          <a:prstGeom prst="rect">
            <a:avLst/>
          </a:prstGeom>
          <a:solidFill>
            <a:srgbClr val="F5F6F8"/>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3600">
              <a:solidFill>
                <a:schemeClr val="dk1"/>
              </a:solidFill>
              <a:latin typeface="Poppins"/>
              <a:ea typeface="Poppins"/>
              <a:cs typeface="Poppins"/>
              <a:sym typeface="Poppins"/>
            </a:endParaRPr>
          </a:p>
        </p:txBody>
      </p:sp>
      <p:pic>
        <p:nvPicPr>
          <p:cNvPr id="44" name="Google Shape;44;p8"/>
          <p:cNvPicPr preferRelativeResize="0"/>
          <p:nvPr/>
        </p:nvPicPr>
        <p:blipFill>
          <a:blip r:embed="rId2">
            <a:alphaModFix/>
          </a:blip>
          <a:stretch>
            <a:fillRect/>
          </a:stretch>
        </p:blipFill>
        <p:spPr>
          <a:xfrm>
            <a:off x="4371250" y="930012"/>
            <a:ext cx="4506826" cy="3198375"/>
          </a:xfrm>
          <a:prstGeom prst="rect">
            <a:avLst/>
          </a:prstGeom>
          <a:noFill/>
          <a:ln>
            <a:noFill/>
          </a:ln>
        </p:spPr>
      </p:pic>
      <p:sp>
        <p:nvSpPr>
          <p:cNvPr id="45" name="Google Shape;45;p8"/>
          <p:cNvSpPr txBox="1">
            <a:spLocks noGrp="1"/>
          </p:cNvSpPr>
          <p:nvPr>
            <p:ph type="title"/>
          </p:nvPr>
        </p:nvSpPr>
        <p:spPr>
          <a:xfrm>
            <a:off x="403175" y="683025"/>
            <a:ext cx="4054500" cy="7035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31151748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400050" y="745550"/>
            <a:ext cx="6367800" cy="3520500"/>
          </a:xfrm>
          <a:prstGeom prst="rect">
            <a:avLst/>
          </a:prstGeom>
        </p:spPr>
        <p:txBody>
          <a:bodyPr spcFirstLastPara="1" wrap="square" lIns="0" tIns="0" rIns="0" bIns="0" anchor="ctr" anchorCtr="0">
            <a:noAutofit/>
          </a:bodyPr>
          <a:lstStyle>
            <a:lvl1pPr lvl="0">
              <a:spcBef>
                <a:spcPts val="0"/>
              </a:spcBef>
              <a:spcAft>
                <a:spcPts val="0"/>
              </a:spcAft>
              <a:buClr>
                <a:srgbClr val="1C1B1B"/>
              </a:buClr>
              <a:buSzPts val="4800"/>
              <a:buNone/>
              <a:defRPr sz="4800">
                <a:solidFill>
                  <a:srgbClr val="1C1B1B"/>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8" name="Google Shape;48;p9"/>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5948103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9"/>
        <p:cNvGrpSpPr/>
        <p:nvPr/>
      </p:nvGrpSpPr>
      <p:grpSpPr>
        <a:xfrm>
          <a:off x="0" y="0"/>
          <a:ext cx="0" cy="0"/>
          <a:chOff x="0" y="0"/>
          <a:chExt cx="0" cy="0"/>
        </a:xfrm>
      </p:grpSpPr>
      <p:sp>
        <p:nvSpPr>
          <p:cNvPr id="50" name="Google Shape;50;p10"/>
          <p:cNvSpPr/>
          <p:nvPr userDrawn="1"/>
        </p:nvSpPr>
        <p:spPr>
          <a:xfrm>
            <a:off x="4572000" y="99000"/>
            <a:ext cx="4572000" cy="5044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0"/>
          <p:cNvSpPr txBox="1">
            <a:spLocks noGrp="1"/>
          </p:cNvSpPr>
          <p:nvPr>
            <p:ph type="title"/>
          </p:nvPr>
        </p:nvSpPr>
        <p:spPr>
          <a:xfrm>
            <a:off x="265500" y="1233175"/>
            <a:ext cx="4045200" cy="1482300"/>
          </a:xfrm>
          <a:prstGeom prst="rect">
            <a:avLst/>
          </a:prstGeom>
        </p:spPr>
        <p:txBody>
          <a:bodyPr spcFirstLastPara="1" wrap="square" lIns="0" tIns="0" rIns="91425" bIns="0" anchor="ctr" anchorCtr="0">
            <a:noAutofit/>
          </a:bodyPr>
          <a:lstStyle>
            <a:lvl1pPr lvl="0" algn="ctr">
              <a:spcBef>
                <a:spcPts val="0"/>
              </a:spcBef>
              <a:spcAft>
                <a:spcPts val="0"/>
              </a:spcAft>
              <a:buSzPts val="3500"/>
              <a:buNone/>
              <a:defRPr sz="3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dirty="0"/>
          </a:p>
        </p:txBody>
      </p:sp>
      <p:sp>
        <p:nvSpPr>
          <p:cNvPr id="52" name="Google Shape;52;p10"/>
          <p:cNvSpPr txBox="1">
            <a:spLocks noGrp="1"/>
          </p:cNvSpPr>
          <p:nvPr>
            <p:ph type="subTitle" idx="1"/>
          </p:nvPr>
        </p:nvSpPr>
        <p:spPr>
          <a:xfrm>
            <a:off x="265500" y="2803075"/>
            <a:ext cx="4045200" cy="1235100"/>
          </a:xfrm>
          <a:prstGeom prst="rect">
            <a:avLst/>
          </a:prstGeom>
        </p:spPr>
        <p:txBody>
          <a:bodyPr spcFirstLastPara="1" wrap="square" lIns="0" tIns="0" rIns="91425" bIns="0"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10"/>
          <p:cNvSpPr txBox="1">
            <a:spLocks noGrp="1"/>
          </p:cNvSpPr>
          <p:nvPr>
            <p:ph type="body" idx="2"/>
          </p:nvPr>
        </p:nvSpPr>
        <p:spPr>
          <a:xfrm>
            <a:off x="4939500" y="724075"/>
            <a:ext cx="3837000" cy="3695100"/>
          </a:xfrm>
          <a:prstGeom prst="rect">
            <a:avLst/>
          </a:prstGeom>
        </p:spPr>
        <p:txBody>
          <a:bodyPr spcFirstLastPara="1" wrap="square" lIns="0" tIns="0" rIns="91425" bIns="0"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4" name="Google Shape;54;p10"/>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94651561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reserve="1" userDrawn="1">
  <p:cSld name="1_Section title and description">
    <p:spTree>
      <p:nvGrpSpPr>
        <p:cNvPr id="1" name="Shape 49"/>
        <p:cNvGrpSpPr/>
        <p:nvPr/>
      </p:nvGrpSpPr>
      <p:grpSpPr>
        <a:xfrm>
          <a:off x="0" y="0"/>
          <a:ext cx="0" cy="0"/>
          <a:chOff x="0" y="0"/>
          <a:chExt cx="0" cy="0"/>
        </a:xfrm>
      </p:grpSpPr>
      <p:sp>
        <p:nvSpPr>
          <p:cNvPr id="54" name="Google Shape;54;p10"/>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96751970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p11"/>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7" name="Google Shape;57;p11"/>
          <p:cNvSpPr/>
          <p:nvPr/>
        </p:nvSpPr>
        <p:spPr>
          <a:xfrm>
            <a:off x="-8375" y="-7925"/>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1"/>
          <p:cNvSpPr/>
          <p:nvPr/>
        </p:nvSpPr>
        <p:spPr>
          <a:xfrm>
            <a:off x="-7225" y="-7925"/>
            <a:ext cx="5569800" cy="5143500"/>
          </a:xfrm>
          <a:prstGeom prst="rect">
            <a:avLst/>
          </a:prstGeom>
          <a:solidFill>
            <a:srgbClr val="1C1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9" name="Google Shape;59;p11"/>
          <p:cNvPicPr preferRelativeResize="0"/>
          <p:nvPr/>
        </p:nvPicPr>
        <p:blipFill>
          <a:blip r:embed="rId2">
            <a:alphaModFix/>
          </a:blip>
          <a:stretch>
            <a:fillRect/>
          </a:stretch>
        </p:blipFill>
        <p:spPr>
          <a:xfrm>
            <a:off x="3443975" y="-50925"/>
            <a:ext cx="2118600" cy="2071525"/>
          </a:xfrm>
          <a:prstGeom prst="rect">
            <a:avLst/>
          </a:prstGeom>
          <a:noFill/>
          <a:ln>
            <a:noFill/>
          </a:ln>
        </p:spPr>
      </p:pic>
      <p:pic>
        <p:nvPicPr>
          <p:cNvPr id="60" name="Google Shape;60;p11"/>
          <p:cNvPicPr preferRelativeResize="0"/>
          <p:nvPr/>
        </p:nvPicPr>
        <p:blipFill>
          <a:blip r:embed="rId3">
            <a:alphaModFix/>
          </a:blip>
          <a:stretch>
            <a:fillRect/>
          </a:stretch>
        </p:blipFill>
        <p:spPr>
          <a:xfrm>
            <a:off x="-7223" y="579688"/>
            <a:ext cx="1479225" cy="4112650"/>
          </a:xfrm>
          <a:prstGeom prst="rect">
            <a:avLst/>
          </a:prstGeom>
          <a:noFill/>
          <a:ln>
            <a:noFill/>
          </a:ln>
        </p:spPr>
      </p:pic>
      <p:pic>
        <p:nvPicPr>
          <p:cNvPr id="61" name="Google Shape;61;p11"/>
          <p:cNvPicPr preferRelativeResize="0"/>
          <p:nvPr/>
        </p:nvPicPr>
        <p:blipFill>
          <a:blip r:embed="rId4">
            <a:alphaModFix/>
          </a:blip>
          <a:stretch>
            <a:fillRect/>
          </a:stretch>
        </p:blipFill>
        <p:spPr>
          <a:xfrm>
            <a:off x="619675" y="1350125"/>
            <a:ext cx="4330424" cy="2571775"/>
          </a:xfrm>
          <a:prstGeom prst="rect">
            <a:avLst/>
          </a:prstGeom>
          <a:noFill/>
          <a:ln>
            <a:noFill/>
          </a:ln>
        </p:spPr>
      </p:pic>
      <p:sp>
        <p:nvSpPr>
          <p:cNvPr id="62" name="Google Shape;62;p11"/>
          <p:cNvSpPr txBox="1">
            <a:spLocks noGrp="1"/>
          </p:cNvSpPr>
          <p:nvPr>
            <p:ph type="title"/>
          </p:nvPr>
        </p:nvSpPr>
        <p:spPr>
          <a:xfrm>
            <a:off x="6068100" y="1440150"/>
            <a:ext cx="2687100" cy="28530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31362423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ullet Points" type="blank">
  <p:cSld name="Bullet Points">
    <p:spTree>
      <p:nvGrpSpPr>
        <p:cNvPr id="1" name="Shape 63"/>
        <p:cNvGrpSpPr/>
        <p:nvPr/>
      </p:nvGrpSpPr>
      <p:grpSpPr>
        <a:xfrm>
          <a:off x="0" y="0"/>
          <a:ext cx="0" cy="0"/>
          <a:chOff x="0" y="0"/>
          <a:chExt cx="0" cy="0"/>
        </a:xfrm>
      </p:grpSpPr>
      <p:sp>
        <p:nvSpPr>
          <p:cNvPr id="64" name="Google Shape;64;p12"/>
          <p:cNvSpPr txBox="1">
            <a:spLocks noGrp="1"/>
          </p:cNvSpPr>
          <p:nvPr>
            <p:ph type="sldNum" idx="12"/>
          </p:nvPr>
        </p:nvSpPr>
        <p:spPr>
          <a:xfrm>
            <a:off x="8340628" y="4578692"/>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2"/>
          <p:cNvSpPr/>
          <p:nvPr/>
        </p:nvSpPr>
        <p:spPr>
          <a:xfrm>
            <a:off x="-8375" y="-7925"/>
            <a:ext cx="9144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2"/>
          <p:cNvSpPr/>
          <p:nvPr/>
        </p:nvSpPr>
        <p:spPr>
          <a:xfrm>
            <a:off x="3878975" y="-7925"/>
            <a:ext cx="5265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Google Shape;67;p12"/>
          <p:cNvPicPr preferRelativeResize="0"/>
          <p:nvPr/>
        </p:nvPicPr>
        <p:blipFill>
          <a:blip r:embed="rId2">
            <a:alphaModFix/>
          </a:blip>
          <a:stretch>
            <a:fillRect/>
          </a:stretch>
        </p:blipFill>
        <p:spPr>
          <a:xfrm>
            <a:off x="5687200" y="703350"/>
            <a:ext cx="3651626" cy="4440150"/>
          </a:xfrm>
          <a:prstGeom prst="rect">
            <a:avLst/>
          </a:prstGeom>
          <a:noFill/>
          <a:ln>
            <a:noFill/>
          </a:ln>
        </p:spPr>
      </p:pic>
      <p:pic>
        <p:nvPicPr>
          <p:cNvPr id="68" name="Google Shape;68;p12"/>
          <p:cNvPicPr preferRelativeResize="0"/>
          <p:nvPr/>
        </p:nvPicPr>
        <p:blipFill>
          <a:blip r:embed="rId3">
            <a:alphaModFix/>
          </a:blip>
          <a:stretch>
            <a:fillRect/>
          </a:stretch>
        </p:blipFill>
        <p:spPr>
          <a:xfrm>
            <a:off x="4294075" y="1350125"/>
            <a:ext cx="4330424" cy="2571775"/>
          </a:xfrm>
          <a:prstGeom prst="rect">
            <a:avLst/>
          </a:prstGeom>
          <a:noFill/>
          <a:ln>
            <a:noFill/>
          </a:ln>
        </p:spPr>
      </p:pic>
      <p:sp>
        <p:nvSpPr>
          <p:cNvPr id="69" name="Google Shape;69;p12"/>
          <p:cNvSpPr txBox="1">
            <a:spLocks noGrp="1"/>
          </p:cNvSpPr>
          <p:nvPr>
            <p:ph type="body" idx="1"/>
          </p:nvPr>
        </p:nvSpPr>
        <p:spPr>
          <a:xfrm>
            <a:off x="311700" y="654250"/>
            <a:ext cx="3267900" cy="4029000"/>
          </a:xfrm>
          <a:prstGeom prst="rect">
            <a:avLst/>
          </a:prstGeom>
        </p:spPr>
        <p:txBody>
          <a:bodyPr spcFirstLastPara="1" wrap="square" lIns="0" tIns="0" rIns="91425" bIns="0" anchor="ctr" anchorCtr="0">
            <a:noAutofit/>
          </a:bodyPr>
          <a:lstStyle>
            <a:lvl1pPr marL="457200" lvl="0" indent="-317500" rtl="0">
              <a:lnSpc>
                <a:spcPct val="100000"/>
              </a:lnSpc>
              <a:spcBef>
                <a:spcPts val="0"/>
              </a:spcBef>
              <a:spcAft>
                <a:spcPts val="0"/>
              </a:spcAft>
              <a:buClr>
                <a:schemeClr val="dk1"/>
              </a:buClr>
              <a:buSzPts val="1400"/>
              <a:buChar char="●"/>
              <a:defRPr sz="1400">
                <a:solidFill>
                  <a:schemeClr val="dk1"/>
                </a:solidFill>
              </a:defRPr>
            </a:lvl1pPr>
            <a:lvl2pPr marL="914400" lvl="1" indent="-317500" rtl="0">
              <a:lnSpc>
                <a:spcPct val="100000"/>
              </a:lnSpc>
              <a:spcBef>
                <a:spcPts val="0"/>
              </a:spcBef>
              <a:spcAft>
                <a:spcPts val="0"/>
              </a:spcAft>
              <a:buClr>
                <a:schemeClr val="dk1"/>
              </a:buClr>
              <a:buSzPts val="1400"/>
              <a:buChar char="○"/>
              <a:defRPr>
                <a:solidFill>
                  <a:schemeClr val="dk1"/>
                </a:solidFill>
              </a:defRPr>
            </a:lvl2pPr>
            <a:lvl3pPr marL="1371600" lvl="2" indent="-317500" rtl="0">
              <a:lnSpc>
                <a:spcPct val="100000"/>
              </a:lnSpc>
              <a:spcBef>
                <a:spcPts val="0"/>
              </a:spcBef>
              <a:spcAft>
                <a:spcPts val="0"/>
              </a:spcAft>
              <a:buClr>
                <a:schemeClr val="dk1"/>
              </a:buClr>
              <a:buSzPts val="1400"/>
              <a:buChar char="■"/>
              <a:defRPr>
                <a:solidFill>
                  <a:schemeClr val="dk1"/>
                </a:solidFill>
              </a:defRPr>
            </a:lvl3pPr>
            <a:lvl4pPr marL="1828800" lvl="3" indent="-317500" rtl="0">
              <a:lnSpc>
                <a:spcPct val="100000"/>
              </a:lnSpc>
              <a:spcBef>
                <a:spcPts val="0"/>
              </a:spcBef>
              <a:spcAft>
                <a:spcPts val="0"/>
              </a:spcAft>
              <a:buClr>
                <a:schemeClr val="dk1"/>
              </a:buClr>
              <a:buSzPts val="1400"/>
              <a:buChar char="●"/>
              <a:defRPr>
                <a:solidFill>
                  <a:schemeClr val="dk1"/>
                </a:solidFill>
              </a:defRPr>
            </a:lvl4pPr>
            <a:lvl5pPr marL="2286000" lvl="4" indent="-317500" rtl="0">
              <a:lnSpc>
                <a:spcPct val="100000"/>
              </a:lnSpc>
              <a:spcBef>
                <a:spcPts val="0"/>
              </a:spcBef>
              <a:spcAft>
                <a:spcPts val="0"/>
              </a:spcAft>
              <a:buClr>
                <a:schemeClr val="dk1"/>
              </a:buClr>
              <a:buSzPts val="1400"/>
              <a:buChar char="○"/>
              <a:defRPr>
                <a:solidFill>
                  <a:schemeClr val="dk1"/>
                </a:solidFill>
              </a:defRPr>
            </a:lvl5pPr>
            <a:lvl6pPr marL="2743200" lvl="5" indent="-317500" rtl="0">
              <a:lnSpc>
                <a:spcPct val="100000"/>
              </a:lnSpc>
              <a:spcBef>
                <a:spcPts val="0"/>
              </a:spcBef>
              <a:spcAft>
                <a:spcPts val="0"/>
              </a:spcAft>
              <a:buClr>
                <a:schemeClr val="dk1"/>
              </a:buClr>
              <a:buSzPts val="1400"/>
              <a:buChar char="■"/>
              <a:defRPr>
                <a:solidFill>
                  <a:schemeClr val="dk1"/>
                </a:solidFill>
              </a:defRPr>
            </a:lvl6pPr>
            <a:lvl7pPr marL="3200400" lvl="6" indent="-317500" rtl="0">
              <a:lnSpc>
                <a:spcPct val="100000"/>
              </a:lnSpc>
              <a:spcBef>
                <a:spcPts val="0"/>
              </a:spcBef>
              <a:spcAft>
                <a:spcPts val="0"/>
              </a:spcAft>
              <a:buClr>
                <a:schemeClr val="dk1"/>
              </a:buClr>
              <a:buSzPts val="1400"/>
              <a:buChar char="●"/>
              <a:defRPr>
                <a:solidFill>
                  <a:schemeClr val="dk1"/>
                </a:solidFill>
              </a:defRPr>
            </a:lvl7pPr>
            <a:lvl8pPr marL="3657600" lvl="7" indent="-317500" rtl="0">
              <a:lnSpc>
                <a:spcPct val="100000"/>
              </a:lnSpc>
              <a:spcBef>
                <a:spcPts val="0"/>
              </a:spcBef>
              <a:spcAft>
                <a:spcPts val="0"/>
              </a:spcAft>
              <a:buClr>
                <a:schemeClr val="dk1"/>
              </a:buClr>
              <a:buSzPts val="1400"/>
              <a:buChar char="○"/>
              <a:defRPr>
                <a:solidFill>
                  <a:schemeClr val="dk1"/>
                </a:solidFill>
              </a:defRPr>
            </a:lvl8pPr>
            <a:lvl9pPr marL="4114800" lvl="8" indent="-317500" rtl="0">
              <a:lnSpc>
                <a:spcPct val="100000"/>
              </a:lnSpc>
              <a:spcBef>
                <a:spcPts val="0"/>
              </a:spcBef>
              <a:spcAft>
                <a:spcPts val="0"/>
              </a:spcAft>
              <a:buClr>
                <a:schemeClr val="dk1"/>
              </a:buClr>
              <a:buSzPts val="1400"/>
              <a:buChar char="■"/>
              <a:defRPr>
                <a:solidFill>
                  <a:schemeClr val="dk1"/>
                </a:solidFill>
              </a:defRPr>
            </a:lvl9pPr>
          </a:lstStyle>
          <a:p>
            <a:endParaRPr/>
          </a:p>
        </p:txBody>
      </p:sp>
      <p:pic>
        <p:nvPicPr>
          <p:cNvPr id="70" name="Google Shape;70;p12"/>
          <p:cNvPicPr preferRelativeResize="0"/>
          <p:nvPr/>
        </p:nvPicPr>
        <p:blipFill>
          <a:blip r:embed="rId4">
            <a:alphaModFix/>
          </a:blip>
          <a:stretch>
            <a:fillRect/>
          </a:stretch>
        </p:blipFill>
        <p:spPr>
          <a:xfrm>
            <a:off x="381575" y="4710130"/>
            <a:ext cx="804775" cy="130750"/>
          </a:xfrm>
          <a:prstGeom prst="rect">
            <a:avLst/>
          </a:prstGeom>
          <a:noFill/>
          <a:ln>
            <a:noFill/>
          </a:ln>
        </p:spPr>
      </p:pic>
    </p:spTree>
    <p:extLst>
      <p:ext uri="{BB962C8B-B14F-4D97-AF65-F5344CB8AC3E}">
        <p14:creationId xmlns:p14="http://schemas.microsoft.com/office/powerpoint/2010/main" val="17786625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311700" y="445025"/>
            <a:ext cx="8520600" cy="572700"/>
          </a:xfrm>
          <a:prstGeom prst="rect">
            <a:avLst/>
          </a:prstGeom>
        </p:spPr>
        <p:txBody>
          <a:bodyPr spcFirstLastPara="1" wrap="square" lIns="0" tIns="0" rIns="91425"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p13"/>
          <p:cNvSpPr/>
          <p:nvPr/>
        </p:nvSpPr>
        <p:spPr>
          <a:xfrm>
            <a:off x="-100" y="0"/>
            <a:ext cx="9144000" cy="19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1217200" y="4686575"/>
            <a:ext cx="1596300" cy="19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97996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75"/>
        <p:cNvGrpSpPr/>
        <p:nvPr/>
      </p:nvGrpSpPr>
      <p:grpSpPr>
        <a:xfrm>
          <a:off x="0" y="0"/>
          <a:ext cx="0" cy="0"/>
          <a:chOff x="0" y="0"/>
          <a:chExt cx="0" cy="0"/>
        </a:xfrm>
      </p:grpSpPr>
      <p:sp>
        <p:nvSpPr>
          <p:cNvPr id="76" name="Google Shape;76;p14"/>
          <p:cNvSpPr/>
          <p:nvPr/>
        </p:nvSpPr>
        <p:spPr>
          <a:xfrm>
            <a:off x="0" y="0"/>
            <a:ext cx="9144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txBox="1">
            <a:spLocks noGrp="1"/>
          </p:cNvSpPr>
          <p:nvPr>
            <p:ph type="title"/>
          </p:nvPr>
        </p:nvSpPr>
        <p:spPr>
          <a:xfrm>
            <a:off x="316250" y="3082775"/>
            <a:ext cx="5603400" cy="1730700"/>
          </a:xfrm>
          <a:prstGeom prst="rect">
            <a:avLst/>
          </a:prstGeom>
        </p:spPr>
        <p:txBody>
          <a:bodyPr spcFirstLastPara="1" wrap="square" lIns="0" tIns="0" rIns="91425" bIns="0" anchor="t"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
        <p:nvSpPr>
          <p:cNvPr id="78" name="Google Shape;78;p14"/>
          <p:cNvSpPr txBox="1">
            <a:spLocks noGrp="1"/>
          </p:cNvSpPr>
          <p:nvPr>
            <p:ph type="subTitle" idx="1"/>
          </p:nvPr>
        </p:nvSpPr>
        <p:spPr>
          <a:xfrm>
            <a:off x="316250" y="616975"/>
            <a:ext cx="8377500" cy="908700"/>
          </a:xfrm>
          <a:prstGeom prst="rect">
            <a:avLst/>
          </a:prstGeom>
        </p:spPr>
        <p:txBody>
          <a:bodyPr spcFirstLastPara="1" wrap="square" lIns="0" tIns="0" rIns="91425" bIns="0" anchor="t" anchorCtr="0">
            <a:noAutofit/>
          </a:bodyPr>
          <a:lstStyle>
            <a:lvl1pPr lvl="0">
              <a:spcBef>
                <a:spcPts val="0"/>
              </a:spcBef>
              <a:spcAft>
                <a:spcPts val="0"/>
              </a:spcAft>
              <a:buClr>
                <a:srgbClr val="FFFFFF"/>
              </a:buClr>
              <a:buSzPts val="7000"/>
              <a:buNone/>
              <a:defRPr sz="7000">
                <a:solidFill>
                  <a:srgbClr val="FFFFFF"/>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extLst>
      <p:ext uri="{BB962C8B-B14F-4D97-AF65-F5344CB8AC3E}">
        <p14:creationId xmlns:p14="http://schemas.microsoft.com/office/powerpoint/2010/main" val="2866557844"/>
      </p:ext>
    </p:extLst>
  </p:cSld>
  <p:clrMapOvr>
    <a:masterClrMapping/>
  </p:clrMapOvr>
  <p:extLst>
    <p:ext uri="{DCECCB84-F9BA-43D5-87BE-67443E8EF086}">
      <p15:sldGuideLst xmlns:p15="http://schemas.microsoft.com/office/powerpoint/2012/main">
        <p15:guide id="1" orient="horz" pos="389">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79"/>
        <p:cNvGrpSpPr/>
        <p:nvPr/>
      </p:nvGrpSpPr>
      <p:grpSpPr>
        <a:xfrm>
          <a:off x="0" y="0"/>
          <a:ext cx="0" cy="0"/>
          <a:chOff x="0" y="0"/>
          <a:chExt cx="0" cy="0"/>
        </a:xfrm>
      </p:grpSpPr>
      <p:sp>
        <p:nvSpPr>
          <p:cNvPr id="80" name="Google Shape;80;p15"/>
          <p:cNvSpPr/>
          <p:nvPr/>
        </p:nvSpPr>
        <p:spPr>
          <a:xfrm>
            <a:off x="0" y="0"/>
            <a:ext cx="91440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316250" y="4073375"/>
            <a:ext cx="5603400" cy="689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000">
                <a:latin typeface="Poppins"/>
                <a:ea typeface="Poppins"/>
                <a:cs typeface="Poppins"/>
                <a:sym typeface="Poppins"/>
              </a:rPr>
              <a:t>Thank you</a:t>
            </a:r>
            <a:endParaRPr sz="5000">
              <a:latin typeface="Poppins"/>
              <a:ea typeface="Poppins"/>
              <a:cs typeface="Poppins"/>
              <a:sym typeface="Poppins"/>
            </a:endParaRPr>
          </a:p>
        </p:txBody>
      </p:sp>
    </p:spTree>
    <p:extLst>
      <p:ext uri="{BB962C8B-B14F-4D97-AF65-F5344CB8AC3E}">
        <p14:creationId xmlns:p14="http://schemas.microsoft.com/office/powerpoint/2010/main" val="1206995437"/>
      </p:ext>
    </p:extLst>
  </p:cSld>
  <p:clrMapOvr>
    <a:masterClrMapping/>
  </p:clrMapOvr>
  <p:extLst>
    <p:ext uri="{DCECCB84-F9BA-43D5-87BE-67443E8EF086}">
      <p15:sldGuideLst xmlns:p15="http://schemas.microsoft.com/office/powerpoint/2012/main">
        <p15:guide id="1" orient="horz" pos="389">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image" Target="../media/image1.png"/><Relationship Id="rId2" Type="http://schemas.openxmlformats.org/officeDocument/2006/relationships/slideLayout" Target="../slideLayouts/slideLayout28.xml"/><Relationship Id="rId16"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0" tIns="0" rIns="91425" bIns="0" anchor="t" anchorCtr="0">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356100"/>
          </a:xfrm>
          <a:prstGeom prst="rect">
            <a:avLst/>
          </a:prstGeom>
          <a:noFill/>
          <a:ln>
            <a:noFill/>
          </a:ln>
        </p:spPr>
        <p:txBody>
          <a:bodyPr spcFirstLastPara="1" wrap="square" lIns="0" tIns="0" rIns="91425" bIns="0" anchor="t" anchorCtr="0">
            <a:noAutofit/>
          </a:bodyPr>
          <a:lstStyle>
            <a:lvl1pPr marL="457200" lvl="0" indent="-3429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marL="914400" lvl="1"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
        <p:nvSpPr>
          <p:cNvPr id="8" name="Google Shape;8;p1"/>
          <p:cNvSpPr txBox="1">
            <a:spLocks noGrp="1"/>
          </p:cNvSpPr>
          <p:nvPr>
            <p:ph type="sldNum" idx="12"/>
          </p:nvPr>
        </p:nvSpPr>
        <p:spPr>
          <a:xfrm>
            <a:off x="8340628" y="4578692"/>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5">
            <a:alphaModFix/>
          </a:blip>
          <a:stretch>
            <a:fillRect/>
          </a:stretch>
        </p:blipFill>
        <p:spPr>
          <a:xfrm>
            <a:off x="381575" y="4710130"/>
            <a:ext cx="804775" cy="130750"/>
          </a:xfrm>
          <a:prstGeom prst="rect">
            <a:avLst/>
          </a:prstGeom>
          <a:noFill/>
          <a:ln>
            <a:noFill/>
          </a:ln>
        </p:spPr>
      </p:pic>
      <p:sp>
        <p:nvSpPr>
          <p:cNvPr id="10" name="Google Shape;10;p1"/>
          <p:cNvSpPr/>
          <p:nvPr/>
        </p:nvSpPr>
        <p:spPr>
          <a:xfrm>
            <a:off x="0" y="0"/>
            <a:ext cx="9144000" cy="903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txBox="1"/>
          <p:nvPr/>
        </p:nvSpPr>
        <p:spPr>
          <a:xfrm>
            <a:off x="1230578" y="4710125"/>
            <a:ext cx="1140600" cy="206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latin typeface="Poppins"/>
                <a:ea typeface="Poppins"/>
                <a:cs typeface="Poppins"/>
                <a:sym typeface="Poppins"/>
              </a:rPr>
              <a:t>| workato.com</a:t>
            </a:r>
            <a:endParaRPr sz="1000">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63"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0" tIns="0" rIns="91425" bIns="0" anchor="t" anchorCtr="0">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356100"/>
          </a:xfrm>
          <a:prstGeom prst="rect">
            <a:avLst/>
          </a:prstGeom>
          <a:noFill/>
          <a:ln>
            <a:noFill/>
          </a:ln>
        </p:spPr>
        <p:txBody>
          <a:bodyPr spcFirstLastPara="1" wrap="square" lIns="0" tIns="0" rIns="91425" bIns="0" anchor="t" anchorCtr="0">
            <a:noAutofit/>
          </a:bodyPr>
          <a:lstStyle>
            <a:lvl1pPr marL="457200" lvl="0" indent="-3429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marL="914400" lvl="1"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
        <p:nvSpPr>
          <p:cNvPr id="8" name="Google Shape;8;p1"/>
          <p:cNvSpPr txBox="1">
            <a:spLocks noGrp="1"/>
          </p:cNvSpPr>
          <p:nvPr>
            <p:ph type="sldNum" idx="12"/>
          </p:nvPr>
        </p:nvSpPr>
        <p:spPr>
          <a:xfrm>
            <a:off x="8340628" y="4578692"/>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5">
            <a:alphaModFix/>
          </a:blip>
          <a:stretch>
            <a:fillRect/>
          </a:stretch>
        </p:blipFill>
        <p:spPr>
          <a:xfrm>
            <a:off x="381575" y="4710130"/>
            <a:ext cx="804775" cy="130750"/>
          </a:xfrm>
          <a:prstGeom prst="rect">
            <a:avLst/>
          </a:prstGeom>
          <a:noFill/>
          <a:ln>
            <a:noFill/>
          </a:ln>
        </p:spPr>
      </p:pic>
      <p:sp>
        <p:nvSpPr>
          <p:cNvPr id="10" name="Google Shape;10;p1"/>
          <p:cNvSpPr/>
          <p:nvPr/>
        </p:nvSpPr>
        <p:spPr>
          <a:xfrm>
            <a:off x="0" y="0"/>
            <a:ext cx="9144000" cy="903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txBox="1"/>
          <p:nvPr/>
        </p:nvSpPr>
        <p:spPr>
          <a:xfrm>
            <a:off x="1230578" y="4710125"/>
            <a:ext cx="1140600" cy="206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latin typeface="Poppins"/>
                <a:ea typeface="Poppins"/>
                <a:cs typeface="Poppins"/>
                <a:sym typeface="Poppins"/>
              </a:rPr>
              <a:t>| workato.com</a:t>
            </a:r>
            <a:endParaRPr sz="1000">
              <a:latin typeface="Poppins"/>
              <a:ea typeface="Poppins"/>
              <a:cs typeface="Poppins"/>
              <a:sym typeface="Poppins"/>
            </a:endParaRPr>
          </a:p>
        </p:txBody>
      </p:sp>
    </p:spTree>
    <p:extLst>
      <p:ext uri="{BB962C8B-B14F-4D97-AF65-F5344CB8AC3E}">
        <p14:creationId xmlns:p14="http://schemas.microsoft.com/office/powerpoint/2010/main" val="3884753444"/>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4" r:id="rId8"/>
    <p:sldLayoutId id="2147483675" r:id="rId9"/>
    <p:sldLayoutId id="2147483676" r:id="rId10"/>
    <p:sldLayoutId id="2147483677" r:id="rId11"/>
    <p:sldLayoutId id="2147483678" r:id="rId12"/>
    <p:sldLayoutId id="214748367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0" tIns="0" rIns="91425" bIns="0" anchor="t" anchorCtr="0">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356100"/>
          </a:xfrm>
          <a:prstGeom prst="rect">
            <a:avLst/>
          </a:prstGeom>
          <a:noFill/>
          <a:ln>
            <a:noFill/>
          </a:ln>
        </p:spPr>
        <p:txBody>
          <a:bodyPr spcFirstLastPara="1" wrap="square" lIns="0" tIns="0" rIns="91425" bIns="0" anchor="t" anchorCtr="0">
            <a:noAutofit/>
          </a:bodyPr>
          <a:lstStyle>
            <a:lvl1pPr marL="457200" lvl="0" indent="-3429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marL="914400" lvl="1"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
        <p:nvSpPr>
          <p:cNvPr id="8" name="Google Shape;8;p1"/>
          <p:cNvSpPr txBox="1">
            <a:spLocks noGrp="1"/>
          </p:cNvSpPr>
          <p:nvPr>
            <p:ph type="sldNum" idx="12"/>
          </p:nvPr>
        </p:nvSpPr>
        <p:spPr>
          <a:xfrm>
            <a:off x="8340628" y="4578692"/>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7">
            <a:alphaModFix/>
          </a:blip>
          <a:stretch>
            <a:fillRect/>
          </a:stretch>
        </p:blipFill>
        <p:spPr>
          <a:xfrm>
            <a:off x="381575" y="4710130"/>
            <a:ext cx="804775" cy="130750"/>
          </a:xfrm>
          <a:prstGeom prst="rect">
            <a:avLst/>
          </a:prstGeom>
          <a:noFill/>
          <a:ln>
            <a:noFill/>
          </a:ln>
        </p:spPr>
      </p:pic>
      <p:sp>
        <p:nvSpPr>
          <p:cNvPr id="10" name="Google Shape;10;p1"/>
          <p:cNvSpPr/>
          <p:nvPr/>
        </p:nvSpPr>
        <p:spPr>
          <a:xfrm>
            <a:off x="0" y="0"/>
            <a:ext cx="9144000" cy="903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txBox="1"/>
          <p:nvPr/>
        </p:nvSpPr>
        <p:spPr>
          <a:xfrm>
            <a:off x="1230578" y="4710125"/>
            <a:ext cx="1140600" cy="206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latin typeface="Poppins"/>
                <a:ea typeface="Poppins"/>
                <a:cs typeface="Poppins"/>
                <a:sym typeface="Poppins"/>
              </a:rPr>
              <a:t>| workato.com</a:t>
            </a:r>
            <a:endParaRPr sz="1000">
              <a:latin typeface="Poppins"/>
              <a:ea typeface="Poppins"/>
              <a:cs typeface="Poppins"/>
              <a:sym typeface="Poppins"/>
            </a:endParaRPr>
          </a:p>
        </p:txBody>
      </p:sp>
    </p:spTree>
    <p:extLst>
      <p:ext uri="{BB962C8B-B14F-4D97-AF65-F5344CB8AC3E}">
        <p14:creationId xmlns:p14="http://schemas.microsoft.com/office/powerpoint/2010/main" val="3255760867"/>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p:nvPr/>
        </p:nvSpPr>
        <p:spPr>
          <a:xfrm>
            <a:off x="896850" y="2843350"/>
            <a:ext cx="7350300" cy="83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a:solidFill>
                  <a:schemeClr val="lt1"/>
                </a:solidFill>
                <a:latin typeface="Poppins"/>
                <a:ea typeface="Poppins"/>
                <a:cs typeface="Poppins"/>
                <a:sym typeface="Poppins"/>
              </a:rPr>
              <a:t>Automate the w</a:t>
            </a:r>
            <a:r>
              <a:rPr lang="en" sz="2800">
                <a:solidFill>
                  <a:schemeClr val="lt1"/>
                </a:solidFill>
                <a:latin typeface="Source Sans Pro"/>
                <a:ea typeface="Source Sans Pro"/>
                <a:cs typeface="Source Sans Pro"/>
                <a:sym typeface="Source Sans Pro"/>
              </a:rPr>
              <a:t>*</a:t>
            </a:r>
            <a:r>
              <a:rPr lang="en" sz="2800">
                <a:solidFill>
                  <a:schemeClr val="lt1"/>
                </a:solidFill>
                <a:latin typeface="Poppins"/>
                <a:ea typeface="Poppins"/>
                <a:cs typeface="Poppins"/>
                <a:sym typeface="Poppins"/>
              </a:rPr>
              <a:t>rk out of everything</a:t>
            </a:r>
            <a:endParaRPr sz="2800">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17"/>
          <p:cNvSpPr txBox="1">
            <a:spLocks noGrp="1"/>
          </p:cNvSpPr>
          <p:nvPr>
            <p:ph type="title"/>
          </p:nvPr>
        </p:nvSpPr>
        <p:spPr>
          <a:xfrm>
            <a:off x="4645500" y="2579649"/>
            <a:ext cx="3658200" cy="474600"/>
          </a:xfrm>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sz="3600" dirty="0"/>
              <a:t>Brent Haley</a:t>
            </a:r>
            <a:endParaRPr sz="3600" dirty="0"/>
          </a:p>
        </p:txBody>
      </p:sp>
      <p:sp>
        <p:nvSpPr>
          <p:cNvPr id="93" name="Google Shape;93;p17"/>
          <p:cNvSpPr txBox="1">
            <a:spLocks noGrp="1"/>
          </p:cNvSpPr>
          <p:nvPr>
            <p:ph type="title"/>
          </p:nvPr>
        </p:nvSpPr>
        <p:spPr>
          <a:xfrm>
            <a:off x="4673000" y="3282849"/>
            <a:ext cx="3140400" cy="254100"/>
          </a:xfrm>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sz="1000" dirty="0">
                <a:solidFill>
                  <a:schemeClr val="dk2"/>
                </a:solidFill>
              </a:rPr>
              <a:t>STORY TELLER &amp; CONTENT STRATEGIST</a:t>
            </a:r>
            <a:endParaRPr sz="1000" dirty="0">
              <a:solidFill>
                <a:schemeClr val="dk2"/>
              </a:solidFill>
            </a:endParaRPr>
          </a:p>
        </p:txBody>
      </p:sp>
      <p:pic>
        <p:nvPicPr>
          <p:cNvPr id="7" name="Picture 6" descr="A person smiling for the camera&#10;&#10;AI-generated content may be incorrect.">
            <a:extLst>
              <a:ext uri="{FF2B5EF4-FFF2-40B4-BE49-F238E27FC236}">
                <a16:creationId xmlns:a16="http://schemas.microsoft.com/office/drawing/2014/main" id="{87857578-EB54-0859-C70C-5559B739623B}"/>
              </a:ext>
            </a:extLst>
          </p:cNvPr>
          <p:cNvPicPr>
            <a:picLocks noChangeAspect="1"/>
          </p:cNvPicPr>
          <p:nvPr/>
        </p:nvPicPr>
        <p:blipFill>
          <a:blip r:embed="rId3"/>
          <a:stretch>
            <a:fillRect/>
          </a:stretch>
        </p:blipFill>
        <p:spPr>
          <a:xfrm>
            <a:off x="1849427" y="1352726"/>
            <a:ext cx="2483872" cy="2483872"/>
          </a:xfrm>
          <a:prstGeom prst="rect">
            <a:avLst/>
          </a:prstGeom>
        </p:spPr>
      </p:pic>
      <p:sp>
        <p:nvSpPr>
          <p:cNvPr id="11" name="Title 10">
            <a:extLst>
              <a:ext uri="{FF2B5EF4-FFF2-40B4-BE49-F238E27FC236}">
                <a16:creationId xmlns:a16="http://schemas.microsoft.com/office/drawing/2014/main" id="{3AA990E9-4E0B-773C-7908-0B5D3D283BC1}"/>
              </a:ext>
            </a:extLst>
          </p:cNvPr>
          <p:cNvSpPr>
            <a:spLocks noGrp="1"/>
          </p:cNvSpPr>
          <p:nvPr>
            <p:ph type="title"/>
          </p:nvPr>
        </p:nvSpPr>
        <p:spPr>
          <a:xfrm>
            <a:off x="365124" y="445025"/>
            <a:ext cx="8467175" cy="572700"/>
          </a:xfrm>
        </p:spPr>
        <p:txBody>
          <a:bodyPr/>
          <a:lstStyle/>
          <a:p>
            <a:r>
              <a:rPr lang="en-US" dirty="0"/>
              <a:t>Industry and partner solution marketing</a:t>
            </a:r>
          </a:p>
        </p:txBody>
      </p:sp>
      <p:sp>
        <p:nvSpPr>
          <p:cNvPr id="15" name="Oval 14">
            <a:extLst>
              <a:ext uri="{FF2B5EF4-FFF2-40B4-BE49-F238E27FC236}">
                <a16:creationId xmlns:a16="http://schemas.microsoft.com/office/drawing/2014/main" id="{6ECA147B-B221-1C00-B571-07D5F4465156}"/>
              </a:ext>
            </a:extLst>
          </p:cNvPr>
          <p:cNvSpPr/>
          <p:nvPr/>
        </p:nvSpPr>
        <p:spPr>
          <a:xfrm>
            <a:off x="1760050" y="1376454"/>
            <a:ext cx="2483872" cy="24838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059723" y="1069976"/>
            <a:ext cx="5866777" cy="4056224"/>
          </a:xfrm>
          <a:prstGeom prst="rect">
            <a:avLst/>
          </a:prstGeom>
        </p:spPr>
        <p:txBody>
          <a:bodyPr spcFirstLastPara="1" wrap="square" lIns="0" tIns="0" rIns="91425" bIns="0" anchor="t" anchorCtr="0">
            <a:noAutofit/>
          </a:bodyPr>
          <a:lstStyle/>
          <a:p>
            <a:pPr lvl="0">
              <a:lnSpc>
                <a:spcPct val="150000"/>
              </a:lnSpc>
            </a:pPr>
            <a:r>
              <a:rPr lang="en" sz="3200" dirty="0"/>
              <a:t>01	Workato </a:t>
            </a:r>
            <a:r>
              <a:rPr lang="en-US" sz="3200" dirty="0"/>
              <a:t>in Industries</a:t>
            </a:r>
            <a:br>
              <a:rPr lang="en-US" sz="3200" dirty="0"/>
            </a:br>
            <a:r>
              <a:rPr lang="en-US" sz="3200" dirty="0"/>
              <a:t>02	</a:t>
            </a:r>
            <a:r>
              <a:rPr lang="en" sz="3200" dirty="0"/>
              <a:t>Industry Framework</a:t>
            </a:r>
            <a:endParaRPr sz="3200" dirty="0"/>
          </a:p>
          <a:p>
            <a:pPr marL="0" lvl="0" indent="0" algn="l" rtl="0">
              <a:lnSpc>
                <a:spcPct val="150000"/>
              </a:lnSpc>
              <a:spcBef>
                <a:spcPts val="0"/>
              </a:spcBef>
              <a:spcAft>
                <a:spcPts val="0"/>
              </a:spcAft>
              <a:buNone/>
            </a:pPr>
            <a:r>
              <a:rPr lang="en" sz="3200" dirty="0"/>
              <a:t>03  	</a:t>
            </a:r>
            <a:r>
              <a:rPr lang="en-US" sz="3200" dirty="0"/>
              <a:t>Content BOM</a:t>
            </a:r>
            <a:endParaRPr sz="3200" dirty="0"/>
          </a:p>
          <a:p>
            <a:pPr marL="0" lvl="0" indent="0" algn="l" rtl="0">
              <a:lnSpc>
                <a:spcPct val="150000"/>
              </a:lnSpc>
              <a:spcBef>
                <a:spcPts val="0"/>
              </a:spcBef>
              <a:spcAft>
                <a:spcPts val="0"/>
              </a:spcAft>
              <a:buNone/>
            </a:pPr>
            <a:r>
              <a:rPr lang="en" sz="3200" dirty="0"/>
              <a:t>04  	Scaling with Partners</a:t>
            </a:r>
            <a:endParaRPr sz="3200" dirty="0"/>
          </a:p>
        </p:txBody>
      </p:sp>
      <p:sp>
        <p:nvSpPr>
          <p:cNvPr id="103" name="Google Shape;103;p18"/>
          <p:cNvSpPr/>
          <p:nvPr/>
        </p:nvSpPr>
        <p:spPr>
          <a:xfrm>
            <a:off x="0" y="0"/>
            <a:ext cx="2877300" cy="5143500"/>
          </a:xfrm>
          <a:prstGeom prst="rect">
            <a:avLst/>
          </a:prstGeom>
          <a:solidFill>
            <a:srgbClr val="67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title"/>
          </p:nvPr>
        </p:nvSpPr>
        <p:spPr>
          <a:xfrm>
            <a:off x="464100" y="749825"/>
            <a:ext cx="2109494" cy="572700"/>
          </a:xfrm>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sz="2400" dirty="0"/>
              <a:t>Discussion</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5712800D-87CC-772F-1B26-DEA06AF24148}"/>
            </a:ext>
          </a:extLst>
        </p:cNvPr>
        <p:cNvGrpSpPr/>
        <p:nvPr/>
      </p:nvGrpSpPr>
      <p:grpSpPr>
        <a:xfrm>
          <a:off x="0" y="0"/>
          <a:ext cx="0" cy="0"/>
          <a:chOff x="0" y="0"/>
          <a:chExt cx="0" cy="0"/>
        </a:xfrm>
      </p:grpSpPr>
      <p:sp>
        <p:nvSpPr>
          <p:cNvPr id="153" name="Google Shape;153;p24">
            <a:extLst>
              <a:ext uri="{FF2B5EF4-FFF2-40B4-BE49-F238E27FC236}">
                <a16:creationId xmlns:a16="http://schemas.microsoft.com/office/drawing/2014/main" id="{C26DEAFA-ED0E-EE71-52A0-F15CC0D15CDA}"/>
              </a:ext>
            </a:extLst>
          </p:cNvPr>
          <p:cNvSpPr txBox="1">
            <a:spLocks noGrp="1"/>
          </p:cNvSpPr>
          <p:nvPr>
            <p:ph type="title" idx="4294967295"/>
          </p:nvPr>
        </p:nvSpPr>
        <p:spPr>
          <a:xfrm>
            <a:off x="365125" y="353834"/>
            <a:ext cx="4659549" cy="468852"/>
          </a:xfrm>
          <a:prstGeom prst="rect">
            <a:avLst/>
          </a:prstGeom>
        </p:spPr>
        <p:txBody>
          <a:bodyPr spcFirstLastPara="1" wrap="square" lIns="0" tIns="0" rIns="91425" bIns="0" anchor="ctr" anchorCtr="0">
            <a:noAutofit/>
          </a:bodyPr>
          <a:lstStyle/>
          <a:p>
            <a:pPr marL="0" lvl="0" indent="0" rtl="0">
              <a:spcBef>
                <a:spcPts val="0"/>
              </a:spcBef>
              <a:spcAft>
                <a:spcPts val="0"/>
              </a:spcAft>
              <a:buNone/>
            </a:pPr>
            <a:r>
              <a:rPr lang="en-US" dirty="0"/>
              <a:t>Top industries</a:t>
            </a:r>
            <a:endParaRPr dirty="0"/>
          </a:p>
        </p:txBody>
      </p:sp>
      <p:sp>
        <p:nvSpPr>
          <p:cNvPr id="5" name="Google Shape;155;p24">
            <a:extLst>
              <a:ext uri="{FF2B5EF4-FFF2-40B4-BE49-F238E27FC236}">
                <a16:creationId xmlns:a16="http://schemas.microsoft.com/office/drawing/2014/main" id="{B759A3C9-AEDA-7C6A-A19F-2D3EE1309172}"/>
              </a:ext>
            </a:extLst>
          </p:cNvPr>
          <p:cNvSpPr txBox="1">
            <a:spLocks/>
          </p:cNvSpPr>
          <p:nvPr/>
        </p:nvSpPr>
        <p:spPr>
          <a:xfrm>
            <a:off x="3459803" y="1099090"/>
            <a:ext cx="2042809" cy="829535"/>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114300" indent="0" algn="ctr">
              <a:buNone/>
            </a:pPr>
            <a:endParaRPr lang="en-US" dirty="0"/>
          </a:p>
        </p:txBody>
      </p:sp>
      <p:sp>
        <p:nvSpPr>
          <p:cNvPr id="6" name="Google Shape;155;p24">
            <a:extLst>
              <a:ext uri="{FF2B5EF4-FFF2-40B4-BE49-F238E27FC236}">
                <a16:creationId xmlns:a16="http://schemas.microsoft.com/office/drawing/2014/main" id="{8FDD76C6-4A3A-422F-9D4B-807163299411}"/>
              </a:ext>
            </a:extLst>
          </p:cNvPr>
          <p:cNvSpPr txBox="1">
            <a:spLocks/>
          </p:cNvSpPr>
          <p:nvPr/>
        </p:nvSpPr>
        <p:spPr>
          <a:xfrm>
            <a:off x="6420255" y="1135704"/>
            <a:ext cx="2042809" cy="921999"/>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0" indent="0" algn="ctr">
              <a:spcAft>
                <a:spcPts val="1600"/>
              </a:spcAft>
              <a:buNone/>
            </a:pPr>
            <a:endParaRPr lang="en-US" dirty="0"/>
          </a:p>
        </p:txBody>
      </p:sp>
      <p:grpSp>
        <p:nvGrpSpPr>
          <p:cNvPr id="19" name="Group 18">
            <a:extLst>
              <a:ext uri="{FF2B5EF4-FFF2-40B4-BE49-F238E27FC236}">
                <a16:creationId xmlns:a16="http://schemas.microsoft.com/office/drawing/2014/main" id="{2B19874F-BF10-820B-07C9-08B61302EA35}"/>
              </a:ext>
            </a:extLst>
          </p:cNvPr>
          <p:cNvGrpSpPr/>
          <p:nvPr/>
        </p:nvGrpSpPr>
        <p:grpSpPr>
          <a:xfrm>
            <a:off x="568134" y="1397257"/>
            <a:ext cx="2259628" cy="2777076"/>
            <a:chOff x="568134" y="1397257"/>
            <a:chExt cx="2259628" cy="2777076"/>
          </a:xfrm>
        </p:grpSpPr>
        <p:sp>
          <p:nvSpPr>
            <p:cNvPr id="7" name="Rectangle 6">
              <a:extLst>
                <a:ext uri="{FF2B5EF4-FFF2-40B4-BE49-F238E27FC236}">
                  <a16:creationId xmlns:a16="http://schemas.microsoft.com/office/drawing/2014/main" id="{DAB7711A-B311-B2FE-C6C9-5A1D2D9F13E8}"/>
                </a:ext>
              </a:extLst>
            </p:cNvPr>
            <p:cNvSpPr/>
            <p:nvPr/>
          </p:nvSpPr>
          <p:spPr>
            <a:xfrm>
              <a:off x="687420" y="1397257"/>
              <a:ext cx="2140342" cy="1646886"/>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Financial Services </a:t>
              </a:r>
              <a:br>
                <a:rPr lang="en-US" sz="2400" dirty="0">
                  <a:solidFill>
                    <a:schemeClr val="tx1"/>
                  </a:solidFill>
                </a:rPr>
              </a:br>
              <a:r>
                <a:rPr lang="en-US" dirty="0">
                  <a:solidFill>
                    <a:schemeClr val="tx1"/>
                  </a:solidFill>
                </a:rPr>
                <a:t>(Banking &amp; Insurance)</a:t>
              </a:r>
            </a:p>
          </p:txBody>
        </p:sp>
        <p:sp>
          <p:nvSpPr>
            <p:cNvPr id="10" name="TextBox 9">
              <a:extLst>
                <a:ext uri="{FF2B5EF4-FFF2-40B4-BE49-F238E27FC236}">
                  <a16:creationId xmlns:a16="http://schemas.microsoft.com/office/drawing/2014/main" id="{146739D8-2311-C81A-756C-602898341EBB}"/>
                </a:ext>
              </a:extLst>
            </p:cNvPr>
            <p:cNvSpPr txBox="1"/>
            <p:nvPr/>
          </p:nvSpPr>
          <p:spPr>
            <a:xfrm>
              <a:off x="687420" y="3242005"/>
              <a:ext cx="2021056" cy="338554"/>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 $12-15B TAM </a:t>
              </a:r>
            </a:p>
          </p:txBody>
        </p:sp>
        <p:sp>
          <p:nvSpPr>
            <p:cNvPr id="11" name="TextBox 10">
              <a:extLst>
                <a:ext uri="{FF2B5EF4-FFF2-40B4-BE49-F238E27FC236}">
                  <a16:creationId xmlns:a16="http://schemas.microsoft.com/office/drawing/2014/main" id="{830FEFDA-8718-F13C-B794-D5D7B4A4F3AD}"/>
                </a:ext>
              </a:extLst>
            </p:cNvPr>
            <p:cNvSpPr txBox="1"/>
            <p:nvPr/>
          </p:nvSpPr>
          <p:spPr>
            <a:xfrm>
              <a:off x="568134" y="3651113"/>
              <a:ext cx="2140342" cy="523220"/>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~24% </a:t>
              </a:r>
              <a:br>
                <a:rPr lang="en-US" sz="1600" dirty="0">
                  <a:latin typeface="Poppins" panose="00000500000000000000" pitchFamily="2" charset="0"/>
                  <a:cs typeface="Poppins" panose="00000500000000000000" pitchFamily="2" charset="0"/>
                </a:rPr>
              </a:br>
              <a:r>
                <a:rPr lang="en-US" sz="1200" dirty="0">
                  <a:latin typeface="Poppins" panose="00000500000000000000" pitchFamily="2" charset="0"/>
                  <a:cs typeface="Poppins" panose="00000500000000000000" pitchFamily="2" charset="0"/>
                </a:rPr>
                <a:t>of global RPA revenue </a:t>
              </a:r>
            </a:p>
          </p:txBody>
        </p:sp>
      </p:grpSp>
      <p:grpSp>
        <p:nvGrpSpPr>
          <p:cNvPr id="18" name="Group 17">
            <a:extLst>
              <a:ext uri="{FF2B5EF4-FFF2-40B4-BE49-F238E27FC236}">
                <a16:creationId xmlns:a16="http://schemas.microsoft.com/office/drawing/2014/main" id="{88563C1B-CFE3-9603-5908-85810984A25D}"/>
              </a:ext>
            </a:extLst>
          </p:cNvPr>
          <p:cNvGrpSpPr/>
          <p:nvPr/>
        </p:nvGrpSpPr>
        <p:grpSpPr>
          <a:xfrm>
            <a:off x="3547895" y="1397256"/>
            <a:ext cx="2143042" cy="2777077"/>
            <a:chOff x="3547895" y="1397256"/>
            <a:chExt cx="2143042" cy="2777077"/>
          </a:xfrm>
        </p:grpSpPr>
        <p:sp>
          <p:nvSpPr>
            <p:cNvPr id="8" name="Rectangle 7">
              <a:extLst>
                <a:ext uri="{FF2B5EF4-FFF2-40B4-BE49-F238E27FC236}">
                  <a16:creationId xmlns:a16="http://schemas.microsoft.com/office/drawing/2014/main" id="{A7809D06-04E5-E361-1D91-CFAE745CEF91}"/>
                </a:ext>
              </a:extLst>
            </p:cNvPr>
            <p:cNvSpPr/>
            <p:nvPr/>
          </p:nvSpPr>
          <p:spPr>
            <a:xfrm>
              <a:off x="3550595" y="1397256"/>
              <a:ext cx="2140342" cy="1646886"/>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Manufacturing &amp; Supply Chain</a:t>
              </a:r>
            </a:p>
          </p:txBody>
        </p:sp>
        <p:sp>
          <p:nvSpPr>
            <p:cNvPr id="12" name="TextBox 11">
              <a:extLst>
                <a:ext uri="{FF2B5EF4-FFF2-40B4-BE49-F238E27FC236}">
                  <a16:creationId xmlns:a16="http://schemas.microsoft.com/office/drawing/2014/main" id="{CFD60F37-D3A8-1D74-B39D-BC0857DC42B1}"/>
                </a:ext>
              </a:extLst>
            </p:cNvPr>
            <p:cNvSpPr txBox="1"/>
            <p:nvPr/>
          </p:nvSpPr>
          <p:spPr>
            <a:xfrm>
              <a:off x="3561472" y="3242005"/>
              <a:ext cx="2021056" cy="338554"/>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 $8-10B TAM </a:t>
              </a:r>
            </a:p>
          </p:txBody>
        </p:sp>
        <p:sp>
          <p:nvSpPr>
            <p:cNvPr id="13" name="TextBox 12">
              <a:extLst>
                <a:ext uri="{FF2B5EF4-FFF2-40B4-BE49-F238E27FC236}">
                  <a16:creationId xmlns:a16="http://schemas.microsoft.com/office/drawing/2014/main" id="{7805B5C4-0991-3FC8-E9FF-17198433D01B}"/>
                </a:ext>
              </a:extLst>
            </p:cNvPr>
            <p:cNvSpPr txBox="1"/>
            <p:nvPr/>
          </p:nvSpPr>
          <p:spPr>
            <a:xfrm>
              <a:off x="3547895" y="3651113"/>
              <a:ext cx="2021056" cy="523220"/>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~18%</a:t>
              </a:r>
              <a:br>
                <a:rPr lang="en-US" sz="1600" dirty="0">
                  <a:latin typeface="Poppins" panose="00000500000000000000" pitchFamily="2" charset="0"/>
                  <a:cs typeface="Poppins" panose="00000500000000000000" pitchFamily="2" charset="0"/>
                </a:rPr>
              </a:br>
              <a:r>
                <a:rPr lang="en-US" sz="1200" dirty="0">
                  <a:latin typeface="Poppins" panose="00000500000000000000" pitchFamily="2" charset="0"/>
                  <a:cs typeface="Poppins" panose="00000500000000000000" pitchFamily="2" charset="0"/>
                </a:rPr>
                <a:t>of global RPA revenue </a:t>
              </a:r>
            </a:p>
          </p:txBody>
        </p:sp>
      </p:grpSp>
      <p:grpSp>
        <p:nvGrpSpPr>
          <p:cNvPr id="17" name="Group 16">
            <a:extLst>
              <a:ext uri="{FF2B5EF4-FFF2-40B4-BE49-F238E27FC236}">
                <a16:creationId xmlns:a16="http://schemas.microsoft.com/office/drawing/2014/main" id="{F81CB00C-F7C2-4BF6-2C60-844843964705}"/>
              </a:ext>
            </a:extLst>
          </p:cNvPr>
          <p:cNvGrpSpPr/>
          <p:nvPr/>
        </p:nvGrpSpPr>
        <p:grpSpPr>
          <a:xfrm>
            <a:off x="6413514" y="1397256"/>
            <a:ext cx="2140341" cy="2838632"/>
            <a:chOff x="6413514" y="1397256"/>
            <a:chExt cx="2140341" cy="2838632"/>
          </a:xfrm>
        </p:grpSpPr>
        <p:sp>
          <p:nvSpPr>
            <p:cNvPr id="9" name="Rectangle 8">
              <a:extLst>
                <a:ext uri="{FF2B5EF4-FFF2-40B4-BE49-F238E27FC236}">
                  <a16:creationId xmlns:a16="http://schemas.microsoft.com/office/drawing/2014/main" id="{64D342D9-BDD6-F09F-4B2F-C6E40A100CDA}"/>
                </a:ext>
              </a:extLst>
            </p:cNvPr>
            <p:cNvSpPr/>
            <p:nvPr/>
          </p:nvSpPr>
          <p:spPr>
            <a:xfrm>
              <a:off x="6413514" y="1397256"/>
              <a:ext cx="2140341" cy="1646886"/>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Healthcare &amp; </a:t>
              </a:r>
              <a:br>
                <a:rPr lang="en-US" sz="2400" dirty="0">
                  <a:solidFill>
                    <a:schemeClr val="tx1"/>
                  </a:solidFill>
                </a:rPr>
              </a:br>
              <a:r>
                <a:rPr lang="en-US" sz="2400" dirty="0">
                  <a:solidFill>
                    <a:schemeClr val="tx1"/>
                  </a:solidFill>
                </a:rPr>
                <a:t>Life Sciences</a:t>
              </a:r>
            </a:p>
          </p:txBody>
        </p:sp>
        <p:sp>
          <p:nvSpPr>
            <p:cNvPr id="14" name="TextBox 13">
              <a:extLst>
                <a:ext uri="{FF2B5EF4-FFF2-40B4-BE49-F238E27FC236}">
                  <a16:creationId xmlns:a16="http://schemas.microsoft.com/office/drawing/2014/main" id="{DC998946-6C6A-82E0-C4CC-070A5161CB4F}"/>
                </a:ext>
              </a:extLst>
            </p:cNvPr>
            <p:cNvSpPr txBox="1"/>
            <p:nvPr/>
          </p:nvSpPr>
          <p:spPr>
            <a:xfrm>
              <a:off x="6462680" y="3242005"/>
              <a:ext cx="2021056" cy="338554"/>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 $5-8B TAM </a:t>
              </a:r>
            </a:p>
          </p:txBody>
        </p:sp>
        <p:sp>
          <p:nvSpPr>
            <p:cNvPr id="15" name="TextBox 14">
              <a:extLst>
                <a:ext uri="{FF2B5EF4-FFF2-40B4-BE49-F238E27FC236}">
                  <a16:creationId xmlns:a16="http://schemas.microsoft.com/office/drawing/2014/main" id="{E18E40B6-10E7-8D03-AABC-150544398153}"/>
                </a:ext>
              </a:extLst>
            </p:cNvPr>
            <p:cNvSpPr txBox="1"/>
            <p:nvPr/>
          </p:nvSpPr>
          <p:spPr>
            <a:xfrm>
              <a:off x="6449103" y="3651113"/>
              <a:ext cx="2021056" cy="584775"/>
            </a:xfrm>
            <a:prstGeom prst="rect">
              <a:avLst/>
            </a:prstGeom>
            <a:noFill/>
          </p:spPr>
          <p:txBody>
            <a:bodyPr wrap="square" rtlCol="0">
              <a:spAutoFit/>
            </a:bodyPr>
            <a:lstStyle/>
            <a:p>
              <a:pPr algn="ctr"/>
              <a:r>
                <a:rPr lang="en-US" sz="1600" dirty="0">
                  <a:latin typeface="Poppins" panose="00000500000000000000" pitchFamily="2" charset="0"/>
                  <a:cs typeface="Poppins" panose="00000500000000000000" pitchFamily="2" charset="0"/>
                </a:rPr>
                <a:t>~20%</a:t>
              </a:r>
              <a:br>
                <a:rPr lang="en-US" sz="1600" dirty="0">
                  <a:latin typeface="Poppins" panose="00000500000000000000" pitchFamily="2" charset="0"/>
                  <a:cs typeface="Poppins" panose="00000500000000000000" pitchFamily="2" charset="0"/>
                </a:rPr>
              </a:br>
              <a:r>
                <a:rPr lang="en-US" sz="1600" dirty="0">
                  <a:latin typeface="Poppins" panose="00000500000000000000" pitchFamily="2" charset="0"/>
                  <a:cs typeface="Poppins" panose="00000500000000000000" pitchFamily="2" charset="0"/>
                </a:rPr>
                <a:t> </a:t>
              </a:r>
              <a:r>
                <a:rPr lang="en-US" sz="1200" dirty="0">
                  <a:latin typeface="Poppins" panose="00000500000000000000" pitchFamily="2" charset="0"/>
                  <a:cs typeface="Poppins" panose="00000500000000000000" pitchFamily="2" charset="0"/>
                </a:rPr>
                <a:t>of global RPA revenue </a:t>
              </a:r>
            </a:p>
          </p:txBody>
        </p:sp>
      </p:grpSp>
      <p:sp>
        <p:nvSpPr>
          <p:cNvPr id="21" name="TextBox 20">
            <a:extLst>
              <a:ext uri="{FF2B5EF4-FFF2-40B4-BE49-F238E27FC236}">
                <a16:creationId xmlns:a16="http://schemas.microsoft.com/office/drawing/2014/main" id="{E4D0B36A-D3C8-DEFD-8355-ED2E4CD8707D}"/>
              </a:ext>
            </a:extLst>
          </p:cNvPr>
          <p:cNvSpPr txBox="1"/>
          <p:nvPr/>
        </p:nvSpPr>
        <p:spPr>
          <a:xfrm>
            <a:off x="330750" y="822686"/>
            <a:ext cx="8778875" cy="307777"/>
          </a:xfrm>
          <a:prstGeom prst="rect">
            <a:avLst/>
          </a:prstGeom>
          <a:noFill/>
        </p:spPr>
        <p:txBody>
          <a:bodyPr wrap="square">
            <a:spAutoFit/>
          </a:bodyPr>
          <a:lstStyle/>
          <a:p>
            <a:r>
              <a:rPr lang="en-US" dirty="0"/>
              <a:t>Providing a </a:t>
            </a:r>
            <a:r>
              <a:rPr lang="en-US" b="1" dirty="0"/>
              <a:t>platform with proven solutions </a:t>
            </a:r>
            <a:r>
              <a:rPr lang="en-US" dirty="0"/>
              <a:t>for industry problems delivered through an ecosystem.</a:t>
            </a:r>
          </a:p>
        </p:txBody>
      </p:sp>
    </p:spTree>
    <p:extLst>
      <p:ext uri="{BB962C8B-B14F-4D97-AF65-F5344CB8AC3E}">
        <p14:creationId xmlns:p14="http://schemas.microsoft.com/office/powerpoint/2010/main" val="106919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66785C5F-E065-75E6-AD6F-2D856C61BFEA}"/>
            </a:ext>
          </a:extLst>
        </p:cNvPr>
        <p:cNvGrpSpPr/>
        <p:nvPr/>
      </p:nvGrpSpPr>
      <p:grpSpPr>
        <a:xfrm>
          <a:off x="0" y="0"/>
          <a:ext cx="0" cy="0"/>
          <a:chOff x="0" y="0"/>
          <a:chExt cx="0" cy="0"/>
        </a:xfrm>
      </p:grpSpPr>
      <p:sp>
        <p:nvSpPr>
          <p:cNvPr id="153" name="Google Shape;153;p24">
            <a:extLst>
              <a:ext uri="{FF2B5EF4-FFF2-40B4-BE49-F238E27FC236}">
                <a16:creationId xmlns:a16="http://schemas.microsoft.com/office/drawing/2014/main" id="{82C9408D-B072-3620-AD6D-2AF9EED68CB5}"/>
              </a:ext>
            </a:extLst>
          </p:cNvPr>
          <p:cNvSpPr txBox="1">
            <a:spLocks noGrp="1"/>
          </p:cNvSpPr>
          <p:nvPr>
            <p:ph type="title" idx="4294967295"/>
          </p:nvPr>
        </p:nvSpPr>
        <p:spPr>
          <a:xfrm>
            <a:off x="1416685" y="484873"/>
            <a:ext cx="8286750" cy="493712"/>
          </a:xfrm>
          <a:prstGeom prst="rect">
            <a:avLst/>
          </a:prstGeom>
        </p:spPr>
        <p:txBody>
          <a:bodyPr spcFirstLastPara="1" wrap="square" lIns="0" tIns="0" rIns="91425" bIns="0" anchor="ctr" anchorCtr="0">
            <a:noAutofit/>
          </a:bodyPr>
          <a:lstStyle/>
          <a:p>
            <a:pPr lvl="0"/>
            <a:r>
              <a:rPr lang="en-US" dirty="0"/>
              <a:t>Financial Services (Banking &amp; Insurance)</a:t>
            </a:r>
            <a:endParaRPr dirty="0"/>
          </a:p>
        </p:txBody>
      </p:sp>
      <p:sp>
        <p:nvSpPr>
          <p:cNvPr id="155" name="Google Shape;155;p24">
            <a:extLst>
              <a:ext uri="{FF2B5EF4-FFF2-40B4-BE49-F238E27FC236}">
                <a16:creationId xmlns:a16="http://schemas.microsoft.com/office/drawing/2014/main" id="{A9496A18-629A-D0B5-9EFE-746391F22C63}"/>
              </a:ext>
            </a:extLst>
          </p:cNvPr>
          <p:cNvSpPr txBox="1">
            <a:spLocks noGrp="1"/>
          </p:cNvSpPr>
          <p:nvPr>
            <p:ph type="body" idx="4294967295"/>
          </p:nvPr>
        </p:nvSpPr>
        <p:spPr>
          <a:xfrm>
            <a:off x="365125" y="1458965"/>
            <a:ext cx="4206875" cy="1093788"/>
          </a:xfrm>
          <a:prstGeom prst="rect">
            <a:avLst/>
          </a:prstGeom>
        </p:spPr>
        <p:txBody>
          <a:bodyPr spcFirstLastPara="1" wrap="square" lIns="0" tIns="0" rIns="91425" bIns="0" anchor="ctr" anchorCtr="0">
            <a:noAutofit/>
          </a:bodyPr>
          <a:lstStyle/>
          <a:p>
            <a:pPr marL="114300" indent="0" algn="ctr">
              <a:buNone/>
            </a:pPr>
            <a:r>
              <a:rPr lang="en-US" dirty="0"/>
              <a:t>24% share of the workflow automation market</a:t>
            </a:r>
          </a:p>
        </p:txBody>
      </p:sp>
      <p:sp>
        <p:nvSpPr>
          <p:cNvPr id="7" name="AutoShape 4" descr="Marel Logo PNG Vectors Free Download">
            <a:extLst>
              <a:ext uri="{FF2B5EF4-FFF2-40B4-BE49-F238E27FC236}">
                <a16:creationId xmlns:a16="http://schemas.microsoft.com/office/drawing/2014/main" id="{9F716B81-D25E-198F-6331-2C51112868C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Marel Logo PNG Vectors Free Download">
            <a:extLst>
              <a:ext uri="{FF2B5EF4-FFF2-40B4-BE49-F238E27FC236}">
                <a16:creationId xmlns:a16="http://schemas.microsoft.com/office/drawing/2014/main" id="{9EB108CE-D57F-CB6F-963C-99D1E2DD4463}"/>
              </a:ext>
            </a:extLst>
          </p:cNvPr>
          <p:cNvSpPr>
            <a:spLocks noChangeAspect="1" noChangeArrowheads="1"/>
          </p:cNvSpPr>
          <p:nvPr/>
        </p:nvSpPr>
        <p:spPr bwMode="auto">
          <a:xfrm>
            <a:off x="4572000" y="2571750"/>
            <a:ext cx="3454400" cy="3454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Google Shape;155;p24">
            <a:extLst>
              <a:ext uri="{FF2B5EF4-FFF2-40B4-BE49-F238E27FC236}">
                <a16:creationId xmlns:a16="http://schemas.microsoft.com/office/drawing/2014/main" id="{7DB4CAAC-B6B8-9994-FDA6-5E9C6E0A2130}"/>
              </a:ext>
            </a:extLst>
          </p:cNvPr>
          <p:cNvSpPr txBox="1">
            <a:spLocks/>
          </p:cNvSpPr>
          <p:nvPr/>
        </p:nvSpPr>
        <p:spPr>
          <a:xfrm>
            <a:off x="365124" y="2552753"/>
            <a:ext cx="4206875" cy="1093146"/>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114300" indent="0" algn="ctr">
              <a:buNone/>
            </a:pPr>
            <a:r>
              <a:rPr lang="en-US" dirty="0"/>
              <a:t>Huge potential for operational &amp; IT cost reduction</a:t>
            </a:r>
          </a:p>
        </p:txBody>
      </p:sp>
      <p:sp>
        <p:nvSpPr>
          <p:cNvPr id="11" name="Google Shape;155;p24">
            <a:extLst>
              <a:ext uri="{FF2B5EF4-FFF2-40B4-BE49-F238E27FC236}">
                <a16:creationId xmlns:a16="http://schemas.microsoft.com/office/drawing/2014/main" id="{FBEEEE03-C3EB-8A1A-BE57-A6C61EB19335}"/>
              </a:ext>
            </a:extLst>
          </p:cNvPr>
          <p:cNvSpPr txBox="1">
            <a:spLocks/>
          </p:cNvSpPr>
          <p:nvPr/>
        </p:nvSpPr>
        <p:spPr>
          <a:xfrm>
            <a:off x="365125" y="3565481"/>
            <a:ext cx="4206874" cy="1093146"/>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0" indent="0" algn="ctr">
              <a:spcAft>
                <a:spcPts val="1600"/>
              </a:spcAft>
              <a:buFont typeface="Poppins"/>
              <a:buNone/>
            </a:pPr>
            <a:r>
              <a:rPr lang="en-US" dirty="0"/>
              <a:t>Prime for AI &amp;  orchestration</a:t>
            </a:r>
          </a:p>
        </p:txBody>
      </p:sp>
      <p:pic>
        <p:nvPicPr>
          <p:cNvPr id="1040" name="Picture 16" descr="Generated image">
            <a:extLst>
              <a:ext uri="{FF2B5EF4-FFF2-40B4-BE49-F238E27FC236}">
                <a16:creationId xmlns:a16="http://schemas.microsoft.com/office/drawing/2014/main" id="{15296AE9-F825-6377-053E-948F6C9131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 t="17227" r="78162" b="38576"/>
          <a:stretch>
            <a:fillRect/>
          </a:stretch>
        </p:blipFill>
        <p:spPr bwMode="auto">
          <a:xfrm>
            <a:off x="227965" y="205740"/>
            <a:ext cx="982835" cy="1176158"/>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C31B813C-0FC6-298D-8DF9-A6271F4D4175}"/>
              </a:ext>
            </a:extLst>
          </p:cNvPr>
          <p:cNvGrpSpPr/>
          <p:nvPr/>
        </p:nvGrpSpPr>
        <p:grpSpPr>
          <a:xfrm>
            <a:off x="5591584" y="1653308"/>
            <a:ext cx="2434816" cy="2665058"/>
            <a:chOff x="5591584" y="1653308"/>
            <a:chExt cx="2434816" cy="2665058"/>
          </a:xfrm>
        </p:grpSpPr>
        <p:pic>
          <p:nvPicPr>
            <p:cNvPr id="3074" name="Picture 2" descr="Bread Financial Provides Performance Update for April 2023">
              <a:extLst>
                <a:ext uri="{FF2B5EF4-FFF2-40B4-BE49-F238E27FC236}">
                  <a16:creationId xmlns:a16="http://schemas.microsoft.com/office/drawing/2014/main" id="{2AFC587B-3DB1-3D26-EC09-EBBE790983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584" y="1653308"/>
              <a:ext cx="2434816" cy="121740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United Trust Bank | Warburg Pincus">
              <a:extLst>
                <a:ext uri="{FF2B5EF4-FFF2-40B4-BE49-F238E27FC236}">
                  <a16:creationId xmlns:a16="http://schemas.microsoft.com/office/drawing/2014/main" id="{ABF86ED2-ADF8-C25D-F5E2-0B45CFB93B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3083" y="3133924"/>
              <a:ext cx="1891818" cy="11844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4317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5ADBEDF3-E555-51F1-9E2E-B316AE67C766}"/>
            </a:ext>
          </a:extLst>
        </p:cNvPr>
        <p:cNvGrpSpPr/>
        <p:nvPr/>
      </p:nvGrpSpPr>
      <p:grpSpPr>
        <a:xfrm>
          <a:off x="0" y="0"/>
          <a:ext cx="0" cy="0"/>
          <a:chOff x="0" y="0"/>
          <a:chExt cx="0" cy="0"/>
        </a:xfrm>
      </p:grpSpPr>
      <p:sp>
        <p:nvSpPr>
          <p:cNvPr id="153" name="Google Shape;153;p24">
            <a:extLst>
              <a:ext uri="{FF2B5EF4-FFF2-40B4-BE49-F238E27FC236}">
                <a16:creationId xmlns:a16="http://schemas.microsoft.com/office/drawing/2014/main" id="{2ABD614A-D4BD-7401-FA14-FB84598B3944}"/>
              </a:ext>
            </a:extLst>
          </p:cNvPr>
          <p:cNvSpPr txBox="1">
            <a:spLocks noGrp="1"/>
          </p:cNvSpPr>
          <p:nvPr>
            <p:ph type="title" idx="4294967295"/>
          </p:nvPr>
        </p:nvSpPr>
        <p:spPr>
          <a:xfrm>
            <a:off x="1473835" y="519404"/>
            <a:ext cx="8286750" cy="493712"/>
          </a:xfrm>
          <a:prstGeom prst="rect">
            <a:avLst/>
          </a:prstGeom>
        </p:spPr>
        <p:txBody>
          <a:bodyPr spcFirstLastPara="1" wrap="square" lIns="0" tIns="0" rIns="91425" bIns="0" anchor="ctr" anchorCtr="0">
            <a:noAutofit/>
          </a:bodyPr>
          <a:lstStyle/>
          <a:p>
            <a:pPr marL="114300"/>
            <a:r>
              <a:rPr lang="en-US" dirty="0"/>
              <a:t>Manufacturing &amp; Supply Chain</a:t>
            </a:r>
          </a:p>
        </p:txBody>
      </p:sp>
      <p:sp>
        <p:nvSpPr>
          <p:cNvPr id="155" name="Google Shape;155;p24">
            <a:extLst>
              <a:ext uri="{FF2B5EF4-FFF2-40B4-BE49-F238E27FC236}">
                <a16:creationId xmlns:a16="http://schemas.microsoft.com/office/drawing/2014/main" id="{C5B3EB4E-43CC-06A5-5E70-E629C722A4E7}"/>
              </a:ext>
            </a:extLst>
          </p:cNvPr>
          <p:cNvSpPr txBox="1">
            <a:spLocks noGrp="1"/>
          </p:cNvSpPr>
          <p:nvPr>
            <p:ph type="body" idx="4294967295"/>
          </p:nvPr>
        </p:nvSpPr>
        <p:spPr>
          <a:xfrm>
            <a:off x="365125" y="1826747"/>
            <a:ext cx="4206875" cy="493712"/>
          </a:xfrm>
          <a:prstGeom prst="rect">
            <a:avLst/>
          </a:prstGeom>
        </p:spPr>
        <p:txBody>
          <a:bodyPr spcFirstLastPara="1" wrap="square" lIns="0" tIns="0" rIns="91425" bIns="0" anchor="ctr" anchorCtr="0">
            <a:noAutofit/>
          </a:bodyPr>
          <a:lstStyle/>
          <a:p>
            <a:pPr marL="114300" indent="0" algn="ctr">
              <a:buNone/>
            </a:pPr>
            <a:r>
              <a:rPr lang="en-US" dirty="0"/>
              <a:t>Huge budgeted IT spend for industry digital transformation</a:t>
            </a:r>
          </a:p>
        </p:txBody>
      </p:sp>
      <p:sp>
        <p:nvSpPr>
          <p:cNvPr id="7" name="AutoShape 4" descr="Marel Logo PNG Vectors Free Download">
            <a:extLst>
              <a:ext uri="{FF2B5EF4-FFF2-40B4-BE49-F238E27FC236}">
                <a16:creationId xmlns:a16="http://schemas.microsoft.com/office/drawing/2014/main" id="{004C0970-8F18-D4C4-E89E-9588EA31F93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Marel Logo PNG Vectors Free Download">
            <a:extLst>
              <a:ext uri="{FF2B5EF4-FFF2-40B4-BE49-F238E27FC236}">
                <a16:creationId xmlns:a16="http://schemas.microsoft.com/office/drawing/2014/main" id="{26F457B4-DE43-9412-6318-78D864D558F0}"/>
              </a:ext>
            </a:extLst>
          </p:cNvPr>
          <p:cNvSpPr>
            <a:spLocks noChangeAspect="1" noChangeArrowheads="1"/>
          </p:cNvSpPr>
          <p:nvPr/>
        </p:nvSpPr>
        <p:spPr bwMode="auto">
          <a:xfrm>
            <a:off x="4572000" y="2571750"/>
            <a:ext cx="3454400" cy="3454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Google Shape;155;p24">
            <a:extLst>
              <a:ext uri="{FF2B5EF4-FFF2-40B4-BE49-F238E27FC236}">
                <a16:creationId xmlns:a16="http://schemas.microsoft.com/office/drawing/2014/main" id="{ED4668F7-8F0A-2D65-CD63-0C7909B6E093}"/>
              </a:ext>
            </a:extLst>
          </p:cNvPr>
          <p:cNvSpPr txBox="1">
            <a:spLocks/>
          </p:cNvSpPr>
          <p:nvPr/>
        </p:nvSpPr>
        <p:spPr>
          <a:xfrm>
            <a:off x="365125" y="2575674"/>
            <a:ext cx="4206875" cy="930523"/>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114300" indent="0" algn="ctr">
              <a:buNone/>
            </a:pPr>
            <a:r>
              <a:rPr lang="en-US" dirty="0"/>
              <a:t>Legacy systems, that are siloed and need integration</a:t>
            </a:r>
          </a:p>
        </p:txBody>
      </p:sp>
      <p:sp>
        <p:nvSpPr>
          <p:cNvPr id="11" name="Google Shape;155;p24">
            <a:extLst>
              <a:ext uri="{FF2B5EF4-FFF2-40B4-BE49-F238E27FC236}">
                <a16:creationId xmlns:a16="http://schemas.microsoft.com/office/drawing/2014/main" id="{4331A64A-0777-DB58-A441-2166855C3D3F}"/>
              </a:ext>
            </a:extLst>
          </p:cNvPr>
          <p:cNvSpPr txBox="1">
            <a:spLocks/>
          </p:cNvSpPr>
          <p:nvPr/>
        </p:nvSpPr>
        <p:spPr>
          <a:xfrm>
            <a:off x="365125" y="3658597"/>
            <a:ext cx="4206875" cy="624188"/>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0" indent="0" algn="ctr">
              <a:spcAft>
                <a:spcPts val="1600"/>
              </a:spcAft>
              <a:buNone/>
            </a:pPr>
            <a:r>
              <a:rPr lang="en-US" dirty="0"/>
              <a:t>Massive manual data handling across MES, ERP &amp; procurement.</a:t>
            </a:r>
          </a:p>
        </p:txBody>
      </p:sp>
      <p:grpSp>
        <p:nvGrpSpPr>
          <p:cNvPr id="6" name="Group 5">
            <a:extLst>
              <a:ext uri="{FF2B5EF4-FFF2-40B4-BE49-F238E27FC236}">
                <a16:creationId xmlns:a16="http://schemas.microsoft.com/office/drawing/2014/main" id="{E956C57D-172E-6DE3-FECA-9956594BBD55}"/>
              </a:ext>
            </a:extLst>
          </p:cNvPr>
          <p:cNvGrpSpPr/>
          <p:nvPr/>
        </p:nvGrpSpPr>
        <p:grpSpPr>
          <a:xfrm>
            <a:off x="5617210" y="1819642"/>
            <a:ext cx="2538413" cy="1987518"/>
            <a:chOff x="5617210" y="1819642"/>
            <a:chExt cx="2538413" cy="1987518"/>
          </a:xfrm>
        </p:grpSpPr>
        <p:pic>
          <p:nvPicPr>
            <p:cNvPr id="3" name="Picture 10" descr="Marel Logo - FPSA">
              <a:extLst>
                <a:ext uri="{FF2B5EF4-FFF2-40B4-BE49-F238E27FC236}">
                  <a16:creationId xmlns:a16="http://schemas.microsoft.com/office/drawing/2014/main" id="{62603D14-DC52-9699-70D4-542918B0F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7382" y="1819642"/>
              <a:ext cx="2068945" cy="64835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2" descr="Payless ShoeSource - Tutu Park Mall">
              <a:extLst>
                <a:ext uri="{FF2B5EF4-FFF2-40B4-BE49-F238E27FC236}">
                  <a16:creationId xmlns:a16="http://schemas.microsoft.com/office/drawing/2014/main" id="{EB3AF884-8620-7952-45EF-F89FDBD4BB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2839" b="33333"/>
            <a:stretch>
              <a:fillRect/>
            </a:stretch>
          </p:blipFill>
          <p:spPr bwMode="auto">
            <a:xfrm>
              <a:off x="5617210" y="3205234"/>
              <a:ext cx="2538413" cy="601926"/>
            </a:xfrm>
            <a:prstGeom prst="rect">
              <a:avLst/>
            </a:prstGeom>
            <a:noFill/>
            <a:extLst>
              <a:ext uri="{909E8E84-426E-40DD-AFC4-6F175D3DCCD1}">
                <a14:hiddenFill xmlns:a14="http://schemas.microsoft.com/office/drawing/2010/main">
                  <a:solidFill>
                    <a:srgbClr val="FFFFFF"/>
                  </a:solidFill>
                </a14:hiddenFill>
              </a:ext>
            </a:extLst>
          </p:spPr>
        </p:pic>
      </p:grpSp>
      <p:pic>
        <p:nvPicPr>
          <p:cNvPr id="3076" name="Picture 4" descr="Generated image">
            <a:extLst>
              <a:ext uri="{FF2B5EF4-FFF2-40B4-BE49-F238E27FC236}">
                <a16:creationId xmlns:a16="http://schemas.microsoft.com/office/drawing/2014/main" id="{2654E736-D707-2FC4-8D14-E3F02F2E93B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407" t="18906" r="38960" b="36687"/>
          <a:stretch>
            <a:fillRect/>
          </a:stretch>
        </p:blipFill>
        <p:spPr bwMode="auto">
          <a:xfrm>
            <a:off x="133516" y="201140"/>
            <a:ext cx="1168023" cy="1093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37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C8516339-A077-0068-2499-23BC3B1BB281}"/>
            </a:ext>
          </a:extLst>
        </p:cNvPr>
        <p:cNvGrpSpPr/>
        <p:nvPr/>
      </p:nvGrpSpPr>
      <p:grpSpPr>
        <a:xfrm>
          <a:off x="0" y="0"/>
          <a:ext cx="0" cy="0"/>
          <a:chOff x="0" y="0"/>
          <a:chExt cx="0" cy="0"/>
        </a:xfrm>
      </p:grpSpPr>
      <p:sp>
        <p:nvSpPr>
          <p:cNvPr id="153" name="Google Shape;153;p24">
            <a:extLst>
              <a:ext uri="{FF2B5EF4-FFF2-40B4-BE49-F238E27FC236}">
                <a16:creationId xmlns:a16="http://schemas.microsoft.com/office/drawing/2014/main" id="{88BCB6A7-3BE8-AD0F-A453-6D34C0CFED1D}"/>
              </a:ext>
            </a:extLst>
          </p:cNvPr>
          <p:cNvSpPr txBox="1">
            <a:spLocks noGrp="1"/>
          </p:cNvSpPr>
          <p:nvPr>
            <p:ph type="title" idx="4294967295"/>
          </p:nvPr>
        </p:nvSpPr>
        <p:spPr>
          <a:xfrm>
            <a:off x="1416685" y="540192"/>
            <a:ext cx="8286750" cy="493712"/>
          </a:xfrm>
          <a:prstGeom prst="rect">
            <a:avLst/>
          </a:prstGeom>
        </p:spPr>
        <p:txBody>
          <a:bodyPr spcFirstLastPara="1" wrap="square" lIns="0" tIns="0" rIns="91425" bIns="0" anchor="ctr" anchorCtr="0">
            <a:noAutofit/>
          </a:bodyPr>
          <a:lstStyle/>
          <a:p>
            <a:pPr>
              <a:spcAft>
                <a:spcPts val="1600"/>
              </a:spcAft>
            </a:pPr>
            <a:r>
              <a:rPr lang="en-US" dirty="0"/>
              <a:t>Healthcare &amp; Life Sciences</a:t>
            </a:r>
          </a:p>
        </p:txBody>
      </p:sp>
      <p:sp>
        <p:nvSpPr>
          <p:cNvPr id="155" name="Google Shape;155;p24">
            <a:extLst>
              <a:ext uri="{FF2B5EF4-FFF2-40B4-BE49-F238E27FC236}">
                <a16:creationId xmlns:a16="http://schemas.microsoft.com/office/drawing/2014/main" id="{27B06BF6-675F-5135-FEFB-1EA482BCDBE7}"/>
              </a:ext>
            </a:extLst>
          </p:cNvPr>
          <p:cNvSpPr txBox="1">
            <a:spLocks noGrp="1"/>
          </p:cNvSpPr>
          <p:nvPr>
            <p:ph type="body" idx="4294967295"/>
          </p:nvPr>
        </p:nvSpPr>
        <p:spPr>
          <a:xfrm>
            <a:off x="562039" y="1327050"/>
            <a:ext cx="3700463" cy="1093788"/>
          </a:xfrm>
          <a:prstGeom prst="rect">
            <a:avLst/>
          </a:prstGeom>
        </p:spPr>
        <p:txBody>
          <a:bodyPr spcFirstLastPara="1" wrap="square" lIns="0" tIns="0" rIns="91425" bIns="0" anchor="ctr" anchorCtr="0">
            <a:noAutofit/>
          </a:bodyPr>
          <a:lstStyle/>
          <a:p>
            <a:pPr marL="114300" indent="0" algn="ctr">
              <a:buNone/>
            </a:pPr>
            <a:r>
              <a:rPr lang="en-US" dirty="0"/>
              <a:t>Automation growth  estimated at ~11% CAGR </a:t>
            </a:r>
          </a:p>
        </p:txBody>
      </p:sp>
      <p:sp>
        <p:nvSpPr>
          <p:cNvPr id="7" name="AutoShape 4" descr="Marel Logo PNG Vectors Free Download">
            <a:extLst>
              <a:ext uri="{FF2B5EF4-FFF2-40B4-BE49-F238E27FC236}">
                <a16:creationId xmlns:a16="http://schemas.microsoft.com/office/drawing/2014/main" id="{7CD6B5DA-87FF-B0AE-9306-D81B5755301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Marel Logo PNG Vectors Free Download">
            <a:extLst>
              <a:ext uri="{FF2B5EF4-FFF2-40B4-BE49-F238E27FC236}">
                <a16:creationId xmlns:a16="http://schemas.microsoft.com/office/drawing/2014/main" id="{64EDC721-B1D3-CA4B-87A2-51541DCD2CFC}"/>
              </a:ext>
            </a:extLst>
          </p:cNvPr>
          <p:cNvSpPr>
            <a:spLocks noChangeAspect="1" noChangeArrowheads="1"/>
          </p:cNvSpPr>
          <p:nvPr/>
        </p:nvSpPr>
        <p:spPr bwMode="auto">
          <a:xfrm>
            <a:off x="4572000" y="2571750"/>
            <a:ext cx="3454400" cy="3454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Google Shape;155;p24">
            <a:extLst>
              <a:ext uri="{FF2B5EF4-FFF2-40B4-BE49-F238E27FC236}">
                <a16:creationId xmlns:a16="http://schemas.microsoft.com/office/drawing/2014/main" id="{8BD94A1B-6D9E-C169-D43C-29A8391DFFBA}"/>
              </a:ext>
            </a:extLst>
          </p:cNvPr>
          <p:cNvSpPr txBox="1">
            <a:spLocks/>
          </p:cNvSpPr>
          <p:nvPr/>
        </p:nvSpPr>
        <p:spPr>
          <a:xfrm>
            <a:off x="555697" y="2419350"/>
            <a:ext cx="3557140" cy="1093146"/>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114300" indent="0" algn="ctr">
              <a:buNone/>
            </a:pPr>
            <a:r>
              <a:rPr lang="en-US" dirty="0"/>
              <a:t>Unify siloed data from fractured systems</a:t>
            </a:r>
          </a:p>
        </p:txBody>
      </p:sp>
      <p:sp>
        <p:nvSpPr>
          <p:cNvPr id="11" name="Google Shape;155;p24">
            <a:extLst>
              <a:ext uri="{FF2B5EF4-FFF2-40B4-BE49-F238E27FC236}">
                <a16:creationId xmlns:a16="http://schemas.microsoft.com/office/drawing/2014/main" id="{6428B1DA-A581-14E6-B675-06EDA06A3687}"/>
              </a:ext>
            </a:extLst>
          </p:cNvPr>
          <p:cNvSpPr txBox="1">
            <a:spLocks/>
          </p:cNvSpPr>
          <p:nvPr/>
        </p:nvSpPr>
        <p:spPr>
          <a:xfrm>
            <a:off x="818022" y="3510162"/>
            <a:ext cx="3301157" cy="1093146"/>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pPr marL="0" indent="0" algn="ctr">
              <a:spcAft>
                <a:spcPts val="1600"/>
              </a:spcAft>
              <a:buFont typeface="Poppins"/>
              <a:buNone/>
            </a:pPr>
            <a:r>
              <a:rPr lang="en-US" dirty="0"/>
              <a:t>Low code solutions needed due to lack of IT</a:t>
            </a:r>
          </a:p>
        </p:txBody>
      </p:sp>
      <p:pic>
        <p:nvPicPr>
          <p:cNvPr id="2050" name="Picture 2" descr="Generated image">
            <a:extLst>
              <a:ext uri="{FF2B5EF4-FFF2-40B4-BE49-F238E27FC236}">
                <a16:creationId xmlns:a16="http://schemas.microsoft.com/office/drawing/2014/main" id="{45372B00-C019-2E4E-482D-3654BB2038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370" t="14537" r="5227" b="36889"/>
          <a:stretch>
            <a:fillRect/>
          </a:stretch>
        </p:blipFill>
        <p:spPr bwMode="auto">
          <a:xfrm>
            <a:off x="205739" y="140699"/>
            <a:ext cx="1026929" cy="109378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368EE715-9875-9CDF-445F-357E1B1E61F9}"/>
              </a:ext>
            </a:extLst>
          </p:cNvPr>
          <p:cNvGrpSpPr/>
          <p:nvPr/>
        </p:nvGrpSpPr>
        <p:grpSpPr>
          <a:xfrm>
            <a:off x="5226470" y="1354114"/>
            <a:ext cx="2609592" cy="2755482"/>
            <a:chOff x="5226470" y="1354114"/>
            <a:chExt cx="2609592" cy="2755482"/>
          </a:xfrm>
        </p:grpSpPr>
        <p:pic>
          <p:nvPicPr>
            <p:cNvPr id="2052" name="Picture 4" descr="Vituity Careers | Job opportunities at Vituity">
              <a:extLst>
                <a:ext uri="{FF2B5EF4-FFF2-40B4-BE49-F238E27FC236}">
                  <a16:creationId xmlns:a16="http://schemas.microsoft.com/office/drawing/2014/main" id="{AF102513-DE56-ED5F-435B-B72D0706F7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6470" y="1354114"/>
              <a:ext cx="2609592" cy="13700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ntellectual Disability and Autism Services | Chrysalis">
              <a:extLst>
                <a:ext uri="{FF2B5EF4-FFF2-40B4-BE49-F238E27FC236}">
                  <a16:creationId xmlns:a16="http://schemas.microsoft.com/office/drawing/2014/main" id="{BBFAC6A6-379B-1B77-C95B-0BA08B2D56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0429" y="3138827"/>
              <a:ext cx="2245633" cy="97076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246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4499A69-0402-C178-E41F-68F3B4F7493C}"/>
            </a:ext>
          </a:extLst>
        </p:cNvPr>
        <p:cNvGrpSpPr/>
        <p:nvPr/>
      </p:nvGrpSpPr>
      <p:grpSpPr>
        <a:xfrm>
          <a:off x="0" y="0"/>
          <a:ext cx="0" cy="0"/>
          <a:chOff x="0" y="0"/>
          <a:chExt cx="0" cy="0"/>
        </a:xfrm>
      </p:grpSpPr>
      <p:sp>
        <p:nvSpPr>
          <p:cNvPr id="110" name="Google Shape;110;p19">
            <a:extLst>
              <a:ext uri="{FF2B5EF4-FFF2-40B4-BE49-F238E27FC236}">
                <a16:creationId xmlns:a16="http://schemas.microsoft.com/office/drawing/2014/main" id="{B1EBD087-9002-C649-6E71-B72FAE32CB82}"/>
              </a:ext>
            </a:extLst>
          </p:cNvPr>
          <p:cNvSpPr txBox="1"/>
          <p:nvPr/>
        </p:nvSpPr>
        <p:spPr>
          <a:xfrm>
            <a:off x="364800" y="2934075"/>
            <a:ext cx="5373000" cy="2317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5000" b="0" i="0" u="none" strike="noStrike" kern="0" cap="none" spc="0" normalizeH="0" baseline="0" noProof="0" dirty="0">
              <a:ln>
                <a:noFill/>
              </a:ln>
              <a:solidFill>
                <a:srgbClr val="000000"/>
              </a:solidFill>
              <a:effectLst/>
              <a:uLnTx/>
              <a:uFillTx/>
              <a:latin typeface="Poppins"/>
              <a:ea typeface="Poppins"/>
              <a:cs typeface="Poppins"/>
              <a:sym typeface="Poppins"/>
            </a:endParaRPr>
          </a:p>
        </p:txBody>
      </p:sp>
      <p:sp>
        <p:nvSpPr>
          <p:cNvPr id="2" name="Title 1">
            <a:extLst>
              <a:ext uri="{FF2B5EF4-FFF2-40B4-BE49-F238E27FC236}">
                <a16:creationId xmlns:a16="http://schemas.microsoft.com/office/drawing/2014/main" id="{32403085-886B-5C8E-DCD9-B816C67379D5}"/>
              </a:ext>
            </a:extLst>
          </p:cNvPr>
          <p:cNvSpPr>
            <a:spLocks noGrp="1"/>
          </p:cNvSpPr>
          <p:nvPr>
            <p:ph type="title"/>
          </p:nvPr>
        </p:nvSpPr>
        <p:spPr>
          <a:xfrm>
            <a:off x="316250" y="3082775"/>
            <a:ext cx="7600834" cy="1730700"/>
          </a:xfrm>
        </p:spPr>
        <p:txBody>
          <a:bodyPr/>
          <a:lstStyle/>
          <a:p>
            <a:r>
              <a:rPr lang="en-US" dirty="0">
                <a:solidFill>
                  <a:srgbClr val="000000"/>
                </a:solidFill>
              </a:rPr>
              <a:t>Industry development framework</a:t>
            </a:r>
            <a:endParaRPr lang="en-US" dirty="0"/>
          </a:p>
        </p:txBody>
      </p:sp>
      <p:sp>
        <p:nvSpPr>
          <p:cNvPr id="3" name="Subtitle 2">
            <a:extLst>
              <a:ext uri="{FF2B5EF4-FFF2-40B4-BE49-F238E27FC236}">
                <a16:creationId xmlns:a16="http://schemas.microsoft.com/office/drawing/2014/main" id="{37653AA4-D112-127F-D02C-5050CDB3996E}"/>
              </a:ext>
            </a:extLst>
          </p:cNvPr>
          <p:cNvSpPr>
            <a:spLocks noGrp="1"/>
          </p:cNvSpPr>
          <p:nvPr>
            <p:ph type="subTitle" idx="1"/>
          </p:nvPr>
        </p:nvSpPr>
        <p:spPr/>
        <p:txBody>
          <a:bodyPr/>
          <a:lstStyle/>
          <a:p>
            <a:r>
              <a:rPr lang="en-US" dirty="0"/>
              <a:t>02</a:t>
            </a:r>
          </a:p>
        </p:txBody>
      </p:sp>
    </p:spTree>
    <p:extLst>
      <p:ext uri="{BB962C8B-B14F-4D97-AF65-F5344CB8AC3E}">
        <p14:creationId xmlns:p14="http://schemas.microsoft.com/office/powerpoint/2010/main" val="2064879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a:spLocks noGrp="1"/>
          </p:cNvSpPr>
          <p:nvPr>
            <p:ph type="title" idx="4294967295"/>
          </p:nvPr>
        </p:nvSpPr>
        <p:spPr>
          <a:xfrm>
            <a:off x="372045" y="402577"/>
            <a:ext cx="8053072" cy="478635"/>
          </a:xfrm>
          <a:prstGeom prst="rect">
            <a:avLst/>
          </a:prstGeom>
        </p:spPr>
        <p:txBody>
          <a:bodyPr spcFirstLastPara="1" wrap="square" lIns="0" tIns="0" rIns="91425" bIns="0" anchor="ctr" anchorCtr="0">
            <a:noAutofit/>
          </a:bodyPr>
          <a:lstStyle/>
          <a:p>
            <a:pPr marL="0" lvl="0" indent="0" algn="l" rtl="0">
              <a:spcBef>
                <a:spcPts val="0"/>
              </a:spcBef>
              <a:spcAft>
                <a:spcPts val="0"/>
              </a:spcAft>
              <a:buNone/>
            </a:pPr>
            <a:r>
              <a:rPr lang="en-US" dirty="0"/>
              <a:t>Framework for industry development</a:t>
            </a:r>
            <a:endParaRPr dirty="0"/>
          </a:p>
        </p:txBody>
      </p:sp>
      <p:cxnSp>
        <p:nvCxnSpPr>
          <p:cNvPr id="3" name="Straight Connector 2">
            <a:extLst>
              <a:ext uri="{FF2B5EF4-FFF2-40B4-BE49-F238E27FC236}">
                <a16:creationId xmlns:a16="http://schemas.microsoft.com/office/drawing/2014/main" id="{EDF20F6C-8BFA-0A1B-282B-604686985F65}"/>
              </a:ext>
            </a:extLst>
          </p:cNvPr>
          <p:cNvCxnSpPr/>
          <p:nvPr/>
        </p:nvCxnSpPr>
        <p:spPr>
          <a:xfrm>
            <a:off x="365125" y="4029053"/>
            <a:ext cx="8286506" cy="0"/>
          </a:xfrm>
          <a:prstGeom prst="line">
            <a:avLst/>
          </a:prstGeom>
          <a:ln w="19050">
            <a:tailEnd type="triangle" w="lg" len="lg"/>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10408468-281B-9AE9-71EB-B437D83157CE}"/>
              </a:ext>
            </a:extLst>
          </p:cNvPr>
          <p:cNvSpPr txBox="1"/>
          <p:nvPr/>
        </p:nvSpPr>
        <p:spPr>
          <a:xfrm>
            <a:off x="609111" y="1604900"/>
            <a:ext cx="1826342"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Develop Strong POV &amp; vision</a:t>
            </a:r>
          </a:p>
          <a:p>
            <a:pPr marL="285750" indent="-285750">
              <a:buFont typeface="Arial" panose="020B0604020202020204" pitchFamily="34" charset="0"/>
              <a:buChar char="•"/>
            </a:pPr>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Current domain use cases that can be applicable to industry for ROI today</a:t>
            </a:r>
          </a:p>
        </p:txBody>
      </p:sp>
      <p:sp>
        <p:nvSpPr>
          <p:cNvPr id="5" name="TextBox 4">
            <a:extLst>
              <a:ext uri="{FF2B5EF4-FFF2-40B4-BE49-F238E27FC236}">
                <a16:creationId xmlns:a16="http://schemas.microsoft.com/office/drawing/2014/main" id="{F739DF85-2627-262B-DEE2-263C18607B07}"/>
              </a:ext>
            </a:extLst>
          </p:cNvPr>
          <p:cNvSpPr txBox="1"/>
          <p:nvPr/>
        </p:nvSpPr>
        <p:spPr>
          <a:xfrm>
            <a:off x="228282" y="4111823"/>
            <a:ext cx="273685" cy="307777"/>
          </a:xfrm>
          <a:prstGeom prst="rect">
            <a:avLst/>
          </a:prstGeom>
          <a:noFill/>
        </p:spPr>
        <p:txBody>
          <a:bodyPr wrap="square" rtlCol="0">
            <a:spAutoFit/>
          </a:bodyPr>
          <a:lstStyle/>
          <a:p>
            <a:r>
              <a:rPr lang="en-US" dirty="0">
                <a:latin typeface="Poppins" panose="00000500000000000000" pitchFamily="2" charset="0"/>
                <a:cs typeface="Poppins" panose="00000500000000000000" pitchFamily="2" charset="0"/>
              </a:rPr>
              <a:t>0</a:t>
            </a:r>
          </a:p>
        </p:txBody>
      </p:sp>
      <p:sp>
        <p:nvSpPr>
          <p:cNvPr id="6" name="TextBox 5">
            <a:extLst>
              <a:ext uri="{FF2B5EF4-FFF2-40B4-BE49-F238E27FC236}">
                <a16:creationId xmlns:a16="http://schemas.microsoft.com/office/drawing/2014/main" id="{C811996B-2D19-3B16-09B2-B77D1F3D3512}"/>
              </a:ext>
            </a:extLst>
          </p:cNvPr>
          <p:cNvSpPr txBox="1"/>
          <p:nvPr/>
        </p:nvSpPr>
        <p:spPr>
          <a:xfrm>
            <a:off x="2899023" y="4111823"/>
            <a:ext cx="273685" cy="307777"/>
          </a:xfrm>
          <a:prstGeom prst="rect">
            <a:avLst/>
          </a:prstGeom>
          <a:noFill/>
        </p:spPr>
        <p:txBody>
          <a:bodyPr wrap="square" rtlCol="0">
            <a:spAutoFit/>
          </a:bodyPr>
          <a:lstStyle/>
          <a:p>
            <a:r>
              <a:rPr lang="en-US" dirty="0">
                <a:latin typeface="Poppins" panose="00000500000000000000" pitchFamily="2" charset="0"/>
                <a:cs typeface="Poppins" panose="00000500000000000000" pitchFamily="2" charset="0"/>
              </a:rPr>
              <a:t>6</a:t>
            </a:r>
          </a:p>
        </p:txBody>
      </p:sp>
      <p:sp>
        <p:nvSpPr>
          <p:cNvPr id="7" name="TextBox 6">
            <a:extLst>
              <a:ext uri="{FF2B5EF4-FFF2-40B4-BE49-F238E27FC236}">
                <a16:creationId xmlns:a16="http://schemas.microsoft.com/office/drawing/2014/main" id="{C24784D7-9B90-156F-1C9E-DD42D24DFBA8}"/>
              </a:ext>
            </a:extLst>
          </p:cNvPr>
          <p:cNvSpPr txBox="1"/>
          <p:nvPr/>
        </p:nvSpPr>
        <p:spPr>
          <a:xfrm>
            <a:off x="8377646" y="4070438"/>
            <a:ext cx="410827" cy="307777"/>
          </a:xfrm>
          <a:prstGeom prst="rect">
            <a:avLst/>
          </a:prstGeom>
          <a:noFill/>
        </p:spPr>
        <p:txBody>
          <a:bodyPr wrap="square" rtlCol="0">
            <a:spAutoFit/>
          </a:bodyPr>
          <a:lstStyle/>
          <a:p>
            <a:r>
              <a:rPr lang="en-US" dirty="0">
                <a:latin typeface="Poppins" panose="00000500000000000000" pitchFamily="2" charset="0"/>
                <a:cs typeface="Poppins" panose="00000500000000000000" pitchFamily="2" charset="0"/>
              </a:rPr>
              <a:t>18</a:t>
            </a:r>
          </a:p>
        </p:txBody>
      </p:sp>
      <p:sp>
        <p:nvSpPr>
          <p:cNvPr id="8" name="TextBox 7">
            <a:extLst>
              <a:ext uri="{FF2B5EF4-FFF2-40B4-BE49-F238E27FC236}">
                <a16:creationId xmlns:a16="http://schemas.microsoft.com/office/drawing/2014/main" id="{C9CEC65D-AA7A-B274-010F-6D2FEEFB6EEE}"/>
              </a:ext>
            </a:extLst>
          </p:cNvPr>
          <p:cNvSpPr txBox="1"/>
          <p:nvPr/>
        </p:nvSpPr>
        <p:spPr>
          <a:xfrm>
            <a:off x="5569764" y="4111822"/>
            <a:ext cx="410827" cy="307777"/>
          </a:xfrm>
          <a:prstGeom prst="rect">
            <a:avLst/>
          </a:prstGeom>
          <a:noFill/>
        </p:spPr>
        <p:txBody>
          <a:bodyPr wrap="square" rtlCol="0">
            <a:spAutoFit/>
          </a:bodyPr>
          <a:lstStyle/>
          <a:p>
            <a:r>
              <a:rPr lang="en-US" dirty="0">
                <a:latin typeface="Poppins" panose="00000500000000000000" pitchFamily="2" charset="0"/>
                <a:cs typeface="Poppins" panose="00000500000000000000" pitchFamily="2" charset="0"/>
              </a:rPr>
              <a:t>12</a:t>
            </a:r>
          </a:p>
        </p:txBody>
      </p:sp>
      <p:cxnSp>
        <p:nvCxnSpPr>
          <p:cNvPr id="10" name="Straight Connector 9">
            <a:extLst>
              <a:ext uri="{FF2B5EF4-FFF2-40B4-BE49-F238E27FC236}">
                <a16:creationId xmlns:a16="http://schemas.microsoft.com/office/drawing/2014/main" id="{9523F26D-C8B6-8021-8E03-C576DD23A96D}"/>
              </a:ext>
            </a:extLst>
          </p:cNvPr>
          <p:cNvCxnSpPr/>
          <p:nvPr/>
        </p:nvCxnSpPr>
        <p:spPr>
          <a:xfrm flipV="1">
            <a:off x="3035865" y="1158240"/>
            <a:ext cx="0" cy="2795451"/>
          </a:xfrm>
          <a:prstGeom prst="line">
            <a:avLst/>
          </a:prstGeom>
          <a:ln>
            <a:solidFill>
              <a:srgbClr val="67EADD"/>
            </a:solidFill>
          </a:ln>
        </p:spPr>
        <p:style>
          <a:lnRef idx="1">
            <a:schemeClr val="accent5"/>
          </a:lnRef>
          <a:fillRef idx="0">
            <a:schemeClr val="accent5"/>
          </a:fillRef>
          <a:effectRef idx="0">
            <a:schemeClr val="accent5"/>
          </a:effectRef>
          <a:fontRef idx="minor">
            <a:schemeClr val="tx1"/>
          </a:fontRef>
        </p:style>
      </p:cxnSp>
      <p:cxnSp>
        <p:nvCxnSpPr>
          <p:cNvPr id="11" name="Straight Connector 10">
            <a:extLst>
              <a:ext uri="{FF2B5EF4-FFF2-40B4-BE49-F238E27FC236}">
                <a16:creationId xmlns:a16="http://schemas.microsoft.com/office/drawing/2014/main" id="{202D0CCC-6BA5-60CA-4741-B622CAE3784D}"/>
              </a:ext>
            </a:extLst>
          </p:cNvPr>
          <p:cNvCxnSpPr/>
          <p:nvPr/>
        </p:nvCxnSpPr>
        <p:spPr>
          <a:xfrm flipV="1">
            <a:off x="5775177" y="1148356"/>
            <a:ext cx="0" cy="2795451"/>
          </a:xfrm>
          <a:prstGeom prst="line">
            <a:avLst/>
          </a:prstGeom>
          <a:ln>
            <a:solidFill>
              <a:srgbClr val="67EADD"/>
            </a:solidFill>
          </a:ln>
        </p:spPr>
        <p:style>
          <a:lnRef idx="1">
            <a:schemeClr val="accent5"/>
          </a:lnRef>
          <a:fillRef idx="0">
            <a:schemeClr val="accent5"/>
          </a:fillRef>
          <a:effectRef idx="0">
            <a:schemeClr val="accent5"/>
          </a:effectRef>
          <a:fontRef idx="minor">
            <a:schemeClr val="tx1"/>
          </a:fontRef>
        </p:style>
      </p:cxnSp>
      <p:grpSp>
        <p:nvGrpSpPr>
          <p:cNvPr id="30" name="Group 29">
            <a:extLst>
              <a:ext uri="{FF2B5EF4-FFF2-40B4-BE49-F238E27FC236}">
                <a16:creationId xmlns:a16="http://schemas.microsoft.com/office/drawing/2014/main" id="{A0ECD106-B80B-8166-4615-B59ED7E94299}"/>
              </a:ext>
            </a:extLst>
          </p:cNvPr>
          <p:cNvGrpSpPr/>
          <p:nvPr/>
        </p:nvGrpSpPr>
        <p:grpSpPr>
          <a:xfrm>
            <a:off x="8425117" y="610890"/>
            <a:ext cx="487374" cy="3376779"/>
            <a:chOff x="8425117" y="610890"/>
            <a:chExt cx="487374" cy="3376779"/>
          </a:xfrm>
        </p:grpSpPr>
        <p:cxnSp>
          <p:nvCxnSpPr>
            <p:cNvPr id="15" name="Straight Arrow Connector 14">
              <a:extLst>
                <a:ext uri="{FF2B5EF4-FFF2-40B4-BE49-F238E27FC236}">
                  <a16:creationId xmlns:a16="http://schemas.microsoft.com/office/drawing/2014/main" id="{5E56D247-83FF-F48A-4784-FA15090CA125}"/>
                </a:ext>
              </a:extLst>
            </p:cNvPr>
            <p:cNvCxnSpPr>
              <a:cxnSpLocks/>
              <a:endCxn id="153" idx="3"/>
            </p:cNvCxnSpPr>
            <p:nvPr/>
          </p:nvCxnSpPr>
          <p:spPr>
            <a:xfrm flipH="1" flipV="1">
              <a:off x="8425117" y="641895"/>
              <a:ext cx="8224" cy="3311796"/>
            </a:xfrm>
            <a:prstGeom prst="straightConnector1">
              <a:avLst/>
            </a:prstGeom>
            <a:ln w="66675">
              <a:solidFill>
                <a:srgbClr val="67EADD"/>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D9F219A-967B-EBCE-16B5-6DD4B4CE5597}"/>
                </a:ext>
              </a:extLst>
            </p:cNvPr>
            <p:cNvSpPr txBox="1"/>
            <p:nvPr/>
          </p:nvSpPr>
          <p:spPr>
            <a:xfrm rot="16200000">
              <a:off x="7070213" y="2145391"/>
              <a:ext cx="3376779" cy="307777"/>
            </a:xfrm>
            <a:prstGeom prst="rect">
              <a:avLst/>
            </a:prstGeom>
            <a:noFill/>
          </p:spPr>
          <p:txBody>
            <a:bodyPr wrap="square" rtlCol="0">
              <a:spAutoFit/>
            </a:bodyPr>
            <a:lstStyle/>
            <a:p>
              <a:r>
                <a:rPr lang="en-US" dirty="0">
                  <a:latin typeface="Poppins" panose="00000500000000000000" pitchFamily="2" charset="0"/>
                  <a:cs typeface="Poppins" panose="00000500000000000000" pitchFamily="2" charset="0"/>
                </a:rPr>
                <a:t>GTM Knowledge / use case depth</a:t>
              </a:r>
            </a:p>
          </p:txBody>
        </p:sp>
      </p:grpSp>
      <p:grpSp>
        <p:nvGrpSpPr>
          <p:cNvPr id="28" name="Group 27">
            <a:extLst>
              <a:ext uri="{FF2B5EF4-FFF2-40B4-BE49-F238E27FC236}">
                <a16:creationId xmlns:a16="http://schemas.microsoft.com/office/drawing/2014/main" id="{4144FD05-6001-5EFD-4E3D-68A261D44774}"/>
              </a:ext>
            </a:extLst>
          </p:cNvPr>
          <p:cNvGrpSpPr/>
          <p:nvPr/>
        </p:nvGrpSpPr>
        <p:grpSpPr>
          <a:xfrm>
            <a:off x="2904959" y="1911328"/>
            <a:ext cx="2673471" cy="1408641"/>
            <a:chOff x="2904959" y="1911328"/>
            <a:chExt cx="2673471" cy="1408641"/>
          </a:xfrm>
        </p:grpSpPr>
        <p:sp>
          <p:nvSpPr>
            <p:cNvPr id="12" name="TextBox 11">
              <a:extLst>
                <a:ext uri="{FF2B5EF4-FFF2-40B4-BE49-F238E27FC236}">
                  <a16:creationId xmlns:a16="http://schemas.microsoft.com/office/drawing/2014/main" id="{8D10D3B4-6221-88F6-FEE0-8CBC198977AA}"/>
                </a:ext>
              </a:extLst>
            </p:cNvPr>
            <p:cNvSpPr txBox="1"/>
            <p:nvPr/>
          </p:nvSpPr>
          <p:spPr>
            <a:xfrm>
              <a:off x="3364722" y="1934974"/>
              <a:ext cx="2213708" cy="138499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Broadening solution use cases</a:t>
              </a:r>
            </a:p>
            <a:p>
              <a:pPr marL="285750" indent="-285750">
                <a:buFont typeface="Arial" panose="020B0604020202020204" pitchFamily="34" charset="0"/>
                <a:buChar char="•"/>
              </a:pPr>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Orchestration across larger processes</a:t>
              </a:r>
            </a:p>
          </p:txBody>
        </p:sp>
        <p:sp>
          <p:nvSpPr>
            <p:cNvPr id="23" name="Arrow: Right 22">
              <a:extLst>
                <a:ext uri="{FF2B5EF4-FFF2-40B4-BE49-F238E27FC236}">
                  <a16:creationId xmlns:a16="http://schemas.microsoft.com/office/drawing/2014/main" id="{E0A9F665-0A88-97F7-8F86-549F60EA1A27}"/>
                </a:ext>
              </a:extLst>
            </p:cNvPr>
            <p:cNvSpPr/>
            <p:nvPr/>
          </p:nvSpPr>
          <p:spPr>
            <a:xfrm>
              <a:off x="2904959" y="1911328"/>
              <a:ext cx="388762" cy="954107"/>
            </a:xfrm>
            <a:prstGeom prst="rightArrow">
              <a:avLst>
                <a:gd name="adj1" fmla="val 61275"/>
                <a:gd name="adj2" fmla="val 50000"/>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08D9DC6C-D30A-7377-2388-F47AFCB32C20}"/>
              </a:ext>
            </a:extLst>
          </p:cNvPr>
          <p:cNvGrpSpPr/>
          <p:nvPr/>
        </p:nvGrpSpPr>
        <p:grpSpPr>
          <a:xfrm>
            <a:off x="5601261" y="1497177"/>
            <a:ext cx="2944441" cy="2246769"/>
            <a:chOff x="5649431" y="1484374"/>
            <a:chExt cx="2944441" cy="2246769"/>
          </a:xfrm>
        </p:grpSpPr>
        <p:sp>
          <p:nvSpPr>
            <p:cNvPr id="13" name="TextBox 12">
              <a:extLst>
                <a:ext uri="{FF2B5EF4-FFF2-40B4-BE49-F238E27FC236}">
                  <a16:creationId xmlns:a16="http://schemas.microsoft.com/office/drawing/2014/main" id="{2CDDCF07-466F-E293-B573-D424C8946B6E}"/>
                </a:ext>
              </a:extLst>
            </p:cNvPr>
            <p:cNvSpPr txBox="1"/>
            <p:nvPr/>
          </p:nvSpPr>
          <p:spPr>
            <a:xfrm>
              <a:off x="6081202" y="1484374"/>
              <a:ext cx="2512670" cy="224676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Subject matter expertise or focus </a:t>
              </a:r>
            </a:p>
            <a:p>
              <a:pPr marL="285750" indent="-285750">
                <a:buFont typeface="Arial" panose="020B0604020202020204" pitchFamily="34" charset="0"/>
                <a:buChar char="•"/>
              </a:pPr>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Customer Advisory</a:t>
              </a:r>
            </a:p>
            <a:p>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Direct: Product Marketing and GTM consulting</a:t>
              </a:r>
            </a:p>
            <a:p>
              <a:pPr marL="285750" indent="-285750">
                <a:buFont typeface="Arial" panose="020B0604020202020204" pitchFamily="34" charset="0"/>
                <a:buChar char="•"/>
              </a:pPr>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Partner campaigns</a:t>
              </a:r>
            </a:p>
          </p:txBody>
        </p:sp>
        <p:sp>
          <p:nvSpPr>
            <p:cNvPr id="24" name="Arrow: Right 23">
              <a:extLst>
                <a:ext uri="{FF2B5EF4-FFF2-40B4-BE49-F238E27FC236}">
                  <a16:creationId xmlns:a16="http://schemas.microsoft.com/office/drawing/2014/main" id="{F5AB9637-8FEC-25B3-735A-E6AE55D13EDB}"/>
                </a:ext>
              </a:extLst>
            </p:cNvPr>
            <p:cNvSpPr/>
            <p:nvPr/>
          </p:nvSpPr>
          <p:spPr>
            <a:xfrm>
              <a:off x="5649431" y="1911328"/>
              <a:ext cx="388762" cy="954107"/>
            </a:xfrm>
            <a:prstGeom prst="rightArrow">
              <a:avLst>
                <a:gd name="adj1" fmla="val 61275"/>
                <a:gd name="adj2" fmla="val 50000"/>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2348A4C8-5EE8-4063-4C83-EE637DF9564D}"/>
              </a:ext>
            </a:extLst>
          </p:cNvPr>
          <p:cNvSpPr txBox="1"/>
          <p:nvPr/>
        </p:nvSpPr>
        <p:spPr>
          <a:xfrm>
            <a:off x="3495241" y="4194590"/>
            <a:ext cx="2083189" cy="307777"/>
          </a:xfrm>
          <a:prstGeom prst="rect">
            <a:avLst/>
          </a:prstGeom>
          <a:noFill/>
        </p:spPr>
        <p:txBody>
          <a:bodyPr wrap="square" rtlCol="0">
            <a:spAutoFit/>
          </a:bodyPr>
          <a:lstStyle/>
          <a:p>
            <a:pPr algn="ctr"/>
            <a:r>
              <a:rPr lang="en-US" dirty="0">
                <a:latin typeface="Poppins" panose="00000500000000000000" pitchFamily="2" charset="0"/>
                <a:cs typeface="Poppins" panose="00000500000000000000" pitchFamily="2" charset="0"/>
              </a:rPr>
              <a:t>months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D21FA4E-2D45-6F4B-8540-ECA0F0D567DF}"/>
            </a:ext>
          </a:extLst>
        </p:cNvPr>
        <p:cNvGrpSpPr/>
        <p:nvPr/>
      </p:nvGrpSpPr>
      <p:grpSpPr>
        <a:xfrm>
          <a:off x="0" y="0"/>
          <a:ext cx="0" cy="0"/>
          <a:chOff x="0" y="0"/>
          <a:chExt cx="0" cy="0"/>
        </a:xfrm>
      </p:grpSpPr>
      <p:sp>
        <p:nvSpPr>
          <p:cNvPr id="110" name="Google Shape;110;p19">
            <a:extLst>
              <a:ext uri="{FF2B5EF4-FFF2-40B4-BE49-F238E27FC236}">
                <a16:creationId xmlns:a16="http://schemas.microsoft.com/office/drawing/2014/main" id="{7D9E8A27-893E-0352-9EFC-331BEE9610C2}"/>
              </a:ext>
            </a:extLst>
          </p:cNvPr>
          <p:cNvSpPr txBox="1"/>
          <p:nvPr/>
        </p:nvSpPr>
        <p:spPr>
          <a:xfrm>
            <a:off x="364800" y="2934075"/>
            <a:ext cx="5373000" cy="2317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5000" b="0" i="0" u="none" strike="noStrike" kern="0" cap="none" spc="0" normalizeH="0" baseline="0" noProof="0" dirty="0">
              <a:ln>
                <a:noFill/>
              </a:ln>
              <a:solidFill>
                <a:srgbClr val="000000"/>
              </a:solidFill>
              <a:effectLst/>
              <a:uLnTx/>
              <a:uFillTx/>
              <a:latin typeface="Poppins"/>
              <a:ea typeface="Poppins"/>
              <a:cs typeface="Poppins"/>
              <a:sym typeface="Poppins"/>
            </a:endParaRPr>
          </a:p>
        </p:txBody>
      </p:sp>
      <p:sp>
        <p:nvSpPr>
          <p:cNvPr id="2" name="Title 1">
            <a:extLst>
              <a:ext uri="{FF2B5EF4-FFF2-40B4-BE49-F238E27FC236}">
                <a16:creationId xmlns:a16="http://schemas.microsoft.com/office/drawing/2014/main" id="{4DC1D5B1-570F-3737-7E1D-F1E4778061C6}"/>
              </a:ext>
            </a:extLst>
          </p:cNvPr>
          <p:cNvSpPr>
            <a:spLocks noGrp="1"/>
          </p:cNvSpPr>
          <p:nvPr>
            <p:ph type="title"/>
          </p:nvPr>
        </p:nvSpPr>
        <p:spPr/>
        <p:txBody>
          <a:bodyPr/>
          <a:lstStyle/>
          <a:p>
            <a:r>
              <a:rPr lang="en-US" dirty="0">
                <a:solidFill>
                  <a:srgbClr val="000000"/>
                </a:solidFill>
              </a:rPr>
              <a:t>Content BoM</a:t>
            </a:r>
            <a:br>
              <a:rPr lang="en-US" dirty="0">
                <a:solidFill>
                  <a:srgbClr val="000000"/>
                </a:solidFill>
              </a:rPr>
            </a:br>
            <a:endParaRPr lang="en-US" dirty="0"/>
          </a:p>
        </p:txBody>
      </p:sp>
      <p:sp>
        <p:nvSpPr>
          <p:cNvPr id="3" name="Subtitle 2">
            <a:extLst>
              <a:ext uri="{FF2B5EF4-FFF2-40B4-BE49-F238E27FC236}">
                <a16:creationId xmlns:a16="http://schemas.microsoft.com/office/drawing/2014/main" id="{AB90755B-7267-D3D3-DE01-A4F172554380}"/>
              </a:ext>
            </a:extLst>
          </p:cNvPr>
          <p:cNvSpPr>
            <a:spLocks noGrp="1"/>
          </p:cNvSpPr>
          <p:nvPr>
            <p:ph type="subTitle" idx="1"/>
          </p:nvPr>
        </p:nvSpPr>
        <p:spPr/>
        <p:txBody>
          <a:bodyPr/>
          <a:lstStyle/>
          <a:p>
            <a:r>
              <a:rPr lang="en-US" dirty="0"/>
              <a:t>03</a:t>
            </a:r>
          </a:p>
        </p:txBody>
      </p:sp>
    </p:spTree>
    <p:extLst>
      <p:ext uri="{BB962C8B-B14F-4D97-AF65-F5344CB8AC3E}">
        <p14:creationId xmlns:p14="http://schemas.microsoft.com/office/powerpoint/2010/main" val="722228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B6954526-86F6-18C7-1030-A7F13466031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4F8BDAE-7A7F-9270-F799-5BF195390005}"/>
              </a:ext>
            </a:extLst>
          </p:cNvPr>
          <p:cNvSpPr/>
          <p:nvPr/>
        </p:nvSpPr>
        <p:spPr>
          <a:xfrm>
            <a:off x="365125" y="1215189"/>
            <a:ext cx="3845928" cy="3670861"/>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Google Shape;118;p20">
            <a:extLst>
              <a:ext uri="{FF2B5EF4-FFF2-40B4-BE49-F238E27FC236}">
                <a16:creationId xmlns:a16="http://schemas.microsoft.com/office/drawing/2014/main" id="{2059F367-DD3C-E01B-571A-13795C68099C}"/>
              </a:ext>
            </a:extLst>
          </p:cNvPr>
          <p:cNvSpPr txBox="1">
            <a:spLocks noGrp="1"/>
          </p:cNvSpPr>
          <p:nvPr>
            <p:ph type="title"/>
          </p:nvPr>
        </p:nvSpPr>
        <p:spPr>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dirty="0"/>
              <a:t>Standardized content BoM per Industry focus</a:t>
            </a:r>
            <a:endParaRPr dirty="0"/>
          </a:p>
        </p:txBody>
      </p:sp>
      <p:sp>
        <p:nvSpPr>
          <p:cNvPr id="117" name="Google Shape;117;p20">
            <a:extLst>
              <a:ext uri="{FF2B5EF4-FFF2-40B4-BE49-F238E27FC236}">
                <a16:creationId xmlns:a16="http://schemas.microsoft.com/office/drawing/2014/main" id="{29CB1041-F0BB-1445-1D3D-F2F641F70905}"/>
              </a:ext>
            </a:extLst>
          </p:cNvPr>
          <p:cNvSpPr txBox="1">
            <a:spLocks noGrp="1"/>
          </p:cNvSpPr>
          <p:nvPr>
            <p:ph type="body" idx="1"/>
          </p:nvPr>
        </p:nvSpPr>
        <p:spPr>
          <a:xfrm>
            <a:off x="447722" y="2229728"/>
            <a:ext cx="3999900" cy="2656321"/>
          </a:xfrm>
          <a:prstGeom prst="rect">
            <a:avLst/>
          </a:prstGeom>
        </p:spPr>
        <p:txBody>
          <a:bodyPr spcFirstLastPara="1" wrap="square" lIns="0" tIns="0" rIns="91425" bIns="0" anchor="ctr" anchorCtr="0">
            <a:noAutofit/>
          </a:bodyPr>
          <a:lstStyle/>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Storybook / Messaging guide</a:t>
            </a:r>
          </a:p>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CFD (slides w/ story)</a:t>
            </a:r>
          </a:p>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Competitive battlecard</a:t>
            </a:r>
          </a:p>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FAQs document</a:t>
            </a:r>
          </a:p>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Demos </a:t>
            </a:r>
          </a:p>
          <a:p>
            <a:pPr lvl="1" indent="-292100">
              <a:lnSpc>
                <a:spcPct val="150000"/>
              </a:lnSpc>
              <a:spcBef>
                <a:spcPts val="0"/>
              </a:spcBef>
              <a:buClr>
                <a:srgbClr val="1C1B1B"/>
              </a:buClr>
              <a:buSzPts val="1000"/>
              <a:buChar char="●"/>
            </a:pPr>
            <a:r>
              <a:rPr lang="en-US" sz="1400" dirty="0">
                <a:solidFill>
                  <a:srgbClr val="1C1B1B"/>
                </a:solidFill>
              </a:rPr>
              <a:t>explanation</a:t>
            </a:r>
          </a:p>
          <a:p>
            <a:pPr lvl="1" indent="-292100">
              <a:lnSpc>
                <a:spcPct val="150000"/>
              </a:lnSpc>
              <a:spcBef>
                <a:spcPts val="0"/>
              </a:spcBef>
              <a:buClr>
                <a:srgbClr val="1C1B1B"/>
              </a:buClr>
              <a:buSzPts val="1000"/>
              <a:buChar char="●"/>
            </a:pPr>
            <a:r>
              <a:rPr lang="en-US" sz="1400" dirty="0">
                <a:solidFill>
                  <a:srgbClr val="1C1B1B"/>
                </a:solidFill>
              </a:rPr>
              <a:t>use case </a:t>
            </a:r>
            <a:endParaRPr sz="1400" dirty="0">
              <a:solidFill>
                <a:srgbClr val="1C1B1B"/>
              </a:solidFill>
            </a:endParaRPr>
          </a:p>
          <a:p>
            <a:pPr marL="0" lvl="0" indent="0" rtl="0">
              <a:lnSpc>
                <a:spcPct val="150000"/>
              </a:lnSpc>
              <a:spcBef>
                <a:spcPts val="0"/>
              </a:spcBef>
              <a:spcAft>
                <a:spcPts val="0"/>
              </a:spcAft>
              <a:buNone/>
            </a:pPr>
            <a:endParaRPr sz="1600" dirty="0">
              <a:solidFill>
                <a:srgbClr val="1C1B1B"/>
              </a:solidFill>
            </a:endParaRPr>
          </a:p>
        </p:txBody>
      </p:sp>
      <p:sp>
        <p:nvSpPr>
          <p:cNvPr id="3" name="Google Shape;117;p20">
            <a:extLst>
              <a:ext uri="{FF2B5EF4-FFF2-40B4-BE49-F238E27FC236}">
                <a16:creationId xmlns:a16="http://schemas.microsoft.com/office/drawing/2014/main" id="{012ED6ED-F1C3-C6C0-9CBC-6FFDB830ED71}"/>
              </a:ext>
            </a:extLst>
          </p:cNvPr>
          <p:cNvSpPr txBox="1">
            <a:spLocks/>
          </p:cNvSpPr>
          <p:nvPr/>
        </p:nvSpPr>
        <p:spPr>
          <a:xfrm>
            <a:off x="505308" y="1485383"/>
            <a:ext cx="3267900" cy="279467"/>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165100" indent="0">
              <a:lnSpc>
                <a:spcPct val="150000"/>
              </a:lnSpc>
              <a:buClr>
                <a:srgbClr val="1C1B1B"/>
              </a:buClr>
              <a:buSzPts val="1000"/>
              <a:buNone/>
            </a:pPr>
            <a:r>
              <a:rPr lang="en-US" sz="2000" dirty="0">
                <a:solidFill>
                  <a:srgbClr val="1C1B1B"/>
                </a:solidFill>
              </a:rPr>
              <a:t>Enablement</a:t>
            </a:r>
          </a:p>
        </p:txBody>
      </p:sp>
      <p:cxnSp>
        <p:nvCxnSpPr>
          <p:cNvPr id="9" name="Straight Connector 8">
            <a:extLst>
              <a:ext uri="{FF2B5EF4-FFF2-40B4-BE49-F238E27FC236}">
                <a16:creationId xmlns:a16="http://schemas.microsoft.com/office/drawing/2014/main" id="{3F383265-C364-B1B1-04D9-237E0A768ACE}"/>
              </a:ext>
            </a:extLst>
          </p:cNvPr>
          <p:cNvCxnSpPr/>
          <p:nvPr/>
        </p:nvCxnSpPr>
        <p:spPr>
          <a:xfrm>
            <a:off x="541421" y="1904584"/>
            <a:ext cx="3513221"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06EF62B-4D17-F664-6CAE-C326EF820745}"/>
              </a:ext>
            </a:extLst>
          </p:cNvPr>
          <p:cNvGrpSpPr/>
          <p:nvPr/>
        </p:nvGrpSpPr>
        <p:grpSpPr>
          <a:xfrm>
            <a:off x="4919372" y="1215188"/>
            <a:ext cx="3845928" cy="3670861"/>
            <a:chOff x="4919372" y="1215188"/>
            <a:chExt cx="3845928" cy="3670861"/>
          </a:xfrm>
        </p:grpSpPr>
        <p:sp>
          <p:nvSpPr>
            <p:cNvPr id="7" name="Rectangle 6">
              <a:extLst>
                <a:ext uri="{FF2B5EF4-FFF2-40B4-BE49-F238E27FC236}">
                  <a16:creationId xmlns:a16="http://schemas.microsoft.com/office/drawing/2014/main" id="{BD00CF1E-FDC9-74C4-DFED-7F6E6F1060A8}"/>
                </a:ext>
              </a:extLst>
            </p:cNvPr>
            <p:cNvSpPr/>
            <p:nvPr/>
          </p:nvSpPr>
          <p:spPr>
            <a:xfrm>
              <a:off x="4919372" y="1215188"/>
              <a:ext cx="3845928" cy="3670861"/>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17;p20">
              <a:extLst>
                <a:ext uri="{FF2B5EF4-FFF2-40B4-BE49-F238E27FC236}">
                  <a16:creationId xmlns:a16="http://schemas.microsoft.com/office/drawing/2014/main" id="{AE8A6E28-95DD-4D5E-0F84-BAE40C710E72}"/>
                </a:ext>
              </a:extLst>
            </p:cNvPr>
            <p:cNvSpPr txBox="1">
              <a:spLocks/>
            </p:cNvSpPr>
            <p:nvPr/>
          </p:nvSpPr>
          <p:spPr>
            <a:xfrm>
              <a:off x="5112131" y="1904584"/>
              <a:ext cx="3267900" cy="2376931"/>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indent="-292100">
                <a:lnSpc>
                  <a:spcPct val="150000"/>
                </a:lnSpc>
                <a:buClr>
                  <a:srgbClr val="1C1B1B"/>
                </a:buClr>
                <a:buSzPts val="1000"/>
              </a:pPr>
              <a:r>
                <a:rPr lang="en-US" sz="1600" dirty="0">
                  <a:solidFill>
                    <a:srgbClr val="1C1B1B"/>
                  </a:solidFill>
                </a:rPr>
                <a:t>Customer stories</a:t>
              </a:r>
            </a:p>
            <a:p>
              <a:pPr indent="-292100">
                <a:lnSpc>
                  <a:spcPct val="150000"/>
                </a:lnSpc>
                <a:buClr>
                  <a:srgbClr val="1C1B1B"/>
                </a:buClr>
                <a:buSzPts val="1000"/>
              </a:pPr>
              <a:r>
                <a:rPr lang="en-US" sz="1600" dirty="0">
                  <a:solidFill>
                    <a:srgbClr val="1C1B1B"/>
                  </a:solidFill>
                </a:rPr>
                <a:t>Analyst / Market substantiation</a:t>
              </a:r>
            </a:p>
            <a:p>
              <a:pPr indent="-292100">
                <a:lnSpc>
                  <a:spcPct val="150000"/>
                </a:lnSpc>
                <a:buClr>
                  <a:srgbClr val="1C1B1B"/>
                </a:buClr>
                <a:buSzPts val="1000"/>
              </a:pPr>
              <a:r>
                <a:rPr lang="en-US" sz="1600" dirty="0">
                  <a:solidFill>
                    <a:srgbClr val="1C1B1B"/>
                  </a:solidFill>
                </a:rPr>
                <a:t>‘How it is done’ whitepaper or webinar</a:t>
              </a:r>
            </a:p>
            <a:p>
              <a:pPr marL="0" indent="0">
                <a:lnSpc>
                  <a:spcPct val="150000"/>
                </a:lnSpc>
                <a:buFont typeface="Poppins"/>
                <a:buNone/>
              </a:pPr>
              <a:endParaRPr lang="en-US" sz="1600" dirty="0">
                <a:solidFill>
                  <a:srgbClr val="1C1B1B"/>
                </a:solidFill>
              </a:endParaRPr>
            </a:p>
          </p:txBody>
        </p:sp>
        <p:sp>
          <p:nvSpPr>
            <p:cNvPr id="4" name="Google Shape;117;p20">
              <a:extLst>
                <a:ext uri="{FF2B5EF4-FFF2-40B4-BE49-F238E27FC236}">
                  <a16:creationId xmlns:a16="http://schemas.microsoft.com/office/drawing/2014/main" id="{B7D9C451-A1C7-39FF-4B57-90B44A0A1C7F}"/>
                </a:ext>
              </a:extLst>
            </p:cNvPr>
            <p:cNvSpPr txBox="1">
              <a:spLocks/>
            </p:cNvSpPr>
            <p:nvPr/>
          </p:nvSpPr>
          <p:spPr>
            <a:xfrm>
              <a:off x="5085725" y="1495144"/>
              <a:ext cx="3267900" cy="279467"/>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165100" indent="0">
                <a:lnSpc>
                  <a:spcPct val="150000"/>
                </a:lnSpc>
                <a:buClr>
                  <a:srgbClr val="1C1B1B"/>
                </a:buClr>
                <a:buSzPts val="1000"/>
                <a:buNone/>
              </a:pPr>
              <a:r>
                <a:rPr lang="en-US" sz="2000" dirty="0">
                  <a:solidFill>
                    <a:srgbClr val="1C1B1B"/>
                  </a:solidFill>
                </a:rPr>
                <a:t>Customer journey</a:t>
              </a:r>
            </a:p>
          </p:txBody>
        </p:sp>
        <p:cxnSp>
          <p:nvCxnSpPr>
            <p:cNvPr id="10" name="Straight Connector 9">
              <a:extLst>
                <a:ext uri="{FF2B5EF4-FFF2-40B4-BE49-F238E27FC236}">
                  <a16:creationId xmlns:a16="http://schemas.microsoft.com/office/drawing/2014/main" id="{9984E86D-FA77-FC69-1209-A1776993F2BF}"/>
                </a:ext>
              </a:extLst>
            </p:cNvPr>
            <p:cNvCxnSpPr/>
            <p:nvPr/>
          </p:nvCxnSpPr>
          <p:spPr>
            <a:xfrm>
              <a:off x="5085725" y="1916200"/>
              <a:ext cx="3513221"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3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p:nvPr/>
        </p:nvSpPr>
        <p:spPr>
          <a:xfrm>
            <a:off x="0" y="0"/>
            <a:ext cx="9144000" cy="5143500"/>
          </a:xfrm>
          <a:prstGeom prst="rect">
            <a:avLst/>
          </a:prstGeom>
          <a:solidFill>
            <a:srgbClr val="F5F6F8"/>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Clr>
                <a:schemeClr val="dk1"/>
              </a:buClr>
              <a:buSzPts val="1100"/>
              <a:buFont typeface="Arial"/>
              <a:buNone/>
            </a:pPr>
            <a:endParaRPr sz="3600">
              <a:solidFill>
                <a:schemeClr val="dk1"/>
              </a:solidFill>
              <a:latin typeface="Poppins"/>
              <a:ea typeface="Poppins"/>
              <a:cs typeface="Poppins"/>
              <a:sym typeface="Poppins"/>
            </a:endParaRPr>
          </a:p>
        </p:txBody>
      </p:sp>
      <p:pic>
        <p:nvPicPr>
          <p:cNvPr id="116" name="Google Shape;116;p20"/>
          <p:cNvPicPr preferRelativeResize="0"/>
          <p:nvPr/>
        </p:nvPicPr>
        <p:blipFill>
          <a:blip r:embed="rId3">
            <a:alphaModFix/>
          </a:blip>
          <a:stretch>
            <a:fillRect/>
          </a:stretch>
        </p:blipFill>
        <p:spPr>
          <a:xfrm>
            <a:off x="138340" y="1069975"/>
            <a:ext cx="4506826" cy="3198375"/>
          </a:xfrm>
          <a:prstGeom prst="rect">
            <a:avLst/>
          </a:prstGeom>
          <a:noFill/>
          <a:ln>
            <a:noFill/>
          </a:ln>
        </p:spPr>
      </p:pic>
      <p:sp>
        <p:nvSpPr>
          <p:cNvPr id="117" name="Google Shape;117;p20"/>
          <p:cNvSpPr txBox="1">
            <a:spLocks noGrp="1"/>
          </p:cNvSpPr>
          <p:nvPr>
            <p:ph type="body" idx="1"/>
          </p:nvPr>
        </p:nvSpPr>
        <p:spPr>
          <a:xfrm>
            <a:off x="5415625" y="1218619"/>
            <a:ext cx="3267900" cy="3319533"/>
          </a:xfrm>
          <a:prstGeom prst="rect">
            <a:avLst/>
          </a:prstGeom>
        </p:spPr>
        <p:txBody>
          <a:bodyPr spcFirstLastPara="1" wrap="square" lIns="0" tIns="0" rIns="91425" bIns="0" anchor="ctr" anchorCtr="0">
            <a:noAutofit/>
          </a:bodyPr>
          <a:lstStyle/>
          <a:p>
            <a:pPr marL="457200" lvl="0" indent="-292100" rtl="0">
              <a:lnSpc>
                <a:spcPct val="150000"/>
              </a:lnSpc>
              <a:spcBef>
                <a:spcPts val="0"/>
              </a:spcBef>
              <a:spcAft>
                <a:spcPts val="0"/>
              </a:spcAft>
              <a:buClr>
                <a:srgbClr val="1C1B1B"/>
              </a:buClr>
              <a:buSzPts val="1000"/>
              <a:buChar char="●"/>
            </a:pPr>
            <a:r>
              <a:rPr lang="en-US" sz="1600" dirty="0" err="1">
                <a:solidFill>
                  <a:srgbClr val="1C1B1B"/>
                </a:solidFill>
              </a:rPr>
              <a:t>ebooks</a:t>
            </a:r>
            <a:endParaRPr lang="en-US" sz="1600" dirty="0">
              <a:solidFill>
                <a:srgbClr val="1C1B1B"/>
              </a:solidFill>
            </a:endParaRPr>
          </a:p>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Infographics</a:t>
            </a:r>
          </a:p>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Social videos / posts</a:t>
            </a:r>
          </a:p>
          <a:p>
            <a:pPr marL="457200" lvl="0" indent="-292100" rtl="0">
              <a:lnSpc>
                <a:spcPct val="150000"/>
              </a:lnSpc>
              <a:spcBef>
                <a:spcPts val="0"/>
              </a:spcBef>
              <a:spcAft>
                <a:spcPts val="0"/>
              </a:spcAft>
              <a:buClr>
                <a:srgbClr val="1C1B1B"/>
              </a:buClr>
              <a:buSzPts val="1000"/>
              <a:buChar char="●"/>
            </a:pPr>
            <a:r>
              <a:rPr lang="en-US" sz="1600" dirty="0">
                <a:solidFill>
                  <a:srgbClr val="1C1B1B"/>
                </a:solidFill>
              </a:rPr>
              <a:t>Blogs</a:t>
            </a:r>
          </a:p>
          <a:p>
            <a:pPr marL="457200" lvl="0" indent="-292100" rtl="0">
              <a:lnSpc>
                <a:spcPct val="150000"/>
              </a:lnSpc>
              <a:spcBef>
                <a:spcPts val="0"/>
              </a:spcBef>
              <a:spcAft>
                <a:spcPts val="0"/>
              </a:spcAft>
              <a:buClr>
                <a:srgbClr val="1C1B1B"/>
              </a:buClr>
              <a:buSzPts val="1000"/>
              <a:buChar char="●"/>
            </a:pPr>
            <a:r>
              <a:rPr lang="en-US" sz="1600" dirty="0" err="1">
                <a:solidFill>
                  <a:srgbClr val="1C1B1B"/>
                </a:solidFill>
              </a:rPr>
              <a:t>etc</a:t>
            </a:r>
            <a:endParaRPr sz="1600" dirty="0">
              <a:solidFill>
                <a:srgbClr val="1C1B1B"/>
              </a:solidFill>
            </a:endParaRPr>
          </a:p>
          <a:p>
            <a:pPr marL="0" lvl="0" indent="0" rtl="0">
              <a:lnSpc>
                <a:spcPct val="150000"/>
              </a:lnSpc>
              <a:spcBef>
                <a:spcPts val="0"/>
              </a:spcBef>
              <a:spcAft>
                <a:spcPts val="0"/>
              </a:spcAft>
              <a:buNone/>
            </a:pPr>
            <a:endParaRPr sz="1600" dirty="0">
              <a:solidFill>
                <a:srgbClr val="1C1B1B"/>
              </a:solidFill>
            </a:endParaRPr>
          </a:p>
        </p:txBody>
      </p:sp>
      <p:sp>
        <p:nvSpPr>
          <p:cNvPr id="118" name="Google Shape;118;p20"/>
          <p:cNvSpPr txBox="1">
            <a:spLocks noGrp="1"/>
          </p:cNvSpPr>
          <p:nvPr>
            <p:ph type="title" idx="4294967295"/>
          </p:nvPr>
        </p:nvSpPr>
        <p:spPr>
          <a:xfrm>
            <a:off x="365124" y="438336"/>
            <a:ext cx="7598257" cy="474600"/>
          </a:xfrm>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dirty="0"/>
              <a:t>Atomizing for GTM campaigs</a:t>
            </a:r>
            <a:endParaRPr dirty="0"/>
          </a:p>
        </p:txBody>
      </p:sp>
      <p:sp>
        <p:nvSpPr>
          <p:cNvPr id="2" name="Rectangle 1">
            <a:extLst>
              <a:ext uri="{FF2B5EF4-FFF2-40B4-BE49-F238E27FC236}">
                <a16:creationId xmlns:a16="http://schemas.microsoft.com/office/drawing/2014/main" id="{2950DBC7-E77B-08D7-9435-CE902ECA6EBB}"/>
              </a:ext>
            </a:extLst>
          </p:cNvPr>
          <p:cNvSpPr/>
          <p:nvPr/>
        </p:nvSpPr>
        <p:spPr>
          <a:xfrm>
            <a:off x="614082" y="1990439"/>
            <a:ext cx="3523130" cy="645459"/>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Whitepaper / Tech How To</a:t>
            </a:r>
          </a:p>
        </p:txBody>
      </p:sp>
      <p:sp>
        <p:nvSpPr>
          <p:cNvPr id="3" name="Rectangle 2">
            <a:extLst>
              <a:ext uri="{FF2B5EF4-FFF2-40B4-BE49-F238E27FC236}">
                <a16:creationId xmlns:a16="http://schemas.microsoft.com/office/drawing/2014/main" id="{21822943-4C12-3D3C-B328-AECF453F3B2F}"/>
              </a:ext>
            </a:extLst>
          </p:cNvPr>
          <p:cNvSpPr/>
          <p:nvPr/>
        </p:nvSpPr>
        <p:spPr>
          <a:xfrm>
            <a:off x="736474" y="3129395"/>
            <a:ext cx="1314226" cy="645458"/>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 story</a:t>
            </a:r>
          </a:p>
        </p:txBody>
      </p:sp>
      <p:sp>
        <p:nvSpPr>
          <p:cNvPr id="4" name="Google Shape;117;p20">
            <a:extLst>
              <a:ext uri="{FF2B5EF4-FFF2-40B4-BE49-F238E27FC236}">
                <a16:creationId xmlns:a16="http://schemas.microsoft.com/office/drawing/2014/main" id="{8D7D002A-69F0-B39B-FCC5-973A85635E9B}"/>
              </a:ext>
            </a:extLst>
          </p:cNvPr>
          <p:cNvSpPr txBox="1">
            <a:spLocks/>
          </p:cNvSpPr>
          <p:nvPr/>
        </p:nvSpPr>
        <p:spPr>
          <a:xfrm>
            <a:off x="1067376" y="4287246"/>
            <a:ext cx="2957234" cy="474600"/>
          </a:xfrm>
          <a:prstGeom prst="rect">
            <a:avLst/>
          </a:prstGeom>
          <a:noFill/>
          <a:ln>
            <a:noFill/>
          </a:ln>
        </p:spPr>
        <p:txBody>
          <a:bodyPr spcFirstLastPara="1" wrap="square" lIns="0" tIns="0" rIns="91425" bIns="0"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165100" indent="0">
              <a:lnSpc>
                <a:spcPct val="150000"/>
              </a:lnSpc>
              <a:buClr>
                <a:srgbClr val="1C1B1B"/>
              </a:buClr>
              <a:buSzPts val="1000"/>
              <a:buNone/>
            </a:pPr>
            <a:r>
              <a:rPr lang="en-US" sz="1600" dirty="0">
                <a:solidFill>
                  <a:srgbClr val="1C1B1B"/>
                </a:solidFill>
              </a:rPr>
              <a:t>Lead Generator Content</a:t>
            </a:r>
          </a:p>
          <a:p>
            <a:pPr marL="0" indent="0">
              <a:lnSpc>
                <a:spcPct val="150000"/>
              </a:lnSpc>
              <a:buFont typeface="Poppins"/>
              <a:buNone/>
            </a:pPr>
            <a:endParaRPr lang="en-US" sz="1600" dirty="0">
              <a:solidFill>
                <a:srgbClr val="1C1B1B"/>
              </a:solidFill>
            </a:endParaRPr>
          </a:p>
        </p:txBody>
      </p:sp>
      <p:sp>
        <p:nvSpPr>
          <p:cNvPr id="5" name="Rectangle 4">
            <a:extLst>
              <a:ext uri="{FF2B5EF4-FFF2-40B4-BE49-F238E27FC236}">
                <a16:creationId xmlns:a16="http://schemas.microsoft.com/office/drawing/2014/main" id="{F6F2BC05-5C10-AAE0-D5C6-355A0EF5B963}"/>
              </a:ext>
            </a:extLst>
          </p:cNvPr>
          <p:cNvSpPr/>
          <p:nvPr/>
        </p:nvSpPr>
        <p:spPr>
          <a:xfrm>
            <a:off x="2510840" y="2878385"/>
            <a:ext cx="1513770" cy="896468"/>
          </a:xfrm>
          <a:prstGeom prst="rect">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Webinar</a:t>
            </a:r>
          </a:p>
        </p:txBody>
      </p:sp>
      <p:sp>
        <p:nvSpPr>
          <p:cNvPr id="6" name="Arrow: Left 5">
            <a:extLst>
              <a:ext uri="{FF2B5EF4-FFF2-40B4-BE49-F238E27FC236}">
                <a16:creationId xmlns:a16="http://schemas.microsoft.com/office/drawing/2014/main" id="{6308E3DF-F833-17A9-D9EB-822ABA113B78}"/>
              </a:ext>
            </a:extLst>
          </p:cNvPr>
          <p:cNvSpPr/>
          <p:nvPr/>
        </p:nvSpPr>
        <p:spPr>
          <a:xfrm rot="10800000">
            <a:off x="4667708" y="1982911"/>
            <a:ext cx="479926" cy="1386688"/>
          </a:xfrm>
          <a:prstGeom prst="leftArrow">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build="allAtOnce"/>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0169EFAC-FA1E-C242-EB0B-209A74CFB98A}"/>
              </a:ext>
            </a:extLst>
          </p:cNvPr>
          <p:cNvSpPr txBox="1">
            <a:spLocks/>
          </p:cNvSpPr>
          <p:nvPr/>
        </p:nvSpPr>
        <p:spPr>
          <a:xfrm>
            <a:off x="205468" y="934066"/>
            <a:ext cx="8520600" cy="572700"/>
          </a:xfrm>
          <a:prstGeom prst="rect">
            <a:avLst/>
          </a:prstGeom>
          <a:noFill/>
          <a:ln>
            <a:noFill/>
          </a:ln>
        </p:spPr>
        <p:txBody>
          <a:bodyPr spcFirstLastPara="1" wrap="square" lIns="0" tIns="0"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58750"/>
            <a:r>
              <a:rPr lang="en-US" sz="1200" dirty="0"/>
              <a:t>The beauty of our standardized BoM and industry strategy is that once we craft the content and play for one partner, it can be leveraged and adapted for others with relatively low effort:</a:t>
            </a:r>
          </a:p>
        </p:txBody>
      </p:sp>
      <p:sp>
        <p:nvSpPr>
          <p:cNvPr id="6" name="TextBox 5">
            <a:extLst>
              <a:ext uri="{FF2B5EF4-FFF2-40B4-BE49-F238E27FC236}">
                <a16:creationId xmlns:a16="http://schemas.microsoft.com/office/drawing/2014/main" id="{30658F0A-159F-04E3-ED41-8D27ABA570C7}"/>
              </a:ext>
            </a:extLst>
          </p:cNvPr>
          <p:cNvSpPr txBox="1"/>
          <p:nvPr/>
        </p:nvSpPr>
        <p:spPr>
          <a:xfrm>
            <a:off x="878393" y="1683914"/>
            <a:ext cx="3498734" cy="738664"/>
          </a:xfrm>
          <a:prstGeom prst="rect">
            <a:avLst/>
          </a:prstGeom>
          <a:solidFill>
            <a:schemeClr val="bg2">
              <a:lumMod val="20000"/>
              <a:lumOff val="80000"/>
            </a:schemeClr>
          </a:solidFill>
        </p:spPr>
        <p:txBody>
          <a:bodyPr wrap="square">
            <a:spAutoFit/>
          </a:bodyPr>
          <a:lstStyle/>
          <a:p>
            <a:endParaRPr lang="en-US" b="1" dirty="0"/>
          </a:p>
          <a:p>
            <a:r>
              <a:rPr lang="en-US" b="1" dirty="0"/>
              <a:t>Reusing Core Content</a:t>
            </a:r>
          </a:p>
          <a:p>
            <a:endParaRPr lang="en-US" b="1" dirty="0"/>
          </a:p>
        </p:txBody>
      </p:sp>
      <p:sp>
        <p:nvSpPr>
          <p:cNvPr id="8" name="TextBox 7">
            <a:extLst>
              <a:ext uri="{FF2B5EF4-FFF2-40B4-BE49-F238E27FC236}">
                <a16:creationId xmlns:a16="http://schemas.microsoft.com/office/drawing/2014/main" id="{6662CB71-33F7-5F84-EC3C-88538CAF00C0}"/>
              </a:ext>
            </a:extLst>
          </p:cNvPr>
          <p:cNvSpPr txBox="1"/>
          <p:nvPr/>
        </p:nvSpPr>
        <p:spPr>
          <a:xfrm>
            <a:off x="878393" y="2721634"/>
            <a:ext cx="3498735" cy="738664"/>
          </a:xfrm>
          <a:prstGeom prst="rect">
            <a:avLst/>
          </a:prstGeom>
          <a:solidFill>
            <a:schemeClr val="bg2">
              <a:lumMod val="20000"/>
              <a:lumOff val="80000"/>
            </a:schemeClr>
          </a:solidFill>
        </p:spPr>
        <p:txBody>
          <a:bodyPr wrap="square">
            <a:spAutoFit/>
          </a:bodyPr>
          <a:lstStyle/>
          <a:p>
            <a:endParaRPr lang="en-US" b="1" dirty="0"/>
          </a:p>
          <a:p>
            <a:r>
              <a:rPr lang="en-US" b="1" dirty="0"/>
              <a:t>Adapting the Joint Positioning:</a:t>
            </a:r>
            <a:r>
              <a:rPr lang="en-US" dirty="0"/>
              <a:t> </a:t>
            </a:r>
          </a:p>
          <a:p>
            <a:endParaRPr lang="en-US" dirty="0"/>
          </a:p>
        </p:txBody>
      </p:sp>
      <p:sp>
        <p:nvSpPr>
          <p:cNvPr id="10" name="TextBox 9">
            <a:extLst>
              <a:ext uri="{FF2B5EF4-FFF2-40B4-BE49-F238E27FC236}">
                <a16:creationId xmlns:a16="http://schemas.microsoft.com/office/drawing/2014/main" id="{1A930EFB-B070-FA92-5145-9130B78C1093}"/>
              </a:ext>
            </a:extLst>
          </p:cNvPr>
          <p:cNvSpPr txBox="1"/>
          <p:nvPr/>
        </p:nvSpPr>
        <p:spPr>
          <a:xfrm>
            <a:off x="4766874" y="1683914"/>
            <a:ext cx="3498733" cy="738664"/>
          </a:xfrm>
          <a:prstGeom prst="rect">
            <a:avLst/>
          </a:prstGeom>
          <a:solidFill>
            <a:schemeClr val="bg2">
              <a:lumMod val="20000"/>
              <a:lumOff val="80000"/>
            </a:schemeClr>
          </a:solidFill>
        </p:spPr>
        <p:txBody>
          <a:bodyPr wrap="square">
            <a:spAutoFit/>
          </a:bodyPr>
          <a:lstStyle/>
          <a:p>
            <a:endParaRPr lang="en-US" b="1" dirty="0"/>
          </a:p>
          <a:p>
            <a:r>
              <a:rPr lang="en-US" b="1" dirty="0"/>
              <a:t>Extending to New Geos or Segments:</a:t>
            </a:r>
          </a:p>
          <a:p>
            <a:r>
              <a:rPr lang="en-US" dirty="0"/>
              <a:t> </a:t>
            </a:r>
          </a:p>
        </p:txBody>
      </p:sp>
      <p:sp>
        <p:nvSpPr>
          <p:cNvPr id="12" name="Title 11">
            <a:extLst>
              <a:ext uri="{FF2B5EF4-FFF2-40B4-BE49-F238E27FC236}">
                <a16:creationId xmlns:a16="http://schemas.microsoft.com/office/drawing/2014/main" id="{FAF024DC-C001-A5BF-E58D-D1513892F650}"/>
              </a:ext>
            </a:extLst>
          </p:cNvPr>
          <p:cNvSpPr>
            <a:spLocks noGrp="1"/>
          </p:cNvSpPr>
          <p:nvPr>
            <p:ph type="title" idx="4294967295"/>
          </p:nvPr>
        </p:nvSpPr>
        <p:spPr>
          <a:xfrm>
            <a:off x="365125" y="360978"/>
            <a:ext cx="8521700" cy="573088"/>
          </a:xfrm>
        </p:spPr>
        <p:txBody>
          <a:bodyPr/>
          <a:lstStyle/>
          <a:p>
            <a:r>
              <a:rPr lang="en-US" dirty="0"/>
              <a:t>Create once, leverage many places…</a:t>
            </a:r>
            <a:br>
              <a:rPr lang="en-US" dirty="0"/>
            </a:br>
            <a:endParaRPr lang="en-US" dirty="0"/>
          </a:p>
        </p:txBody>
      </p:sp>
      <p:sp>
        <p:nvSpPr>
          <p:cNvPr id="14" name="TextBox 13">
            <a:extLst>
              <a:ext uri="{FF2B5EF4-FFF2-40B4-BE49-F238E27FC236}">
                <a16:creationId xmlns:a16="http://schemas.microsoft.com/office/drawing/2014/main" id="{2285FE00-3905-CF8D-2E96-427BCE288513}"/>
              </a:ext>
            </a:extLst>
          </p:cNvPr>
          <p:cNvSpPr txBox="1"/>
          <p:nvPr/>
        </p:nvSpPr>
        <p:spPr>
          <a:xfrm>
            <a:off x="4766874" y="2720923"/>
            <a:ext cx="3498734" cy="738664"/>
          </a:xfrm>
          <a:prstGeom prst="rect">
            <a:avLst/>
          </a:prstGeom>
          <a:solidFill>
            <a:schemeClr val="bg2">
              <a:lumMod val="20000"/>
              <a:lumOff val="80000"/>
            </a:schemeClr>
          </a:solidFill>
        </p:spPr>
        <p:txBody>
          <a:bodyPr wrap="square">
            <a:spAutoFit/>
          </a:bodyPr>
          <a:lstStyle/>
          <a:p>
            <a:endParaRPr lang="en-US" b="1" dirty="0"/>
          </a:p>
          <a:p>
            <a:r>
              <a:rPr lang="en-US" b="1" dirty="0"/>
              <a:t>Joint Campaign Kit for Partners:</a:t>
            </a:r>
            <a:r>
              <a:rPr lang="en-US" dirty="0"/>
              <a:t> </a:t>
            </a:r>
          </a:p>
          <a:p>
            <a:endParaRPr lang="en-US" dirty="0"/>
          </a:p>
        </p:txBody>
      </p:sp>
      <p:sp>
        <p:nvSpPr>
          <p:cNvPr id="16" name="TextBox 15">
            <a:extLst>
              <a:ext uri="{FF2B5EF4-FFF2-40B4-BE49-F238E27FC236}">
                <a16:creationId xmlns:a16="http://schemas.microsoft.com/office/drawing/2014/main" id="{5D529525-8ED8-766F-9BC8-F895996F65FE}"/>
              </a:ext>
            </a:extLst>
          </p:cNvPr>
          <p:cNvSpPr txBox="1"/>
          <p:nvPr/>
        </p:nvSpPr>
        <p:spPr>
          <a:xfrm>
            <a:off x="878393" y="3759354"/>
            <a:ext cx="7387214" cy="738664"/>
          </a:xfrm>
          <a:prstGeom prst="rect">
            <a:avLst/>
          </a:prstGeom>
          <a:solidFill>
            <a:schemeClr val="bg2">
              <a:lumMod val="20000"/>
              <a:lumOff val="80000"/>
            </a:schemeClr>
          </a:solidFill>
        </p:spPr>
        <p:txBody>
          <a:bodyPr wrap="square">
            <a:spAutoFit/>
          </a:bodyPr>
          <a:lstStyle/>
          <a:p>
            <a:endParaRPr lang="en-US" b="1" dirty="0"/>
          </a:p>
          <a:p>
            <a:r>
              <a:rPr lang="en-US" b="1" dirty="0"/>
              <a:t>Consistent Metrics and Feedback: What works with who?</a:t>
            </a:r>
          </a:p>
          <a:p>
            <a:endParaRPr lang="en-US" b="1" dirty="0"/>
          </a:p>
        </p:txBody>
      </p:sp>
    </p:spTree>
    <p:extLst>
      <p:ext uri="{BB962C8B-B14F-4D97-AF65-F5344CB8AC3E}">
        <p14:creationId xmlns:p14="http://schemas.microsoft.com/office/powerpoint/2010/main" val="2341232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BF8912E-2936-5392-6EB2-A16690381B34}"/>
            </a:ext>
          </a:extLst>
        </p:cNvPr>
        <p:cNvGrpSpPr/>
        <p:nvPr/>
      </p:nvGrpSpPr>
      <p:grpSpPr>
        <a:xfrm>
          <a:off x="0" y="0"/>
          <a:ext cx="0" cy="0"/>
          <a:chOff x="0" y="0"/>
          <a:chExt cx="0" cy="0"/>
        </a:xfrm>
      </p:grpSpPr>
      <p:sp>
        <p:nvSpPr>
          <p:cNvPr id="110" name="Google Shape;110;p19">
            <a:extLst>
              <a:ext uri="{FF2B5EF4-FFF2-40B4-BE49-F238E27FC236}">
                <a16:creationId xmlns:a16="http://schemas.microsoft.com/office/drawing/2014/main" id="{19C60469-3F62-0F6F-BEB8-E10C611F52F8}"/>
              </a:ext>
            </a:extLst>
          </p:cNvPr>
          <p:cNvSpPr txBox="1"/>
          <p:nvPr/>
        </p:nvSpPr>
        <p:spPr>
          <a:xfrm>
            <a:off x="364800" y="2934075"/>
            <a:ext cx="5373000" cy="2317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5000" b="0" i="0" u="none" strike="noStrike" kern="0" cap="none" spc="0" normalizeH="0" baseline="0" noProof="0" dirty="0">
              <a:ln>
                <a:noFill/>
              </a:ln>
              <a:solidFill>
                <a:srgbClr val="000000"/>
              </a:solidFill>
              <a:effectLst/>
              <a:uLnTx/>
              <a:uFillTx/>
              <a:latin typeface="Poppins"/>
              <a:ea typeface="Poppins"/>
              <a:cs typeface="Poppins"/>
              <a:sym typeface="Poppins"/>
            </a:endParaRPr>
          </a:p>
        </p:txBody>
      </p:sp>
      <p:sp>
        <p:nvSpPr>
          <p:cNvPr id="2" name="Title 1">
            <a:extLst>
              <a:ext uri="{FF2B5EF4-FFF2-40B4-BE49-F238E27FC236}">
                <a16:creationId xmlns:a16="http://schemas.microsoft.com/office/drawing/2014/main" id="{0712866A-CEFC-8901-7E80-361BFC217B6B}"/>
              </a:ext>
            </a:extLst>
          </p:cNvPr>
          <p:cNvSpPr>
            <a:spLocks noGrp="1"/>
          </p:cNvSpPr>
          <p:nvPr>
            <p:ph type="title"/>
          </p:nvPr>
        </p:nvSpPr>
        <p:spPr/>
        <p:txBody>
          <a:bodyPr/>
          <a:lstStyle/>
          <a:p>
            <a:r>
              <a:rPr lang="en-US" dirty="0">
                <a:solidFill>
                  <a:srgbClr val="000000"/>
                </a:solidFill>
              </a:rPr>
              <a:t>Scaling with partners</a:t>
            </a:r>
            <a:br>
              <a:rPr lang="en-US" dirty="0">
                <a:solidFill>
                  <a:srgbClr val="000000"/>
                </a:solidFill>
              </a:rPr>
            </a:br>
            <a:endParaRPr lang="en-US" dirty="0"/>
          </a:p>
        </p:txBody>
      </p:sp>
      <p:sp>
        <p:nvSpPr>
          <p:cNvPr id="3" name="Subtitle 2">
            <a:extLst>
              <a:ext uri="{FF2B5EF4-FFF2-40B4-BE49-F238E27FC236}">
                <a16:creationId xmlns:a16="http://schemas.microsoft.com/office/drawing/2014/main" id="{BD1EBF52-23E9-372E-2B16-EDEA55F5B5FB}"/>
              </a:ext>
            </a:extLst>
          </p:cNvPr>
          <p:cNvSpPr>
            <a:spLocks noGrp="1"/>
          </p:cNvSpPr>
          <p:nvPr>
            <p:ph type="subTitle" idx="1"/>
          </p:nvPr>
        </p:nvSpPr>
        <p:spPr/>
        <p:txBody>
          <a:bodyPr/>
          <a:lstStyle/>
          <a:p>
            <a:r>
              <a:rPr lang="en-US" dirty="0"/>
              <a:t>04</a:t>
            </a:r>
          </a:p>
        </p:txBody>
      </p:sp>
    </p:spTree>
    <p:extLst>
      <p:ext uri="{BB962C8B-B14F-4D97-AF65-F5344CB8AC3E}">
        <p14:creationId xmlns:p14="http://schemas.microsoft.com/office/powerpoint/2010/main" val="3446758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E14705B-CBA0-8D79-51C9-B05ADB26A31B}"/>
              </a:ext>
            </a:extLst>
          </p:cNvPr>
          <p:cNvSpPr>
            <a:spLocks noGrp="1"/>
          </p:cNvSpPr>
          <p:nvPr>
            <p:ph type="body" idx="1"/>
          </p:nvPr>
        </p:nvSpPr>
        <p:spPr>
          <a:xfrm>
            <a:off x="189780" y="1648196"/>
            <a:ext cx="4155797" cy="3290433"/>
          </a:xfrm>
        </p:spPr>
        <p:txBody>
          <a:bodyPr/>
          <a:lstStyle/>
          <a:p>
            <a:pPr marL="139700" indent="0">
              <a:buNone/>
            </a:pPr>
            <a:r>
              <a:rPr lang="en-US" b="1" dirty="0"/>
              <a:t>Joint Value Proposition:</a:t>
            </a:r>
            <a:r>
              <a:rPr lang="en-US" dirty="0"/>
              <a:t> </a:t>
            </a:r>
            <a:r>
              <a:rPr lang="en-US" i="1" dirty="0"/>
              <a:t>“Accelerate Connected Banking Operations – Deloitte and </a:t>
            </a:r>
            <a:r>
              <a:rPr lang="en-US" i="1" dirty="0" err="1"/>
              <a:t>Workato</a:t>
            </a:r>
            <a:r>
              <a:rPr lang="en-US" i="1" dirty="0"/>
              <a:t> empower financial institutions to orchestrate end-to-end processes, from customer onboarding to compliance, through intelligent automation.</a:t>
            </a:r>
            <a:r>
              <a:rPr lang="en-US" dirty="0"/>
              <a:t> </a:t>
            </a:r>
            <a:r>
              <a:rPr lang="en-US" b="1" dirty="0"/>
              <a:t>Together, we combine Deloitte’s deep industry insight with </a:t>
            </a:r>
            <a:r>
              <a:rPr lang="en-US" b="1" dirty="0" err="1"/>
              <a:t>Workato’s</a:t>
            </a:r>
            <a:r>
              <a:rPr lang="en-US" b="1" dirty="0"/>
              <a:t> leading integration platform</a:t>
            </a:r>
            <a:r>
              <a:rPr lang="en-US" dirty="0"/>
              <a:t> </a:t>
            </a:r>
            <a:r>
              <a:rPr lang="en-US" i="1" dirty="0"/>
              <a:t>to drive innovation, reduce operational costs, and enhance customer experiences in banking.”</a:t>
            </a:r>
            <a:endParaRPr lang="en-US" dirty="0"/>
          </a:p>
        </p:txBody>
      </p:sp>
      <p:sp>
        <p:nvSpPr>
          <p:cNvPr id="4" name="Text Placeholder 3">
            <a:extLst>
              <a:ext uri="{FF2B5EF4-FFF2-40B4-BE49-F238E27FC236}">
                <a16:creationId xmlns:a16="http://schemas.microsoft.com/office/drawing/2014/main" id="{A179B263-4074-D412-42A6-68D15EF5E3D2}"/>
              </a:ext>
            </a:extLst>
          </p:cNvPr>
          <p:cNvSpPr>
            <a:spLocks noGrp="1"/>
          </p:cNvSpPr>
          <p:nvPr>
            <p:ph type="body" idx="2"/>
          </p:nvPr>
        </p:nvSpPr>
        <p:spPr>
          <a:xfrm>
            <a:off x="4693920" y="1648196"/>
            <a:ext cx="4260300" cy="3616336"/>
          </a:xfrm>
        </p:spPr>
        <p:txBody>
          <a:bodyPr/>
          <a:lstStyle/>
          <a:p>
            <a:pPr marL="139700" indent="0">
              <a:buNone/>
            </a:pPr>
            <a:r>
              <a:rPr lang="en-US" sz="1000" b="1" dirty="0"/>
              <a:t>Key Messages &amp; Differentiators:</a:t>
            </a:r>
            <a:r>
              <a:rPr lang="en-US" sz="1000" dirty="0"/>
              <a:t> </a:t>
            </a:r>
          </a:p>
          <a:p>
            <a:pPr marL="139700" indent="0">
              <a:buNone/>
            </a:pPr>
            <a:endParaRPr lang="en-US" sz="1000" dirty="0"/>
          </a:p>
          <a:p>
            <a:r>
              <a:rPr lang="en-US" sz="1000" b="1" dirty="0"/>
              <a:t>Industry-Tailored Solutions:</a:t>
            </a:r>
            <a:r>
              <a:rPr lang="en-US" sz="1000" dirty="0"/>
              <a:t> Pre-built automations for common banking workflows (developed from Deloitte’s best practices, powered by </a:t>
            </a:r>
            <a:r>
              <a:rPr lang="en-US" sz="1000" dirty="0" err="1"/>
              <a:t>Workato’s</a:t>
            </a:r>
            <a:r>
              <a:rPr lang="en-US" sz="1000" dirty="0"/>
              <a:t> platform).</a:t>
            </a:r>
          </a:p>
          <a:p>
            <a:r>
              <a:rPr lang="en-US" sz="1000" b="1" dirty="0"/>
              <a:t>Speed and Flexibility:</a:t>
            </a:r>
            <a:r>
              <a:rPr lang="en-US" sz="1000" dirty="0"/>
              <a:t> A low-code approach means banks can implement integrations in weeks, not months, adapting quickly to new regulations or market needs.</a:t>
            </a:r>
          </a:p>
          <a:p>
            <a:r>
              <a:rPr lang="en-US" sz="1000" b="1" dirty="0"/>
              <a:t>Compliance and Security at Scale:</a:t>
            </a:r>
            <a:r>
              <a:rPr lang="en-US" sz="1000" dirty="0"/>
              <a:t> Emphasize enterprise-grade security (</a:t>
            </a:r>
            <a:r>
              <a:rPr lang="en-US" sz="1000" dirty="0" err="1"/>
              <a:t>Workato’s</a:t>
            </a:r>
            <a:r>
              <a:rPr lang="en-US" sz="1000" dirty="0"/>
              <a:t> governance) and Deloitte’s knowledge in regulatory compliance – reassuring that automated workflows will meet audit and data privacy requirements.</a:t>
            </a:r>
          </a:p>
          <a:p>
            <a:r>
              <a:rPr lang="en-US" sz="1000" b="1" dirty="0"/>
              <a:t>Joint Support and Enablement:</a:t>
            </a:r>
            <a:r>
              <a:rPr lang="en-US" sz="1000" dirty="0"/>
              <a:t> The bank gets the “white glove” treatment – Deloitte can handle process redesign and implementation, while </a:t>
            </a:r>
            <a:r>
              <a:rPr lang="en-US" sz="1000" dirty="0" err="1"/>
              <a:t>Workato</a:t>
            </a:r>
            <a:r>
              <a:rPr lang="en-US" sz="1000" dirty="0"/>
              <a:t> ensures the technology success, providing a seamless path from strategy to execution.</a:t>
            </a:r>
          </a:p>
          <a:p>
            <a:endParaRPr lang="en-US" sz="1000" dirty="0"/>
          </a:p>
        </p:txBody>
      </p:sp>
      <p:sp>
        <p:nvSpPr>
          <p:cNvPr id="6" name="Title 5">
            <a:extLst>
              <a:ext uri="{FF2B5EF4-FFF2-40B4-BE49-F238E27FC236}">
                <a16:creationId xmlns:a16="http://schemas.microsoft.com/office/drawing/2014/main" id="{472A35A8-F6F3-0C56-1958-7AC4CEE39A6C}"/>
              </a:ext>
            </a:extLst>
          </p:cNvPr>
          <p:cNvSpPr>
            <a:spLocks noGrp="1"/>
          </p:cNvSpPr>
          <p:nvPr>
            <p:ph type="title"/>
          </p:nvPr>
        </p:nvSpPr>
        <p:spPr/>
        <p:txBody>
          <a:bodyPr/>
          <a:lstStyle/>
          <a:p>
            <a:endParaRPr lang="en-US"/>
          </a:p>
        </p:txBody>
      </p:sp>
      <p:pic>
        <p:nvPicPr>
          <p:cNvPr id="7" name="Picture 6" descr="A black and white logo&#10;&#10;AI-generated content may be incorrect.">
            <a:extLst>
              <a:ext uri="{FF2B5EF4-FFF2-40B4-BE49-F238E27FC236}">
                <a16:creationId xmlns:a16="http://schemas.microsoft.com/office/drawing/2014/main" id="{387D08E4-2106-E595-44E7-334979364C32}"/>
              </a:ext>
            </a:extLst>
          </p:cNvPr>
          <p:cNvPicPr>
            <a:picLocks noChangeAspect="1"/>
          </p:cNvPicPr>
          <p:nvPr/>
        </p:nvPicPr>
        <p:blipFill>
          <a:blip r:embed="rId3"/>
          <a:stretch>
            <a:fillRect/>
          </a:stretch>
        </p:blipFill>
        <p:spPr>
          <a:xfrm>
            <a:off x="0" y="-1"/>
            <a:ext cx="9144000" cy="1522507"/>
          </a:xfrm>
          <a:prstGeom prst="rect">
            <a:avLst/>
          </a:prstGeom>
        </p:spPr>
      </p:pic>
    </p:spTree>
    <p:extLst>
      <p:ext uri="{BB962C8B-B14F-4D97-AF65-F5344CB8AC3E}">
        <p14:creationId xmlns:p14="http://schemas.microsoft.com/office/powerpoint/2010/main" val="3341160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9A269F-7A09-3204-6313-1B6B1639E911}"/>
              </a:ext>
            </a:extLst>
          </p:cNvPr>
          <p:cNvSpPr txBox="1"/>
          <p:nvPr/>
        </p:nvSpPr>
        <p:spPr>
          <a:xfrm>
            <a:off x="1236339" y="1651671"/>
            <a:ext cx="7053942" cy="830997"/>
          </a:xfrm>
          <a:prstGeom prst="rect">
            <a:avLst/>
          </a:prstGeom>
          <a:noFill/>
        </p:spPr>
        <p:txBody>
          <a:bodyPr wrap="square">
            <a:spAutoFit/>
          </a:bodyPr>
          <a:lstStyle/>
          <a:p>
            <a:r>
              <a:rPr lang="en-US" sz="2000" b="1" dirty="0"/>
              <a:t>Automated Customer Onboarding &amp; KYC Compliance</a:t>
            </a:r>
            <a:r>
              <a:rPr lang="en-US" sz="2000" dirty="0"/>
              <a:t> </a:t>
            </a:r>
          </a:p>
          <a:p>
            <a:r>
              <a:rPr lang="en-US" dirty="0"/>
              <a:t>Banks are under pressure to deliver fast digital onboarding (as </a:t>
            </a:r>
            <a:r>
              <a:rPr lang="en-US" dirty="0" err="1"/>
              <a:t>fintechs</a:t>
            </a:r>
            <a:r>
              <a:rPr lang="en-US" dirty="0"/>
              <a:t> do) while adhering to strict Know-Your-Customer and AML regulations. </a:t>
            </a:r>
          </a:p>
        </p:txBody>
      </p:sp>
      <p:sp>
        <p:nvSpPr>
          <p:cNvPr id="5" name="TextBox 4">
            <a:extLst>
              <a:ext uri="{FF2B5EF4-FFF2-40B4-BE49-F238E27FC236}">
                <a16:creationId xmlns:a16="http://schemas.microsoft.com/office/drawing/2014/main" id="{28FE58E7-6A10-7D13-5BA0-5560F7021D4E}"/>
              </a:ext>
            </a:extLst>
          </p:cNvPr>
          <p:cNvSpPr txBox="1"/>
          <p:nvPr/>
        </p:nvSpPr>
        <p:spPr>
          <a:xfrm>
            <a:off x="1236339" y="2660832"/>
            <a:ext cx="6778171" cy="830997"/>
          </a:xfrm>
          <a:prstGeom prst="rect">
            <a:avLst/>
          </a:prstGeom>
          <a:noFill/>
        </p:spPr>
        <p:txBody>
          <a:bodyPr wrap="square">
            <a:spAutoFit/>
          </a:bodyPr>
          <a:lstStyle/>
          <a:p>
            <a:r>
              <a:rPr lang="en-US" sz="2000" b="1" dirty="0"/>
              <a:t>Loan Processing and Credit Decisioning Automation</a:t>
            </a:r>
            <a:r>
              <a:rPr lang="en-US" sz="2000" dirty="0"/>
              <a:t> </a:t>
            </a:r>
          </a:p>
          <a:p>
            <a:r>
              <a:rPr lang="en-US" dirty="0"/>
              <a:t>Demand for quick credit (e.g. instant loan approvals, buy-now-pay-later) means banks must streamline loan origination.</a:t>
            </a:r>
          </a:p>
        </p:txBody>
      </p:sp>
      <p:sp>
        <p:nvSpPr>
          <p:cNvPr id="7" name="TextBox 6">
            <a:extLst>
              <a:ext uri="{FF2B5EF4-FFF2-40B4-BE49-F238E27FC236}">
                <a16:creationId xmlns:a16="http://schemas.microsoft.com/office/drawing/2014/main" id="{24BAF626-2F45-6186-573A-0322FDC3BD9B}"/>
              </a:ext>
            </a:extLst>
          </p:cNvPr>
          <p:cNvSpPr txBox="1"/>
          <p:nvPr/>
        </p:nvSpPr>
        <p:spPr>
          <a:xfrm>
            <a:off x="1236339" y="3669993"/>
            <a:ext cx="6778171" cy="830997"/>
          </a:xfrm>
          <a:prstGeom prst="rect">
            <a:avLst/>
          </a:prstGeom>
          <a:noFill/>
        </p:spPr>
        <p:txBody>
          <a:bodyPr wrap="square">
            <a:spAutoFit/>
          </a:bodyPr>
          <a:lstStyle/>
          <a:p>
            <a:r>
              <a:rPr lang="en-US" sz="2000" b="1" dirty="0"/>
              <a:t>Regulatory Reporting &amp; Data Reconciliation</a:t>
            </a:r>
            <a:r>
              <a:rPr lang="en-US" sz="2000" dirty="0"/>
              <a:t> </a:t>
            </a:r>
          </a:p>
          <a:p>
            <a:r>
              <a:rPr lang="en-US" dirty="0"/>
              <a:t>Financial institutions face increasing reporting mandates (e.g. GDPR, Basel III, ESG reports). Manual data gathering from siloed systems is error-prone and slow</a:t>
            </a:r>
          </a:p>
        </p:txBody>
      </p:sp>
      <p:sp>
        <p:nvSpPr>
          <p:cNvPr id="8" name="Title 1">
            <a:extLst>
              <a:ext uri="{FF2B5EF4-FFF2-40B4-BE49-F238E27FC236}">
                <a16:creationId xmlns:a16="http://schemas.microsoft.com/office/drawing/2014/main" id="{E5B0DCDF-B383-BEAF-9814-33036FDAF723}"/>
              </a:ext>
            </a:extLst>
          </p:cNvPr>
          <p:cNvSpPr txBox="1">
            <a:spLocks/>
          </p:cNvSpPr>
          <p:nvPr/>
        </p:nvSpPr>
        <p:spPr>
          <a:xfrm>
            <a:off x="365125" y="263203"/>
            <a:ext cx="8520600" cy="572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dirty="0"/>
              <a:t>Deloitte + </a:t>
            </a:r>
            <a:r>
              <a:rPr lang="en-US" sz="2800" dirty="0" err="1"/>
              <a:t>Workato</a:t>
            </a:r>
            <a:r>
              <a:rPr lang="en-US" sz="2800" dirty="0"/>
              <a:t> banking solutions</a:t>
            </a:r>
          </a:p>
        </p:txBody>
      </p:sp>
      <p:pic>
        <p:nvPicPr>
          <p:cNvPr id="10" name="Picture 9" descr="A black and white logo&#10;&#10;AI-generated content may be incorrect.">
            <a:extLst>
              <a:ext uri="{FF2B5EF4-FFF2-40B4-BE49-F238E27FC236}">
                <a16:creationId xmlns:a16="http://schemas.microsoft.com/office/drawing/2014/main" id="{8463B58E-BF76-C575-13A5-10BE5F6C9F5F}"/>
              </a:ext>
            </a:extLst>
          </p:cNvPr>
          <p:cNvPicPr>
            <a:picLocks noChangeAspect="1"/>
          </p:cNvPicPr>
          <p:nvPr/>
        </p:nvPicPr>
        <p:blipFill>
          <a:blip r:embed="rId3"/>
          <a:stretch>
            <a:fillRect/>
          </a:stretch>
        </p:blipFill>
        <p:spPr>
          <a:xfrm>
            <a:off x="0" y="-1"/>
            <a:ext cx="9144000" cy="1522507"/>
          </a:xfrm>
          <a:prstGeom prst="rect">
            <a:avLst/>
          </a:prstGeom>
        </p:spPr>
      </p:pic>
    </p:spTree>
    <p:extLst>
      <p:ext uri="{BB962C8B-B14F-4D97-AF65-F5344CB8AC3E}">
        <p14:creationId xmlns:p14="http://schemas.microsoft.com/office/powerpoint/2010/main" val="847618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3" name="Google Shape;146;p23">
            <a:extLst>
              <a:ext uri="{FF2B5EF4-FFF2-40B4-BE49-F238E27FC236}">
                <a16:creationId xmlns:a16="http://schemas.microsoft.com/office/drawing/2014/main" id="{0384D9EA-31F9-EB00-2A14-02D3A73A6D42}"/>
              </a:ext>
            </a:extLst>
          </p:cNvPr>
          <p:cNvPicPr preferRelativeResize="0"/>
          <p:nvPr/>
        </p:nvPicPr>
        <p:blipFill>
          <a:blip r:embed="rId3">
            <a:alphaModFix/>
          </a:blip>
          <a:stretch>
            <a:fillRect/>
          </a:stretch>
        </p:blipFill>
        <p:spPr>
          <a:xfrm>
            <a:off x="201185" y="1285707"/>
            <a:ext cx="3825545" cy="2271935"/>
          </a:xfrm>
          <a:prstGeom prst="rect">
            <a:avLst/>
          </a:prstGeom>
          <a:noFill/>
          <a:ln>
            <a:noFill/>
          </a:ln>
        </p:spPr>
      </p:pic>
      <p:pic>
        <p:nvPicPr>
          <p:cNvPr id="182" name="Google Shape;182;p27"/>
          <p:cNvPicPr preferRelativeResize="0"/>
          <p:nvPr/>
        </p:nvPicPr>
        <p:blipFill>
          <a:blip r:embed="rId4">
            <a:alphaModFix/>
          </a:blip>
          <a:stretch>
            <a:fillRect/>
          </a:stretch>
        </p:blipFill>
        <p:spPr>
          <a:xfrm>
            <a:off x="-179822" y="1157115"/>
            <a:ext cx="4646550" cy="2594665"/>
          </a:xfrm>
          <a:prstGeom prst="rect">
            <a:avLst/>
          </a:prstGeom>
          <a:noFill/>
          <a:ln>
            <a:noFill/>
          </a:ln>
        </p:spPr>
      </p:pic>
      <p:sp>
        <p:nvSpPr>
          <p:cNvPr id="4" name="TextBox 3">
            <a:extLst>
              <a:ext uri="{FF2B5EF4-FFF2-40B4-BE49-F238E27FC236}">
                <a16:creationId xmlns:a16="http://schemas.microsoft.com/office/drawing/2014/main" id="{66698098-6BCD-7C3D-A12A-51BF48DA98C0}"/>
              </a:ext>
            </a:extLst>
          </p:cNvPr>
          <p:cNvSpPr txBox="1"/>
          <p:nvPr/>
        </p:nvSpPr>
        <p:spPr>
          <a:xfrm>
            <a:off x="281998" y="300669"/>
            <a:ext cx="4539343" cy="523220"/>
          </a:xfrm>
          <a:prstGeom prst="rect">
            <a:avLst/>
          </a:prstGeom>
          <a:noFill/>
        </p:spPr>
        <p:txBody>
          <a:bodyPr wrap="square" rtlCol="0">
            <a:spAutoFit/>
          </a:bodyPr>
          <a:lstStyle/>
          <a:p>
            <a:r>
              <a:rPr lang="en-US" sz="2800" dirty="0"/>
              <a:t>Partner Campaign </a:t>
            </a:r>
          </a:p>
        </p:txBody>
      </p:sp>
      <p:sp>
        <p:nvSpPr>
          <p:cNvPr id="5" name="Text Placeholder 1">
            <a:extLst>
              <a:ext uri="{FF2B5EF4-FFF2-40B4-BE49-F238E27FC236}">
                <a16:creationId xmlns:a16="http://schemas.microsoft.com/office/drawing/2014/main" id="{0FFA7596-3C8D-90BD-28A1-E01C878CD47D}"/>
              </a:ext>
            </a:extLst>
          </p:cNvPr>
          <p:cNvSpPr txBox="1">
            <a:spLocks/>
          </p:cNvSpPr>
          <p:nvPr/>
        </p:nvSpPr>
        <p:spPr>
          <a:xfrm>
            <a:off x="501885" y="937797"/>
            <a:ext cx="3290481" cy="2771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Webinar (live then on –demand)</a:t>
            </a:r>
          </a:p>
        </p:txBody>
      </p:sp>
      <p:sp>
        <p:nvSpPr>
          <p:cNvPr id="6" name="Rectangle 5">
            <a:extLst>
              <a:ext uri="{FF2B5EF4-FFF2-40B4-BE49-F238E27FC236}">
                <a16:creationId xmlns:a16="http://schemas.microsoft.com/office/drawing/2014/main" id="{4704B204-6947-799E-8051-A360678AA368}"/>
              </a:ext>
            </a:extLst>
          </p:cNvPr>
          <p:cNvSpPr/>
          <p:nvPr/>
        </p:nvSpPr>
        <p:spPr>
          <a:xfrm>
            <a:off x="2569843" y="3429666"/>
            <a:ext cx="1323641" cy="1539497"/>
          </a:xfrm>
          <a:prstGeom prst="rect">
            <a:avLst/>
          </a:prstGeom>
          <a:solidFill>
            <a:srgbClr val="67EADD"/>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D4D0C7E-C7AB-C92E-1B1D-79C5F8E75C47}"/>
              </a:ext>
            </a:extLst>
          </p:cNvPr>
          <p:cNvSpPr/>
          <p:nvPr/>
        </p:nvSpPr>
        <p:spPr>
          <a:xfrm>
            <a:off x="2571192" y="3740727"/>
            <a:ext cx="1302327" cy="1102104"/>
          </a:xfrm>
          <a:prstGeom prst="rect">
            <a:avLst/>
          </a:prstGeom>
          <a:solidFill>
            <a:schemeClr val="bg1"/>
          </a:solidFill>
          <a:ln w="0">
            <a:solidFill>
              <a:srgbClr val="67EA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72F5A79C-BA2C-44F4-8E3F-D51041933255}"/>
              </a:ext>
            </a:extLst>
          </p:cNvPr>
          <p:cNvCxnSpPr/>
          <p:nvPr/>
        </p:nvCxnSpPr>
        <p:spPr>
          <a:xfrm>
            <a:off x="2724727" y="3971636"/>
            <a:ext cx="1034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FCAB34-438B-5443-6FE0-AFA545000BE2}"/>
              </a:ext>
            </a:extLst>
          </p:cNvPr>
          <p:cNvCxnSpPr/>
          <p:nvPr/>
        </p:nvCxnSpPr>
        <p:spPr>
          <a:xfrm>
            <a:off x="2724727" y="4124036"/>
            <a:ext cx="1034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CE5C9FA-6060-D122-B11F-78D11E299248}"/>
              </a:ext>
            </a:extLst>
          </p:cNvPr>
          <p:cNvCxnSpPr/>
          <p:nvPr/>
        </p:nvCxnSpPr>
        <p:spPr>
          <a:xfrm>
            <a:off x="2724727" y="4287283"/>
            <a:ext cx="1034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D53326-95F0-AC25-367B-2EC2B36C0FEA}"/>
              </a:ext>
            </a:extLst>
          </p:cNvPr>
          <p:cNvCxnSpPr/>
          <p:nvPr/>
        </p:nvCxnSpPr>
        <p:spPr>
          <a:xfrm>
            <a:off x="2724727" y="4428836"/>
            <a:ext cx="1034472"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Placeholder 1">
            <a:extLst>
              <a:ext uri="{FF2B5EF4-FFF2-40B4-BE49-F238E27FC236}">
                <a16:creationId xmlns:a16="http://schemas.microsoft.com/office/drawing/2014/main" id="{AEBFAB29-40D6-F47A-FF4A-AB87B4E1531E}"/>
              </a:ext>
            </a:extLst>
          </p:cNvPr>
          <p:cNvSpPr txBox="1">
            <a:spLocks/>
          </p:cNvSpPr>
          <p:nvPr/>
        </p:nvSpPr>
        <p:spPr>
          <a:xfrm>
            <a:off x="736249" y="4030830"/>
            <a:ext cx="3290481" cy="2771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Whitepaper : POV </a:t>
            </a:r>
          </a:p>
        </p:txBody>
      </p:sp>
      <p:grpSp>
        <p:nvGrpSpPr>
          <p:cNvPr id="22" name="Group 21">
            <a:extLst>
              <a:ext uri="{FF2B5EF4-FFF2-40B4-BE49-F238E27FC236}">
                <a16:creationId xmlns:a16="http://schemas.microsoft.com/office/drawing/2014/main" id="{71D7399D-3C4F-CC15-CBDB-6EF119C761CC}"/>
              </a:ext>
            </a:extLst>
          </p:cNvPr>
          <p:cNvGrpSpPr/>
          <p:nvPr/>
        </p:nvGrpSpPr>
        <p:grpSpPr>
          <a:xfrm>
            <a:off x="4433638" y="1265132"/>
            <a:ext cx="4710362" cy="3440835"/>
            <a:chOff x="4433638" y="1265132"/>
            <a:chExt cx="4710362" cy="3440835"/>
          </a:xfrm>
        </p:grpSpPr>
        <p:pic>
          <p:nvPicPr>
            <p:cNvPr id="181" name="Google Shape;181;p27"/>
            <p:cNvPicPr preferRelativeResize="0"/>
            <p:nvPr/>
          </p:nvPicPr>
          <p:blipFill>
            <a:blip r:embed="rId5">
              <a:alphaModFix/>
            </a:blip>
            <a:stretch>
              <a:fillRect/>
            </a:stretch>
          </p:blipFill>
          <p:spPr>
            <a:xfrm>
              <a:off x="4957925" y="1265132"/>
              <a:ext cx="4186075" cy="3022151"/>
            </a:xfrm>
            <a:prstGeom prst="rect">
              <a:avLst/>
            </a:prstGeom>
            <a:noFill/>
            <a:ln>
              <a:noFill/>
            </a:ln>
          </p:spPr>
        </p:pic>
        <p:sp>
          <p:nvSpPr>
            <p:cNvPr id="15" name="Arrow: Left 14">
              <a:extLst>
                <a:ext uri="{FF2B5EF4-FFF2-40B4-BE49-F238E27FC236}">
                  <a16:creationId xmlns:a16="http://schemas.microsoft.com/office/drawing/2014/main" id="{73F0D351-8803-0EAC-8268-C5B5E62DA6FA}"/>
                </a:ext>
              </a:extLst>
            </p:cNvPr>
            <p:cNvSpPr/>
            <p:nvPr/>
          </p:nvSpPr>
          <p:spPr>
            <a:xfrm rot="10800000">
              <a:off x="4433638" y="1982911"/>
              <a:ext cx="479926" cy="1386688"/>
            </a:xfrm>
            <a:prstGeom prst="leftArrow">
              <a:avLst/>
            </a:prstGeom>
            <a:solidFill>
              <a:srgbClr val="67EA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50812AD-CBD3-B93C-492B-A0B4CE0DEE93}"/>
                </a:ext>
              </a:extLst>
            </p:cNvPr>
            <p:cNvSpPr/>
            <p:nvPr/>
          </p:nvSpPr>
          <p:spPr>
            <a:xfrm>
              <a:off x="5501412" y="1710577"/>
              <a:ext cx="1237957" cy="917445"/>
            </a:xfrm>
            <a:prstGeom prst="rect">
              <a:avLst/>
            </a:prstGeom>
            <a:solidFill>
              <a:schemeClr val="bg1"/>
            </a:solidFill>
            <a:ln w="0">
              <a:solidFill>
                <a:srgbClr val="67EA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Blogs</a:t>
              </a:r>
            </a:p>
          </p:txBody>
        </p:sp>
        <p:sp>
          <p:nvSpPr>
            <p:cNvPr id="17" name="Rectangle 16">
              <a:extLst>
                <a:ext uri="{FF2B5EF4-FFF2-40B4-BE49-F238E27FC236}">
                  <a16:creationId xmlns:a16="http://schemas.microsoft.com/office/drawing/2014/main" id="{943F2862-F237-64AD-8C74-195F0688FD3D}"/>
                </a:ext>
              </a:extLst>
            </p:cNvPr>
            <p:cNvSpPr/>
            <p:nvPr/>
          </p:nvSpPr>
          <p:spPr>
            <a:xfrm>
              <a:off x="5507971" y="2736166"/>
              <a:ext cx="1237957" cy="917445"/>
            </a:xfrm>
            <a:prstGeom prst="rect">
              <a:avLst/>
            </a:prstGeom>
            <a:solidFill>
              <a:schemeClr val="bg1"/>
            </a:solidFill>
            <a:ln w="0">
              <a:solidFill>
                <a:srgbClr val="67EA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Ebooks</a:t>
              </a:r>
              <a:endParaRPr lang="en-US" dirty="0">
                <a:solidFill>
                  <a:schemeClr val="tx1"/>
                </a:solidFill>
              </a:endParaRPr>
            </a:p>
          </p:txBody>
        </p:sp>
        <p:sp>
          <p:nvSpPr>
            <p:cNvPr id="18" name="Rectangle 17">
              <a:extLst>
                <a:ext uri="{FF2B5EF4-FFF2-40B4-BE49-F238E27FC236}">
                  <a16:creationId xmlns:a16="http://schemas.microsoft.com/office/drawing/2014/main" id="{AA98265C-EE02-BF16-7DA6-16C402E5CB6B}"/>
                </a:ext>
              </a:extLst>
            </p:cNvPr>
            <p:cNvSpPr/>
            <p:nvPr/>
          </p:nvSpPr>
          <p:spPr>
            <a:xfrm>
              <a:off x="6956474" y="1703543"/>
              <a:ext cx="1237957" cy="917445"/>
            </a:xfrm>
            <a:prstGeom prst="rect">
              <a:avLst/>
            </a:prstGeom>
            <a:solidFill>
              <a:schemeClr val="bg1"/>
            </a:solidFill>
            <a:ln w="0">
              <a:solidFill>
                <a:srgbClr val="67EA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Social video</a:t>
              </a:r>
            </a:p>
          </p:txBody>
        </p:sp>
        <p:sp>
          <p:nvSpPr>
            <p:cNvPr id="19" name="Rectangle 18">
              <a:extLst>
                <a:ext uri="{FF2B5EF4-FFF2-40B4-BE49-F238E27FC236}">
                  <a16:creationId xmlns:a16="http://schemas.microsoft.com/office/drawing/2014/main" id="{766437CA-1DD6-8511-F8DE-16409272ACF9}"/>
                </a:ext>
              </a:extLst>
            </p:cNvPr>
            <p:cNvSpPr/>
            <p:nvPr/>
          </p:nvSpPr>
          <p:spPr>
            <a:xfrm>
              <a:off x="6963187" y="2736166"/>
              <a:ext cx="1237957" cy="917445"/>
            </a:xfrm>
            <a:prstGeom prst="rect">
              <a:avLst/>
            </a:prstGeom>
            <a:solidFill>
              <a:schemeClr val="bg1"/>
            </a:solidFill>
            <a:ln w="0">
              <a:solidFill>
                <a:srgbClr val="67EA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Sales emails</a:t>
              </a:r>
            </a:p>
          </p:txBody>
        </p:sp>
        <p:sp>
          <p:nvSpPr>
            <p:cNvPr id="20" name="Rectangle 19">
              <a:extLst>
                <a:ext uri="{FF2B5EF4-FFF2-40B4-BE49-F238E27FC236}">
                  <a16:creationId xmlns:a16="http://schemas.microsoft.com/office/drawing/2014/main" id="{12142AD2-942B-FDCC-CB8C-AFAB3BECC4B0}"/>
                </a:ext>
              </a:extLst>
            </p:cNvPr>
            <p:cNvSpPr/>
            <p:nvPr/>
          </p:nvSpPr>
          <p:spPr>
            <a:xfrm>
              <a:off x="5501258" y="3788522"/>
              <a:ext cx="1237957" cy="917445"/>
            </a:xfrm>
            <a:prstGeom prst="rect">
              <a:avLst/>
            </a:prstGeom>
            <a:solidFill>
              <a:schemeClr val="bg1"/>
            </a:solidFill>
            <a:ln w="6350">
              <a:solidFill>
                <a:srgbClr val="67EADD"/>
              </a:solidFill>
            </a:ln>
            <a:effectLst>
              <a:outerShdw dist="127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Roadshow</a:t>
              </a:r>
            </a:p>
          </p:txBody>
        </p:sp>
        <p:sp>
          <p:nvSpPr>
            <p:cNvPr id="21" name="Rectangle 20">
              <a:extLst>
                <a:ext uri="{FF2B5EF4-FFF2-40B4-BE49-F238E27FC236}">
                  <a16:creationId xmlns:a16="http://schemas.microsoft.com/office/drawing/2014/main" id="{54A9696F-ED61-56D1-CB16-F8CFD1AD6D00}"/>
                </a:ext>
              </a:extLst>
            </p:cNvPr>
            <p:cNvSpPr/>
            <p:nvPr/>
          </p:nvSpPr>
          <p:spPr>
            <a:xfrm>
              <a:off x="6956474" y="3788522"/>
              <a:ext cx="1237957" cy="917445"/>
            </a:xfrm>
            <a:prstGeom prst="rect">
              <a:avLst/>
            </a:prstGeom>
            <a:solidFill>
              <a:schemeClr val="bg1"/>
            </a:solidFill>
            <a:ln w="6350">
              <a:solidFill>
                <a:srgbClr val="67EADD"/>
              </a:solidFill>
            </a:ln>
            <a:effectLst>
              <a:outerShdw dist="127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CC97-9064-F91C-712A-381196767F53}"/>
              </a:ext>
            </a:extLst>
          </p:cNvPr>
          <p:cNvSpPr>
            <a:spLocks noGrp="1"/>
          </p:cNvSpPr>
          <p:nvPr>
            <p:ph type="title"/>
          </p:nvPr>
        </p:nvSpPr>
        <p:spPr>
          <a:xfrm>
            <a:off x="365125" y="392731"/>
            <a:ext cx="8520600" cy="572700"/>
          </a:xfrm>
        </p:spPr>
        <p:txBody>
          <a:bodyPr/>
          <a:lstStyle/>
          <a:p>
            <a:r>
              <a:rPr lang="en-US" dirty="0"/>
              <a:t>Sales enablement</a:t>
            </a:r>
          </a:p>
        </p:txBody>
      </p:sp>
      <p:pic>
        <p:nvPicPr>
          <p:cNvPr id="5" name="Picture 4" descr="A close-up of a document&#10;&#10;AI-generated content may be incorrect.">
            <a:extLst>
              <a:ext uri="{FF2B5EF4-FFF2-40B4-BE49-F238E27FC236}">
                <a16:creationId xmlns:a16="http://schemas.microsoft.com/office/drawing/2014/main" id="{BA8805CD-6D4A-2CE4-A870-0287BCC599B2}"/>
              </a:ext>
            </a:extLst>
          </p:cNvPr>
          <p:cNvPicPr>
            <a:picLocks noChangeAspect="1"/>
          </p:cNvPicPr>
          <p:nvPr/>
        </p:nvPicPr>
        <p:blipFill>
          <a:blip r:embed="rId3"/>
          <a:stretch>
            <a:fillRect/>
          </a:stretch>
        </p:blipFill>
        <p:spPr>
          <a:xfrm rot="21133193">
            <a:off x="3030946" y="860534"/>
            <a:ext cx="3058580" cy="3950166"/>
          </a:xfrm>
          <a:prstGeom prst="rect">
            <a:avLst/>
          </a:prstGeom>
          <a:effectLst>
            <a:outerShdw blurRad="50800" dist="38100" dir="5400000" algn="t" rotWithShape="0">
              <a:prstClr val="black">
                <a:alpha val="40000"/>
              </a:prstClr>
            </a:outerShdw>
          </a:effectLst>
        </p:spPr>
      </p:pic>
      <p:pic>
        <p:nvPicPr>
          <p:cNvPr id="7" name="Picture 6" descr="A blue and white document with text&#10;&#10;AI-generated content may be incorrect.">
            <a:extLst>
              <a:ext uri="{FF2B5EF4-FFF2-40B4-BE49-F238E27FC236}">
                <a16:creationId xmlns:a16="http://schemas.microsoft.com/office/drawing/2014/main" id="{17DB5802-23F9-F184-7EE9-E401154FF6B3}"/>
              </a:ext>
            </a:extLst>
          </p:cNvPr>
          <p:cNvPicPr>
            <a:picLocks noChangeAspect="1"/>
          </p:cNvPicPr>
          <p:nvPr/>
        </p:nvPicPr>
        <p:blipFill>
          <a:blip r:embed="rId4"/>
          <a:stretch>
            <a:fillRect/>
          </a:stretch>
        </p:blipFill>
        <p:spPr>
          <a:xfrm rot="784726">
            <a:off x="5440443" y="422185"/>
            <a:ext cx="3182979" cy="4125775"/>
          </a:xfrm>
          <a:prstGeom prst="rect">
            <a:avLst/>
          </a:prstGeom>
          <a:effectLst>
            <a:outerShdw blurRad="50800" dist="38100" dir="5400000" algn="t" rotWithShape="0">
              <a:prstClr val="black">
                <a:alpha val="40000"/>
              </a:prstClr>
            </a:outerShdw>
          </a:effectLst>
        </p:spPr>
      </p:pic>
      <p:pic>
        <p:nvPicPr>
          <p:cNvPr id="8" name="Google Shape;146;p23">
            <a:extLst>
              <a:ext uri="{FF2B5EF4-FFF2-40B4-BE49-F238E27FC236}">
                <a16:creationId xmlns:a16="http://schemas.microsoft.com/office/drawing/2014/main" id="{4D25F53F-3078-FCE9-7CCA-860A27A73A74}"/>
              </a:ext>
            </a:extLst>
          </p:cNvPr>
          <p:cNvPicPr preferRelativeResize="0"/>
          <p:nvPr/>
        </p:nvPicPr>
        <p:blipFill>
          <a:blip r:embed="rId5">
            <a:alphaModFix/>
          </a:blip>
          <a:stretch>
            <a:fillRect/>
          </a:stretch>
        </p:blipFill>
        <p:spPr>
          <a:xfrm>
            <a:off x="382093" y="2835617"/>
            <a:ext cx="2444372" cy="1451677"/>
          </a:xfrm>
          <a:prstGeom prst="rect">
            <a:avLst/>
          </a:prstGeom>
          <a:noFill/>
          <a:ln>
            <a:noFill/>
          </a:ln>
        </p:spPr>
      </p:pic>
      <p:sp>
        <p:nvSpPr>
          <p:cNvPr id="9" name="Rectangle 8">
            <a:extLst>
              <a:ext uri="{FF2B5EF4-FFF2-40B4-BE49-F238E27FC236}">
                <a16:creationId xmlns:a16="http://schemas.microsoft.com/office/drawing/2014/main" id="{5826D33A-1458-7C42-7883-A018F2F4DCB3}"/>
              </a:ext>
            </a:extLst>
          </p:cNvPr>
          <p:cNvSpPr/>
          <p:nvPr/>
        </p:nvSpPr>
        <p:spPr>
          <a:xfrm>
            <a:off x="1033351" y="1603010"/>
            <a:ext cx="915008" cy="1064225"/>
          </a:xfrm>
          <a:prstGeom prst="rect">
            <a:avLst/>
          </a:prstGeom>
          <a:solidFill>
            <a:srgbClr val="67EADD"/>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76E59DB-89A4-978E-8981-969D51C9D69C}"/>
              </a:ext>
            </a:extLst>
          </p:cNvPr>
          <p:cNvSpPr/>
          <p:nvPr/>
        </p:nvSpPr>
        <p:spPr>
          <a:xfrm>
            <a:off x="1034700" y="1779039"/>
            <a:ext cx="900274" cy="761864"/>
          </a:xfrm>
          <a:prstGeom prst="rect">
            <a:avLst/>
          </a:prstGeom>
          <a:solidFill>
            <a:schemeClr val="bg1"/>
          </a:solidFill>
          <a:ln w="0">
            <a:solidFill>
              <a:srgbClr val="67EA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99D454FC-DE9F-14E0-5B52-08C852FAFFC0}"/>
              </a:ext>
            </a:extLst>
          </p:cNvPr>
          <p:cNvCxnSpPr>
            <a:cxnSpLocks/>
          </p:cNvCxnSpPr>
          <p:nvPr/>
        </p:nvCxnSpPr>
        <p:spPr>
          <a:xfrm>
            <a:off x="1218215" y="1914657"/>
            <a:ext cx="434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7E09F9-F76D-18D9-AD5D-F887FD0F3E1C}"/>
              </a:ext>
            </a:extLst>
          </p:cNvPr>
          <p:cNvCxnSpPr>
            <a:cxnSpLocks/>
          </p:cNvCxnSpPr>
          <p:nvPr/>
        </p:nvCxnSpPr>
        <p:spPr>
          <a:xfrm>
            <a:off x="1218215" y="2067057"/>
            <a:ext cx="434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052B5B-765E-069F-9E9F-B29F4E418516}"/>
              </a:ext>
            </a:extLst>
          </p:cNvPr>
          <p:cNvCxnSpPr>
            <a:cxnSpLocks/>
          </p:cNvCxnSpPr>
          <p:nvPr/>
        </p:nvCxnSpPr>
        <p:spPr>
          <a:xfrm>
            <a:off x="1218215" y="2230304"/>
            <a:ext cx="434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D10CCF4-E791-C4B7-452B-C048359014A4}"/>
              </a:ext>
            </a:extLst>
          </p:cNvPr>
          <p:cNvCxnSpPr>
            <a:cxnSpLocks/>
          </p:cNvCxnSpPr>
          <p:nvPr/>
        </p:nvCxnSpPr>
        <p:spPr>
          <a:xfrm>
            <a:off x="1218215" y="2371857"/>
            <a:ext cx="434226"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79C7A04-500C-F388-0DDC-D28B9438D585}"/>
              </a:ext>
            </a:extLst>
          </p:cNvPr>
          <p:cNvSpPr/>
          <p:nvPr/>
        </p:nvSpPr>
        <p:spPr>
          <a:xfrm>
            <a:off x="710396" y="1307632"/>
            <a:ext cx="915008" cy="1064225"/>
          </a:xfrm>
          <a:prstGeom prst="rect">
            <a:avLst/>
          </a:prstGeom>
          <a:solidFill>
            <a:srgbClr val="67EADD"/>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B43A1BE5-DF8A-E61D-9871-1977D9B12432}"/>
              </a:ext>
            </a:extLst>
          </p:cNvPr>
          <p:cNvSpPr/>
          <p:nvPr/>
        </p:nvSpPr>
        <p:spPr>
          <a:xfrm>
            <a:off x="711745" y="1483661"/>
            <a:ext cx="900274" cy="761864"/>
          </a:xfrm>
          <a:prstGeom prst="rect">
            <a:avLst/>
          </a:prstGeom>
          <a:solidFill>
            <a:schemeClr val="bg1"/>
          </a:solidFill>
          <a:ln w="0">
            <a:solidFill>
              <a:srgbClr val="67EA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B09F5545-020C-1163-B7B3-BE965043662A}"/>
              </a:ext>
            </a:extLst>
          </p:cNvPr>
          <p:cNvCxnSpPr>
            <a:cxnSpLocks/>
          </p:cNvCxnSpPr>
          <p:nvPr/>
        </p:nvCxnSpPr>
        <p:spPr>
          <a:xfrm>
            <a:off x="895260" y="1619279"/>
            <a:ext cx="434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039BEC3-5EFD-36AB-CF16-F52ECDB878F3}"/>
              </a:ext>
            </a:extLst>
          </p:cNvPr>
          <p:cNvCxnSpPr>
            <a:cxnSpLocks/>
          </p:cNvCxnSpPr>
          <p:nvPr/>
        </p:nvCxnSpPr>
        <p:spPr>
          <a:xfrm>
            <a:off x="895260" y="1771679"/>
            <a:ext cx="434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2CF6E32-25B0-E87D-D68F-C336B21742DB}"/>
              </a:ext>
            </a:extLst>
          </p:cNvPr>
          <p:cNvCxnSpPr>
            <a:cxnSpLocks/>
          </p:cNvCxnSpPr>
          <p:nvPr/>
        </p:nvCxnSpPr>
        <p:spPr>
          <a:xfrm>
            <a:off x="895260" y="1934926"/>
            <a:ext cx="434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B7BB831-EA9A-D9EB-5294-4837CF1F5473}"/>
              </a:ext>
            </a:extLst>
          </p:cNvPr>
          <p:cNvCxnSpPr>
            <a:cxnSpLocks/>
          </p:cNvCxnSpPr>
          <p:nvPr/>
        </p:nvCxnSpPr>
        <p:spPr>
          <a:xfrm>
            <a:off x="895260" y="2076479"/>
            <a:ext cx="43422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 Placeholder 1">
            <a:extLst>
              <a:ext uri="{FF2B5EF4-FFF2-40B4-BE49-F238E27FC236}">
                <a16:creationId xmlns:a16="http://schemas.microsoft.com/office/drawing/2014/main" id="{AC4410CE-0886-6288-D88B-FD55A80DF622}"/>
              </a:ext>
            </a:extLst>
          </p:cNvPr>
          <p:cNvSpPr txBox="1">
            <a:spLocks/>
          </p:cNvSpPr>
          <p:nvPr/>
        </p:nvSpPr>
        <p:spPr>
          <a:xfrm>
            <a:off x="526034" y="920705"/>
            <a:ext cx="1917605" cy="307926"/>
          </a:xfrm>
          <a:prstGeom prst="rect">
            <a:avLst/>
          </a:prstGeom>
          <a:solidFill>
            <a:srgbClr val="67EADD"/>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emails</a:t>
            </a:r>
          </a:p>
        </p:txBody>
      </p:sp>
      <p:sp>
        <p:nvSpPr>
          <p:cNvPr id="27" name="Text Placeholder 1">
            <a:extLst>
              <a:ext uri="{FF2B5EF4-FFF2-40B4-BE49-F238E27FC236}">
                <a16:creationId xmlns:a16="http://schemas.microsoft.com/office/drawing/2014/main" id="{794AB5B1-6FA7-FDFE-ABFA-456EA4016CC6}"/>
              </a:ext>
            </a:extLst>
          </p:cNvPr>
          <p:cNvSpPr txBox="1">
            <a:spLocks/>
          </p:cNvSpPr>
          <p:nvPr/>
        </p:nvSpPr>
        <p:spPr>
          <a:xfrm>
            <a:off x="1506473" y="3404229"/>
            <a:ext cx="1390110" cy="294714"/>
          </a:xfrm>
          <a:prstGeom prst="rect">
            <a:avLst/>
          </a:prstGeom>
          <a:solidFill>
            <a:srgbClr val="67EADD"/>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Video training</a:t>
            </a:r>
          </a:p>
        </p:txBody>
      </p:sp>
      <p:sp>
        <p:nvSpPr>
          <p:cNvPr id="28" name="Text Placeholder 1">
            <a:extLst>
              <a:ext uri="{FF2B5EF4-FFF2-40B4-BE49-F238E27FC236}">
                <a16:creationId xmlns:a16="http://schemas.microsoft.com/office/drawing/2014/main" id="{9FEB3B7D-BCF4-F716-7FFA-2C9F89A10BA2}"/>
              </a:ext>
            </a:extLst>
          </p:cNvPr>
          <p:cNvSpPr txBox="1">
            <a:spLocks/>
          </p:cNvSpPr>
          <p:nvPr/>
        </p:nvSpPr>
        <p:spPr>
          <a:xfrm>
            <a:off x="5915222" y="4601953"/>
            <a:ext cx="1523221" cy="297632"/>
          </a:xfrm>
          <a:prstGeom prst="rect">
            <a:avLst/>
          </a:prstGeom>
          <a:solidFill>
            <a:srgbClr val="67EADD"/>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One pagers</a:t>
            </a:r>
          </a:p>
        </p:txBody>
      </p:sp>
    </p:spTree>
    <p:extLst>
      <p:ext uri="{BB962C8B-B14F-4D97-AF65-F5344CB8AC3E}">
        <p14:creationId xmlns:p14="http://schemas.microsoft.com/office/powerpoint/2010/main" val="3292985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title"/>
          </p:nvPr>
        </p:nvSpPr>
        <p:spPr>
          <a:xfrm>
            <a:off x="316250" y="4073375"/>
            <a:ext cx="5603400" cy="689400"/>
          </a:xfrm>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2049</TotalTime>
  <Words>6591</Words>
  <Application>Microsoft Office PowerPoint</Application>
  <PresentationFormat>On-screen Show (16:9)</PresentationFormat>
  <Paragraphs>238</Paragraphs>
  <Slides>19</Slides>
  <Notes>19</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19</vt:i4>
      </vt:variant>
    </vt:vector>
  </HeadingPairs>
  <TitlesOfParts>
    <vt:vector size="25" baseType="lpstr">
      <vt:lpstr>Poppins</vt:lpstr>
      <vt:lpstr>Arial</vt:lpstr>
      <vt:lpstr>Source Sans Pro</vt:lpstr>
      <vt:lpstr>Simple Light</vt:lpstr>
      <vt:lpstr>1_Simple Light</vt:lpstr>
      <vt:lpstr>2_Simple Light</vt:lpstr>
      <vt:lpstr>PowerPoint Presentation</vt:lpstr>
      <vt:lpstr>Brent Haley</vt:lpstr>
      <vt:lpstr>01 Workato in Industries 02 Industry Framework 03   Content BOM 04   Scaling with Partners</vt:lpstr>
      <vt:lpstr>Top industries</vt:lpstr>
      <vt:lpstr>Financial Services (Banking &amp; Insurance)</vt:lpstr>
      <vt:lpstr>Manufacturing &amp; Supply Chain</vt:lpstr>
      <vt:lpstr>Healthcare &amp; Life Sciences</vt:lpstr>
      <vt:lpstr>Industry development framework</vt:lpstr>
      <vt:lpstr>Framework for industry development</vt:lpstr>
      <vt:lpstr>Content BoM </vt:lpstr>
      <vt:lpstr>Standardized content BoM per Industry focus</vt:lpstr>
      <vt:lpstr>Atomizing for GTM campaigs</vt:lpstr>
      <vt:lpstr>Create once, leverage many places… </vt:lpstr>
      <vt:lpstr>Scaling with partners </vt:lpstr>
      <vt:lpstr>PowerPoint Presentation</vt:lpstr>
      <vt:lpstr>PowerPoint Presentation</vt:lpstr>
      <vt:lpstr>PowerPoint Presentation</vt:lpstr>
      <vt:lpstr>Sales enablement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Brent Haley</dc:creator>
  <cp:lastModifiedBy>Brent Haley</cp:lastModifiedBy>
  <cp:revision>7</cp:revision>
  <dcterms:modified xsi:type="dcterms:W3CDTF">2025-09-26T22:16:27Z</dcterms:modified>
</cp:coreProperties>
</file>